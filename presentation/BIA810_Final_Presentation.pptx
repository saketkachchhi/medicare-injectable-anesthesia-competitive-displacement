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8"/>
  </p:notesMasterIdLst>
  <p:sldIdLst>
    <p:sldId id="280" r:id="rId2"/>
    <p:sldId id="2147473557" r:id="rId3"/>
    <p:sldId id="2147481772" r:id="rId4"/>
    <p:sldId id="257" r:id="rId5"/>
    <p:sldId id="2147481773" r:id="rId6"/>
    <p:sldId id="2147481774" r:id="rId7"/>
    <p:sldId id="2147481775" r:id="rId8"/>
    <p:sldId id="2147481776" r:id="rId9"/>
    <p:sldId id="2147481777" r:id="rId10"/>
    <p:sldId id="2147481778" r:id="rId11"/>
    <p:sldId id="2147481779" r:id="rId12"/>
    <p:sldId id="2147481780" r:id="rId13"/>
    <p:sldId id="2147481781" r:id="rId14"/>
    <p:sldId id="2147481782" r:id="rId15"/>
    <p:sldId id="2147481783" r:id="rId16"/>
    <p:sldId id="2147481784" r:id="rId17"/>
    <p:sldId id="2147481785" r:id="rId18"/>
    <p:sldId id="2147481786" r:id="rId19"/>
    <p:sldId id="2147481787" r:id="rId20"/>
    <p:sldId id="2147481788" r:id="rId21"/>
    <p:sldId id="2147481789" r:id="rId22"/>
    <p:sldId id="2147481790" r:id="rId23"/>
    <p:sldId id="2147481791" r:id="rId24"/>
    <p:sldId id="2147481792" r:id="rId25"/>
    <p:sldId id="2147481793" r:id="rId26"/>
    <p:sldId id="2147481794" r:id="rId27"/>
    <p:sldId id="2147481795" r:id="rId28"/>
    <p:sldId id="2147481796" r:id="rId29"/>
    <p:sldId id="2147481797" r:id="rId30"/>
    <p:sldId id="2147481798" r:id="rId31"/>
    <p:sldId id="2147481799" r:id="rId32"/>
    <p:sldId id="2147481800" r:id="rId33"/>
    <p:sldId id="2147481801" r:id="rId34"/>
    <p:sldId id="2147481802" r:id="rId35"/>
    <p:sldId id="265" r:id="rId36"/>
    <p:sldId id="288"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73" autoAdjust="0"/>
    <p:restoredTop sz="94658"/>
  </p:normalViewPr>
  <p:slideViewPr>
    <p:cSldViewPr snapToGrid="0">
      <p:cViewPr varScale="1">
        <p:scale>
          <a:sx n="120" d="100"/>
          <a:sy n="120" d="100"/>
        </p:scale>
        <p:origin x="39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839B8D-3CC4-4E0E-AD60-88F18DD994D3}" type="datetimeFigureOut">
              <a:rPr lang="en-US" smtClean="0"/>
              <a:t>2026-05-11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EDCAFD-8F1B-485B-9852-D34329EEC9CD}" type="slidenum">
              <a:rPr lang="en-US" smtClean="0"/>
              <a:t>‹#›</a:t>
            </a:fld>
            <a:endParaRPr lang="en-US"/>
          </a:p>
        </p:txBody>
      </p:sp>
    </p:spTree>
    <p:extLst>
      <p:ext uri="{BB962C8B-B14F-4D97-AF65-F5344CB8AC3E}">
        <p14:creationId xmlns:p14="http://schemas.microsoft.com/office/powerpoint/2010/main" val="2551448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a:t>
            </a:r>
          </a:p>
        </p:txBody>
      </p:sp>
      <p:sp>
        <p:nvSpPr>
          <p:cNvPr id="4" name="Slide Number Placeholder 3"/>
          <p:cNvSpPr>
            <a:spLocks noGrp="1"/>
          </p:cNvSpPr>
          <p:nvPr>
            <p:ph type="sldNum" sz="quarter" idx="5"/>
          </p:nvPr>
        </p:nvSpPr>
        <p:spPr/>
        <p:txBody>
          <a:bodyPr/>
          <a:lstStyle/>
          <a:p>
            <a:fld id="{6BEDCAFD-8F1B-485B-9852-D34329EEC9CD}" type="slidenum">
              <a:rPr lang="en-US" smtClean="0"/>
              <a:t>1</a:t>
            </a:fld>
            <a:endParaRPr lang="en-US"/>
          </a:p>
        </p:txBody>
      </p:sp>
    </p:spTree>
    <p:extLst>
      <p:ext uri="{BB962C8B-B14F-4D97-AF65-F5344CB8AC3E}">
        <p14:creationId xmlns:p14="http://schemas.microsoft.com/office/powerpoint/2010/main" val="21519210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5013" y="563563"/>
            <a:ext cx="5632450" cy="3168650"/>
          </a:xfrm>
        </p:spPr>
      </p:sp>
      <p:sp>
        <p:nvSpPr>
          <p:cNvPr id="3" name="Notes Placeholder 2"/>
          <p:cNvSpPr>
            <a:spLocks noGrp="1"/>
          </p:cNvSpPr>
          <p:nvPr>
            <p:ph type="body" idx="1"/>
          </p:nvPr>
        </p:nvSpPr>
        <p:spPr>
          <a:xfrm>
            <a:off x="735012" y="4518025"/>
            <a:ext cx="5632450" cy="169277"/>
          </a:xfrm>
        </p:spPr>
        <p:txBody>
          <a:bodyPr/>
          <a:lstStyle/>
          <a:p>
            <a:endParaRPr lang="en-US"/>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 May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1944409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BA28525F-5238-4BA3-9F16-BBB09157D85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233025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EDCAFD-8F1B-485B-9852-D34329EEC9CD}" type="slidenum">
              <a:rPr lang="en-US" smtClean="0"/>
              <a:t>22</a:t>
            </a:fld>
            <a:endParaRPr lang="en-US"/>
          </a:p>
        </p:txBody>
      </p:sp>
    </p:spTree>
    <p:extLst>
      <p:ext uri="{BB962C8B-B14F-4D97-AF65-F5344CB8AC3E}">
        <p14:creationId xmlns:p14="http://schemas.microsoft.com/office/powerpoint/2010/main" val="17091480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tags" Target="../tags/tag3.xml"/><Relationship Id="rId7"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9" Type="http://schemas.openxmlformats.org/officeDocument/2006/relationships/image" Target="../media/image10.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descr="Background pattern&#10;&#10;Description automatically generated">
            <a:extLst>
              <a:ext uri="{FF2B5EF4-FFF2-40B4-BE49-F238E27FC236}">
                <a16:creationId xmlns:a16="http://schemas.microsoft.com/office/drawing/2014/main" id="{7BEC07CF-DE1C-5A16-AFE3-58045ECDE006}"/>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5168D54-7A73-18F8-ADFA-A2790DA6BE4A}"/>
              </a:ext>
            </a:extLst>
          </p:cNvPr>
          <p:cNvSpPr>
            <a:spLocks noGrp="1"/>
          </p:cNvSpPr>
          <p:nvPr>
            <p:ph type="ctrTitle" hasCustomPrompt="1"/>
          </p:nvPr>
        </p:nvSpPr>
        <p:spPr>
          <a:xfrm>
            <a:off x="4249881" y="2504921"/>
            <a:ext cx="7280733" cy="2061531"/>
          </a:xfrm>
        </p:spPr>
        <p:txBody>
          <a:bodyPr anchor="b">
            <a:normAutofit/>
          </a:bodyPr>
          <a:lstStyle>
            <a:lvl1pPr algn="r">
              <a:defRPr sz="5400" b="0" i="0">
                <a:solidFill>
                  <a:schemeClr val="bg1"/>
                </a:solidFill>
                <a:latin typeface="Arial Nova" panose="020F0502020204030204" pitchFamily="34" charset="0"/>
              </a:defRPr>
            </a:lvl1pPr>
          </a:lstStyle>
          <a:p>
            <a:r>
              <a:rPr lang="en-US"/>
              <a:t>CLICK TO EDIT TITLE</a:t>
            </a:r>
          </a:p>
        </p:txBody>
      </p:sp>
      <p:sp>
        <p:nvSpPr>
          <p:cNvPr id="3" name="Subtitle 2">
            <a:extLst>
              <a:ext uri="{FF2B5EF4-FFF2-40B4-BE49-F238E27FC236}">
                <a16:creationId xmlns:a16="http://schemas.microsoft.com/office/drawing/2014/main" id="{58C8A321-3799-3D0C-D5A4-CA5C30A7CB56}"/>
              </a:ext>
            </a:extLst>
          </p:cNvPr>
          <p:cNvSpPr>
            <a:spLocks noGrp="1"/>
          </p:cNvSpPr>
          <p:nvPr>
            <p:ph type="subTitle" idx="1" hasCustomPrompt="1"/>
          </p:nvPr>
        </p:nvSpPr>
        <p:spPr>
          <a:xfrm>
            <a:off x="4488873" y="4591369"/>
            <a:ext cx="7041742" cy="934635"/>
          </a:xfrm>
        </p:spPr>
        <p:txBody>
          <a:bodyPr>
            <a:normAutofit/>
          </a:bodyPr>
          <a:lstStyle>
            <a:lvl1pPr marL="0" indent="0" algn="r">
              <a:buNone/>
              <a:defRPr sz="2000" b="0" i="0">
                <a:solidFill>
                  <a:schemeClr val="bg1"/>
                </a:solidFill>
                <a:latin typeface="Arial Nova" panose="020B0504020202020204" pitchFamily="34" charset="0"/>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subtitle</a:t>
            </a:r>
          </a:p>
        </p:txBody>
      </p:sp>
      <p:sp>
        <p:nvSpPr>
          <p:cNvPr id="17" name="Text Placeholder 16">
            <a:extLst>
              <a:ext uri="{FF2B5EF4-FFF2-40B4-BE49-F238E27FC236}">
                <a16:creationId xmlns:a16="http://schemas.microsoft.com/office/drawing/2014/main" id="{E6F838CB-CD72-2334-C381-9BF56F85A624}"/>
              </a:ext>
            </a:extLst>
          </p:cNvPr>
          <p:cNvSpPr>
            <a:spLocks noGrp="1"/>
          </p:cNvSpPr>
          <p:nvPr>
            <p:ph type="body" sz="quarter" idx="11" hasCustomPrompt="1"/>
          </p:nvPr>
        </p:nvSpPr>
        <p:spPr>
          <a:xfrm>
            <a:off x="4675910" y="5690085"/>
            <a:ext cx="6854708" cy="422507"/>
          </a:xfrm>
        </p:spPr>
        <p:txBody>
          <a:bodyPr>
            <a:normAutofit/>
          </a:bodyPr>
          <a:lstStyle>
            <a:lvl1pPr marL="0" indent="0" algn="r">
              <a:buNone/>
              <a:defRPr sz="1800" b="1" i="0">
                <a:solidFill>
                  <a:schemeClr val="bg1"/>
                </a:solidFill>
                <a:latin typeface="Arial Nova" panose="020B0504020202020204" pitchFamily="34" charset="0"/>
              </a:defRPr>
            </a:lvl1pPr>
            <a:lvl2pPr marL="457178" indent="0" algn="r">
              <a:buNone/>
              <a:defRPr/>
            </a:lvl2pPr>
            <a:lvl3pPr marL="914354" indent="0" algn="r">
              <a:buNone/>
              <a:defRPr/>
            </a:lvl3pPr>
            <a:lvl4pPr marL="1371532" indent="0" algn="r">
              <a:buNone/>
              <a:defRPr/>
            </a:lvl4pPr>
            <a:lvl5pPr marL="1828709" indent="0" algn="r">
              <a:buNone/>
              <a:defRPr/>
            </a:lvl5pPr>
          </a:lstStyle>
          <a:p>
            <a:pPr lvl="0"/>
            <a:r>
              <a:rPr lang="en-US"/>
              <a:t>PRESENTER’S NAME</a:t>
            </a:r>
          </a:p>
        </p:txBody>
      </p:sp>
      <p:sp>
        <p:nvSpPr>
          <p:cNvPr id="4" name="Date Placeholder 3">
            <a:extLst>
              <a:ext uri="{FF2B5EF4-FFF2-40B4-BE49-F238E27FC236}">
                <a16:creationId xmlns:a16="http://schemas.microsoft.com/office/drawing/2014/main" id="{EB9B160D-2B04-EFF9-9233-5CF3861AACE8}"/>
              </a:ext>
            </a:extLst>
          </p:cNvPr>
          <p:cNvSpPr>
            <a:spLocks noGrp="1"/>
          </p:cNvSpPr>
          <p:nvPr>
            <p:ph type="dt" sz="half" idx="10"/>
          </p:nvPr>
        </p:nvSpPr>
        <p:spPr>
          <a:xfrm>
            <a:off x="8279296" y="6342033"/>
            <a:ext cx="3251319" cy="246221"/>
          </a:xfrm>
          <a:prstGeom prst="rect">
            <a:avLst/>
          </a:prstGeom>
          <a:solidFill>
            <a:schemeClr val="accent1"/>
          </a:solidFill>
        </p:spPr>
        <p:txBody>
          <a:bodyPr wrap="square">
            <a:spAutoFit/>
          </a:bodyPr>
          <a:lstStyle>
            <a:lvl1pPr algn="r">
              <a:defRPr sz="1000" b="1" i="0">
                <a:solidFill>
                  <a:schemeClr val="bg1"/>
                </a:solidFill>
                <a:latin typeface="Arial Nova" panose="020B0504020202020204" pitchFamily="34" charset="0"/>
              </a:defRPr>
            </a:lvl1pPr>
          </a:lstStyle>
          <a:p>
            <a:r>
              <a:rPr lang="en-US"/>
              <a:t>Copyright Stevens Institute of Technology ©  2022</a:t>
            </a:r>
          </a:p>
        </p:txBody>
      </p:sp>
    </p:spTree>
    <p:extLst>
      <p:ext uri="{BB962C8B-B14F-4D97-AF65-F5344CB8AC3E}">
        <p14:creationId xmlns:p14="http://schemas.microsoft.com/office/powerpoint/2010/main" val="4109193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descr="A statue of a person riding a horse&#10;&#10;Description automatically generated with medium confidence">
            <a:extLst>
              <a:ext uri="{FF2B5EF4-FFF2-40B4-BE49-F238E27FC236}">
                <a16:creationId xmlns:a16="http://schemas.microsoft.com/office/drawing/2014/main" id="{5DDDB80B-17FF-14EE-7F02-306E3A735FA0}"/>
              </a:ext>
            </a:extLst>
          </p:cNvPr>
          <p:cNvPicPr>
            <a:picLocks noChangeAspect="1"/>
          </p:cNvPicPr>
          <p:nvPr userDrawn="1"/>
        </p:nvPicPr>
        <p:blipFill rotWithShape="1">
          <a:blip r:embed="rId2"/>
          <a:srcRect l="16253"/>
          <a:stretch/>
        </p:blipFill>
        <p:spPr>
          <a:xfrm>
            <a:off x="2" y="0"/>
            <a:ext cx="8636340" cy="6858000"/>
          </a:xfrm>
          <a:prstGeom prst="rect">
            <a:avLst/>
          </a:prstGeom>
        </p:spPr>
      </p:pic>
      <p:pic>
        <p:nvPicPr>
          <p:cNvPr id="6" name="Picture 5" descr="A picture containing shape&#10;&#10;Description automatically generated">
            <a:extLst>
              <a:ext uri="{FF2B5EF4-FFF2-40B4-BE49-F238E27FC236}">
                <a16:creationId xmlns:a16="http://schemas.microsoft.com/office/drawing/2014/main" id="{0AB85730-9DAB-ABF0-A4D0-5DE36B82261D}"/>
              </a:ext>
            </a:extLst>
          </p:cNvPr>
          <p:cNvPicPr>
            <a:picLocks noChangeAspect="1"/>
          </p:cNvPicPr>
          <p:nvPr userDrawn="1"/>
        </p:nvPicPr>
        <p:blipFill>
          <a:blip r:embed="rId3"/>
          <a:stretch>
            <a:fillRect/>
          </a:stretch>
        </p:blipFill>
        <p:spPr>
          <a:xfrm>
            <a:off x="298451" y="0"/>
            <a:ext cx="11893551" cy="6858000"/>
          </a:xfrm>
          <a:prstGeom prst="rect">
            <a:avLst/>
          </a:prstGeom>
        </p:spPr>
      </p:pic>
      <p:sp>
        <p:nvSpPr>
          <p:cNvPr id="2" name="Title 1">
            <a:extLst>
              <a:ext uri="{FF2B5EF4-FFF2-40B4-BE49-F238E27FC236}">
                <a16:creationId xmlns:a16="http://schemas.microsoft.com/office/drawing/2014/main" id="{35168D54-7A73-18F8-ADFA-A2790DA6BE4A}"/>
              </a:ext>
            </a:extLst>
          </p:cNvPr>
          <p:cNvSpPr>
            <a:spLocks noGrp="1"/>
          </p:cNvSpPr>
          <p:nvPr>
            <p:ph type="ctrTitle" hasCustomPrompt="1"/>
          </p:nvPr>
        </p:nvSpPr>
        <p:spPr>
          <a:xfrm>
            <a:off x="6324602" y="2504921"/>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a:t>CLICK TO EDIT TITLE</a:t>
            </a:r>
          </a:p>
        </p:txBody>
      </p:sp>
      <p:sp>
        <p:nvSpPr>
          <p:cNvPr id="3" name="Subtitle 2">
            <a:extLst>
              <a:ext uri="{FF2B5EF4-FFF2-40B4-BE49-F238E27FC236}">
                <a16:creationId xmlns:a16="http://schemas.microsoft.com/office/drawing/2014/main" id="{58C8A321-3799-3D0C-D5A4-CA5C30A7CB56}"/>
              </a:ext>
            </a:extLst>
          </p:cNvPr>
          <p:cNvSpPr>
            <a:spLocks noGrp="1"/>
          </p:cNvSpPr>
          <p:nvPr>
            <p:ph type="subTitle" idx="1" hasCustomPrompt="1"/>
          </p:nvPr>
        </p:nvSpPr>
        <p:spPr>
          <a:xfrm>
            <a:off x="6616701" y="4591369"/>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subtitle</a:t>
            </a:r>
          </a:p>
        </p:txBody>
      </p:sp>
      <p:sp>
        <p:nvSpPr>
          <p:cNvPr id="12" name="Text Placeholder 16">
            <a:extLst>
              <a:ext uri="{FF2B5EF4-FFF2-40B4-BE49-F238E27FC236}">
                <a16:creationId xmlns:a16="http://schemas.microsoft.com/office/drawing/2014/main" id="{07BEFC5F-CD6D-A7BC-1322-BACD15CFA532}"/>
              </a:ext>
            </a:extLst>
          </p:cNvPr>
          <p:cNvSpPr>
            <a:spLocks noGrp="1"/>
          </p:cNvSpPr>
          <p:nvPr>
            <p:ph type="body" sz="quarter" idx="11" hasCustomPrompt="1"/>
          </p:nvPr>
        </p:nvSpPr>
        <p:spPr>
          <a:xfrm>
            <a:off x="6794501" y="5690085"/>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178" indent="0" algn="r">
              <a:buNone/>
              <a:defRPr/>
            </a:lvl2pPr>
            <a:lvl3pPr marL="914354" indent="0" algn="r">
              <a:buNone/>
              <a:defRPr/>
            </a:lvl3pPr>
            <a:lvl4pPr marL="1371532" indent="0" algn="r">
              <a:buNone/>
              <a:defRPr/>
            </a:lvl4pPr>
            <a:lvl5pPr marL="1828709" indent="0" algn="r">
              <a:buNone/>
              <a:defRPr/>
            </a:lvl5pPr>
          </a:lstStyle>
          <a:p>
            <a:pPr lvl="0"/>
            <a:r>
              <a:rPr lang="en-US"/>
              <a:t>PRESENTER’S NAME</a:t>
            </a:r>
          </a:p>
        </p:txBody>
      </p:sp>
      <p:sp>
        <p:nvSpPr>
          <p:cNvPr id="4" name="Date Placeholder 3">
            <a:extLst>
              <a:ext uri="{FF2B5EF4-FFF2-40B4-BE49-F238E27FC236}">
                <a16:creationId xmlns:a16="http://schemas.microsoft.com/office/drawing/2014/main" id="{EB9B160D-2B04-EFF9-9233-5CF3861AACE8}"/>
              </a:ext>
            </a:extLst>
          </p:cNvPr>
          <p:cNvSpPr>
            <a:spLocks noGrp="1"/>
          </p:cNvSpPr>
          <p:nvPr>
            <p:ph type="dt" sz="half" idx="10"/>
          </p:nvPr>
        </p:nvSpPr>
        <p:spPr>
          <a:xfrm>
            <a:off x="10406269" y="6342033"/>
            <a:ext cx="1124345"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a:t>Date</a:t>
            </a:r>
          </a:p>
        </p:txBody>
      </p:sp>
    </p:spTree>
    <p:extLst>
      <p:ext uri="{BB962C8B-B14F-4D97-AF65-F5344CB8AC3E}">
        <p14:creationId xmlns:p14="http://schemas.microsoft.com/office/powerpoint/2010/main" val="3582905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Custom Image">
    <p:bg>
      <p:bgRef idx="1002">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08C4886-2087-94B4-E2E5-4E48B7FF8FE2}"/>
              </a:ext>
            </a:extLst>
          </p:cNvPr>
          <p:cNvPicPr>
            <a:picLocks noChangeAspect="1"/>
          </p:cNvPicPr>
          <p:nvPr userDrawn="1"/>
        </p:nvPicPr>
        <p:blipFill rotWithShape="1">
          <a:blip r:embed="rId2">
            <a:alphaModFix amt="5000"/>
          </a:blip>
          <a:srcRect l="103" r="14569"/>
          <a:stretch/>
        </p:blipFill>
        <p:spPr>
          <a:xfrm>
            <a:off x="-2033456" y="0"/>
            <a:ext cx="10392405" cy="6858000"/>
          </a:xfrm>
          <a:prstGeom prst="rect">
            <a:avLst/>
          </a:prstGeom>
        </p:spPr>
      </p:pic>
      <p:pic>
        <p:nvPicPr>
          <p:cNvPr id="9" name="Picture 8" descr="A picture containing shape&#10;&#10;Description automatically generated">
            <a:extLst>
              <a:ext uri="{FF2B5EF4-FFF2-40B4-BE49-F238E27FC236}">
                <a16:creationId xmlns:a16="http://schemas.microsoft.com/office/drawing/2014/main" id="{B3488FA0-8E86-6BE9-82C5-43785B32427F}"/>
              </a:ext>
            </a:extLst>
          </p:cNvPr>
          <p:cNvPicPr>
            <a:picLocks noChangeAspect="1"/>
          </p:cNvPicPr>
          <p:nvPr userDrawn="1"/>
        </p:nvPicPr>
        <p:blipFill>
          <a:blip r:embed="rId3"/>
          <a:stretch>
            <a:fillRect/>
          </a:stretch>
        </p:blipFill>
        <p:spPr>
          <a:xfrm>
            <a:off x="298449" y="0"/>
            <a:ext cx="11893551" cy="6858000"/>
          </a:xfrm>
          <a:prstGeom prst="rect">
            <a:avLst/>
          </a:prstGeom>
        </p:spPr>
      </p:pic>
      <p:sp>
        <p:nvSpPr>
          <p:cNvPr id="10" name="Title 1">
            <a:extLst>
              <a:ext uri="{FF2B5EF4-FFF2-40B4-BE49-F238E27FC236}">
                <a16:creationId xmlns:a16="http://schemas.microsoft.com/office/drawing/2014/main" id="{B9CC9AF6-817B-A87B-A5E6-9A6BE8BA0878}"/>
              </a:ext>
            </a:extLst>
          </p:cNvPr>
          <p:cNvSpPr>
            <a:spLocks noGrp="1"/>
          </p:cNvSpPr>
          <p:nvPr>
            <p:ph type="ctrTitle" hasCustomPrompt="1"/>
          </p:nvPr>
        </p:nvSpPr>
        <p:spPr>
          <a:xfrm>
            <a:off x="6324602" y="2504921"/>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a:t>CLICK TO EDIT TITLE</a:t>
            </a:r>
          </a:p>
        </p:txBody>
      </p:sp>
      <p:sp>
        <p:nvSpPr>
          <p:cNvPr id="11" name="Subtitle 2">
            <a:extLst>
              <a:ext uri="{FF2B5EF4-FFF2-40B4-BE49-F238E27FC236}">
                <a16:creationId xmlns:a16="http://schemas.microsoft.com/office/drawing/2014/main" id="{62636281-107E-01A8-5316-84DAA71CD1E3}"/>
              </a:ext>
            </a:extLst>
          </p:cNvPr>
          <p:cNvSpPr>
            <a:spLocks noGrp="1"/>
          </p:cNvSpPr>
          <p:nvPr>
            <p:ph type="subTitle" idx="1" hasCustomPrompt="1"/>
          </p:nvPr>
        </p:nvSpPr>
        <p:spPr>
          <a:xfrm>
            <a:off x="6616701" y="4591369"/>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subtitle</a:t>
            </a:r>
          </a:p>
        </p:txBody>
      </p:sp>
      <p:sp>
        <p:nvSpPr>
          <p:cNvPr id="13" name="Date Placeholder 3">
            <a:extLst>
              <a:ext uri="{FF2B5EF4-FFF2-40B4-BE49-F238E27FC236}">
                <a16:creationId xmlns:a16="http://schemas.microsoft.com/office/drawing/2014/main" id="{7651AF7A-8B71-B895-17ED-7EECAFEE7DE8}"/>
              </a:ext>
            </a:extLst>
          </p:cNvPr>
          <p:cNvSpPr>
            <a:spLocks noGrp="1"/>
          </p:cNvSpPr>
          <p:nvPr>
            <p:ph type="dt" sz="half" idx="10"/>
          </p:nvPr>
        </p:nvSpPr>
        <p:spPr>
          <a:xfrm>
            <a:off x="10446026" y="6362185"/>
            <a:ext cx="1084590"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a:t> Date</a:t>
            </a:r>
          </a:p>
        </p:txBody>
      </p:sp>
      <p:sp>
        <p:nvSpPr>
          <p:cNvPr id="14" name="Text Placeholder 16">
            <a:extLst>
              <a:ext uri="{FF2B5EF4-FFF2-40B4-BE49-F238E27FC236}">
                <a16:creationId xmlns:a16="http://schemas.microsoft.com/office/drawing/2014/main" id="{732F2640-D02F-0BD4-E9A8-A5FD3D27874E}"/>
              </a:ext>
            </a:extLst>
          </p:cNvPr>
          <p:cNvSpPr>
            <a:spLocks noGrp="1"/>
          </p:cNvSpPr>
          <p:nvPr>
            <p:ph type="body" sz="quarter" idx="11" hasCustomPrompt="1"/>
          </p:nvPr>
        </p:nvSpPr>
        <p:spPr>
          <a:xfrm>
            <a:off x="6794501" y="5690085"/>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178" indent="0" algn="r">
              <a:buNone/>
              <a:defRPr/>
            </a:lvl2pPr>
            <a:lvl3pPr marL="914354" indent="0" algn="r">
              <a:buNone/>
              <a:defRPr/>
            </a:lvl3pPr>
            <a:lvl4pPr marL="1371532" indent="0" algn="r">
              <a:buNone/>
              <a:defRPr/>
            </a:lvl4pPr>
            <a:lvl5pPr marL="1828709" indent="0" algn="r">
              <a:buNone/>
              <a:defRPr/>
            </a:lvl5pPr>
          </a:lstStyle>
          <a:p>
            <a:pPr lvl="0"/>
            <a:r>
              <a:rPr lang="en-US"/>
              <a:t>PRESENTER’S NAME</a:t>
            </a:r>
          </a:p>
        </p:txBody>
      </p:sp>
    </p:spTree>
    <p:extLst>
      <p:ext uri="{BB962C8B-B14F-4D97-AF65-F5344CB8AC3E}">
        <p14:creationId xmlns:p14="http://schemas.microsoft.com/office/powerpoint/2010/main" val="2496609030"/>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 name="Picture 4" descr="A body of water with buildings along it&#10;&#10;Description automatically generated with medium confidence">
            <a:extLst>
              <a:ext uri="{FF2B5EF4-FFF2-40B4-BE49-F238E27FC236}">
                <a16:creationId xmlns:a16="http://schemas.microsoft.com/office/drawing/2014/main" id="{D898D13A-F035-1AC4-E5CF-2B4EECBAA8E3}"/>
              </a:ext>
            </a:extLst>
          </p:cNvPr>
          <p:cNvPicPr>
            <a:picLocks noChangeAspect="1"/>
          </p:cNvPicPr>
          <p:nvPr userDrawn="1"/>
        </p:nvPicPr>
        <p:blipFill>
          <a:blip r:embed="rId2"/>
          <a:stretch>
            <a:fillRect/>
          </a:stretch>
        </p:blipFill>
        <p:spPr>
          <a:xfrm>
            <a:off x="0" y="0"/>
            <a:ext cx="12090400" cy="6858000"/>
          </a:xfrm>
          <a:prstGeom prst="rect">
            <a:avLst/>
          </a:prstGeom>
        </p:spPr>
      </p:pic>
      <p:pic>
        <p:nvPicPr>
          <p:cNvPr id="7" name="Picture 6" descr="A picture containing shape&#10;&#10;Description automatically generated">
            <a:extLst>
              <a:ext uri="{FF2B5EF4-FFF2-40B4-BE49-F238E27FC236}">
                <a16:creationId xmlns:a16="http://schemas.microsoft.com/office/drawing/2014/main" id="{09EFC173-553B-6926-8999-560997D15CA1}"/>
              </a:ext>
            </a:extLst>
          </p:cNvPr>
          <p:cNvPicPr>
            <a:picLocks noChangeAspect="1"/>
          </p:cNvPicPr>
          <p:nvPr userDrawn="1"/>
        </p:nvPicPr>
        <p:blipFill>
          <a:blip r:embed="rId3"/>
          <a:stretch>
            <a:fillRect/>
          </a:stretch>
        </p:blipFill>
        <p:spPr>
          <a:xfrm>
            <a:off x="298451" y="0"/>
            <a:ext cx="11893551" cy="6858000"/>
          </a:xfrm>
          <a:prstGeom prst="rect">
            <a:avLst/>
          </a:prstGeom>
        </p:spPr>
      </p:pic>
      <p:sp>
        <p:nvSpPr>
          <p:cNvPr id="2" name="Title 1">
            <a:extLst>
              <a:ext uri="{FF2B5EF4-FFF2-40B4-BE49-F238E27FC236}">
                <a16:creationId xmlns:a16="http://schemas.microsoft.com/office/drawing/2014/main" id="{45AB2B46-2729-15F1-5BB4-6B7ADEAC4AAE}"/>
              </a:ext>
            </a:extLst>
          </p:cNvPr>
          <p:cNvSpPr>
            <a:spLocks noGrp="1"/>
          </p:cNvSpPr>
          <p:nvPr>
            <p:ph type="title" hasCustomPrompt="1"/>
          </p:nvPr>
        </p:nvSpPr>
        <p:spPr>
          <a:xfrm>
            <a:off x="6617373" y="974037"/>
            <a:ext cx="4913243" cy="4254363"/>
          </a:xfrm>
        </p:spPr>
        <p:txBody>
          <a:bodyPr anchor="b">
            <a:normAutofit/>
          </a:bodyPr>
          <a:lstStyle>
            <a:lvl1pPr algn="r">
              <a:defRPr sz="5400"/>
            </a:lvl1pPr>
          </a:lstStyle>
          <a:p>
            <a:r>
              <a:rPr lang="en-US"/>
              <a:t>CLICK TO EDIT TITLE</a:t>
            </a:r>
          </a:p>
        </p:txBody>
      </p:sp>
      <p:sp>
        <p:nvSpPr>
          <p:cNvPr id="3" name="Text Placeholder 2">
            <a:extLst>
              <a:ext uri="{FF2B5EF4-FFF2-40B4-BE49-F238E27FC236}">
                <a16:creationId xmlns:a16="http://schemas.microsoft.com/office/drawing/2014/main" id="{A5953286-7208-5D15-2115-F32E5C24CE0F}"/>
              </a:ext>
            </a:extLst>
          </p:cNvPr>
          <p:cNvSpPr>
            <a:spLocks noGrp="1"/>
          </p:cNvSpPr>
          <p:nvPr>
            <p:ph type="body" idx="1" hasCustomPrompt="1"/>
          </p:nvPr>
        </p:nvSpPr>
        <p:spPr>
          <a:xfrm>
            <a:off x="6858002" y="5394965"/>
            <a:ext cx="4672615" cy="931499"/>
          </a:xfrm>
        </p:spPr>
        <p:txBody>
          <a:bodyPr>
            <a:normAutofit/>
          </a:bodyPr>
          <a:lstStyle>
            <a:lvl1pPr marL="0" indent="0" algn="r">
              <a:buNone/>
              <a:defRPr sz="2000" b="0" i="0">
                <a:solidFill>
                  <a:schemeClr val="tx1"/>
                </a:solidFill>
                <a:latin typeface="IBM Plex Sans" panose="020B0503050203000203" pitchFamily="34" charset="0"/>
              </a:defRPr>
            </a:lvl1pPr>
            <a:lvl2pPr marL="457178" indent="0">
              <a:buNone/>
              <a:defRPr sz="20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a:t>Click to edit text</a:t>
            </a:r>
          </a:p>
        </p:txBody>
      </p:sp>
    </p:spTree>
    <p:extLst>
      <p:ext uri="{BB962C8B-B14F-4D97-AF65-F5344CB8AC3E}">
        <p14:creationId xmlns:p14="http://schemas.microsoft.com/office/powerpoint/2010/main" val="91320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F907F06-D602-4071-33E4-C472B24F1ACC}"/>
              </a:ext>
            </a:extLst>
          </p:cNvPr>
          <p:cNvSpPr>
            <a:spLocks noGrp="1"/>
          </p:cNvSpPr>
          <p:nvPr>
            <p:ph type="title" hasCustomPrompt="1"/>
          </p:nvPr>
        </p:nvSpPr>
        <p:spPr>
          <a:xfrm>
            <a:off x="644769" y="365125"/>
            <a:ext cx="10710619" cy="1325563"/>
          </a:xfrm>
        </p:spPr>
        <p:txBody>
          <a:bodyPr/>
          <a:lstStyle/>
          <a:p>
            <a:r>
              <a:rPr lang="en-US"/>
              <a:t>CLICK TO EDIT TITLE</a:t>
            </a:r>
          </a:p>
        </p:txBody>
      </p:sp>
      <p:sp>
        <p:nvSpPr>
          <p:cNvPr id="3" name="Content Placeholder 2">
            <a:extLst>
              <a:ext uri="{FF2B5EF4-FFF2-40B4-BE49-F238E27FC236}">
                <a16:creationId xmlns:a16="http://schemas.microsoft.com/office/drawing/2014/main" id="{7091BE1E-C7BA-1F2A-DB51-F2BDF8885EBC}"/>
              </a:ext>
            </a:extLst>
          </p:cNvPr>
          <p:cNvSpPr>
            <a:spLocks noGrp="1"/>
          </p:cNvSpPr>
          <p:nvPr>
            <p:ph idx="1" hasCustomPrompt="1"/>
          </p:nvPr>
        </p:nvSpPr>
        <p:spPr/>
        <p:txBody>
          <a:bodyPr/>
          <a:lstStyle>
            <a:lvl1pPr marL="228600" indent="-228600">
              <a:defRPr/>
            </a:lvl1pPr>
            <a:lvl2pPr marL="502920" indent="-228589">
              <a:buSzPct val="100000"/>
              <a:buFont typeface="System Font Regular"/>
              <a:buChar char="-"/>
              <a:defRPr/>
            </a:lvl2pPr>
            <a:lvl3pPr marL="777240" indent="-228589">
              <a:buSzPct val="100000"/>
              <a:buFont typeface="System Font Regular"/>
              <a:buChar char="-"/>
              <a:defRPr/>
            </a:lvl3pPr>
            <a:lvl4pPr marL="1005840" indent="-228589">
              <a:buSzPct val="100000"/>
              <a:buFont typeface="System Font Regular"/>
              <a:buChar char="-"/>
              <a:defRPr/>
            </a:lvl4pPr>
            <a:lvl5pPr marL="1280160" indent="-228589">
              <a:buSzPct val="100000"/>
              <a:buFont typeface="System Font Regular"/>
              <a:buChar char="-"/>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59B86B0-6C6C-3FCD-0D64-D84FBF647614}"/>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2114852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head and Conten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F907F06-D602-4071-33E4-C472B24F1ACC}"/>
              </a:ext>
            </a:extLst>
          </p:cNvPr>
          <p:cNvSpPr>
            <a:spLocks noGrp="1"/>
          </p:cNvSpPr>
          <p:nvPr>
            <p:ph type="title" hasCustomPrompt="1"/>
          </p:nvPr>
        </p:nvSpPr>
        <p:spPr>
          <a:xfrm>
            <a:off x="646359" y="365127"/>
            <a:ext cx="10709031" cy="734621"/>
          </a:xfrm>
        </p:spPr>
        <p:txBody>
          <a:bodyPr/>
          <a:lstStyle/>
          <a:p>
            <a:r>
              <a:rPr lang="en-US"/>
              <a:t>CLICK TO EDIT TITLE</a:t>
            </a:r>
          </a:p>
        </p:txBody>
      </p:sp>
      <p:sp>
        <p:nvSpPr>
          <p:cNvPr id="4" name="Text Placeholder 3">
            <a:extLst>
              <a:ext uri="{FF2B5EF4-FFF2-40B4-BE49-F238E27FC236}">
                <a16:creationId xmlns:a16="http://schemas.microsoft.com/office/drawing/2014/main" id="{B7F9FF48-9E75-6C88-7706-B4D4B29E8027}"/>
              </a:ext>
            </a:extLst>
          </p:cNvPr>
          <p:cNvSpPr>
            <a:spLocks noGrp="1"/>
          </p:cNvSpPr>
          <p:nvPr>
            <p:ph type="body" sz="quarter" idx="13"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78" indent="0">
              <a:buNone/>
              <a:defRPr b="0" i="0">
                <a:solidFill>
                  <a:schemeClr val="accent1"/>
                </a:solidFill>
                <a:latin typeface="IBM Plex Sans Light" panose="020B0403050203000203" pitchFamily="34" charset="0"/>
              </a:defRPr>
            </a:lvl2pPr>
            <a:lvl3pPr marL="914354" indent="0">
              <a:buNone/>
              <a:defRPr b="0" i="0">
                <a:solidFill>
                  <a:schemeClr val="accent1"/>
                </a:solidFill>
                <a:latin typeface="IBM Plex Sans Light" panose="020B0403050203000203" pitchFamily="34" charset="0"/>
              </a:defRPr>
            </a:lvl3pPr>
            <a:lvl4pPr marL="1371532" indent="0">
              <a:buNone/>
              <a:defRPr b="0" i="0">
                <a:solidFill>
                  <a:schemeClr val="accent1"/>
                </a:solidFill>
                <a:latin typeface="IBM Plex Sans Light" panose="020B0403050203000203" pitchFamily="34" charset="0"/>
              </a:defRPr>
            </a:lvl4pPr>
            <a:lvl5pPr marL="1828709" indent="0">
              <a:buNone/>
              <a:defRPr b="0" i="0">
                <a:solidFill>
                  <a:schemeClr val="accent1"/>
                </a:solidFill>
                <a:latin typeface="IBM Plex Sans Light" panose="020B0403050203000203" pitchFamily="34" charset="0"/>
              </a:defRPr>
            </a:lvl5pPr>
          </a:lstStyle>
          <a:p>
            <a:pPr lvl="0"/>
            <a:r>
              <a:rPr lang="en-US"/>
              <a:t>Make sure to use brand colors when creating tables and graphs. If graphs are placed from an outside source, please reformat to use the Stevens Theme Colors set in this template.</a:t>
            </a:r>
          </a:p>
        </p:txBody>
      </p:sp>
      <p:sp>
        <p:nvSpPr>
          <p:cNvPr id="3" name="Content Placeholder 2">
            <a:extLst>
              <a:ext uri="{FF2B5EF4-FFF2-40B4-BE49-F238E27FC236}">
                <a16:creationId xmlns:a16="http://schemas.microsoft.com/office/drawing/2014/main" id="{7091BE1E-C7BA-1F2A-DB51-F2BDF8885EBC}"/>
              </a:ext>
            </a:extLst>
          </p:cNvPr>
          <p:cNvSpPr>
            <a:spLocks noGrp="1"/>
          </p:cNvSpPr>
          <p:nvPr>
            <p:ph idx="1" hasCustomPrompt="1"/>
          </p:nvPr>
        </p:nvSpPr>
        <p:spPr>
          <a:xfrm>
            <a:off x="644771" y="2202874"/>
            <a:ext cx="10709031" cy="3879273"/>
          </a:xfrm>
        </p:spPr>
        <p:txBody>
          <a:bodyPr/>
          <a:lstStyle>
            <a:lvl1pPr>
              <a:buClr>
                <a:srgbClr val="004380"/>
              </a:buClr>
              <a:defRPr/>
            </a:lvl1pPr>
            <a:lvl2pPr>
              <a:buClr>
                <a:srgbClr val="004380"/>
              </a:buClr>
              <a:defRPr/>
            </a:lvl2pPr>
            <a:lvl3pPr>
              <a:buClr>
                <a:srgbClr val="004380"/>
              </a:buClr>
              <a:defRPr/>
            </a:lvl3pPr>
            <a:lvl4pPr>
              <a:buClr>
                <a:srgbClr val="004380"/>
              </a:buClr>
              <a:defRPr/>
            </a:lvl4pPr>
            <a:lvl5pPr>
              <a:buClr>
                <a:srgbClr val="004380"/>
              </a:buClr>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59B86B0-6C6C-3FCD-0D64-D84FBF647614}"/>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1543272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D89C836-F4D4-9B58-2D26-DBC3E659121C}"/>
              </a:ext>
            </a:extLst>
          </p:cNvPr>
          <p:cNvSpPr>
            <a:spLocks noGrp="1"/>
          </p:cNvSpPr>
          <p:nvPr>
            <p:ph type="title" hasCustomPrompt="1"/>
          </p:nvPr>
        </p:nvSpPr>
        <p:spPr>
          <a:xfrm>
            <a:off x="644769" y="365125"/>
            <a:ext cx="10710619" cy="1325563"/>
          </a:xfrm>
        </p:spPr>
        <p:txBody>
          <a:bodyPr/>
          <a:lstStyle/>
          <a:p>
            <a:r>
              <a:rPr lang="en-US"/>
              <a:t>CLICK TO EDIT TITLE</a:t>
            </a:r>
          </a:p>
        </p:txBody>
      </p:sp>
      <p:sp>
        <p:nvSpPr>
          <p:cNvPr id="3" name="Content Placeholder 2">
            <a:extLst>
              <a:ext uri="{FF2B5EF4-FFF2-40B4-BE49-F238E27FC236}">
                <a16:creationId xmlns:a16="http://schemas.microsoft.com/office/drawing/2014/main" id="{55861FEF-A671-1F7D-9144-4A18E9166FFA}"/>
              </a:ext>
            </a:extLst>
          </p:cNvPr>
          <p:cNvSpPr>
            <a:spLocks noGrp="1"/>
          </p:cNvSpPr>
          <p:nvPr>
            <p:ph sz="half" idx="1" hasCustomPrompt="1"/>
          </p:nvPr>
        </p:nvSpPr>
        <p:spPr>
          <a:xfrm>
            <a:off x="644769" y="1825625"/>
            <a:ext cx="5181600" cy="435133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3BBBBC6-6719-80F5-099C-8B072696F417}"/>
              </a:ext>
            </a:extLst>
          </p:cNvPr>
          <p:cNvSpPr>
            <a:spLocks noGrp="1"/>
          </p:cNvSpPr>
          <p:nvPr>
            <p:ph sz="half" idx="2" hasCustomPrompt="1"/>
          </p:nvPr>
        </p:nvSpPr>
        <p:spPr>
          <a:xfrm>
            <a:off x="6172200" y="1825625"/>
            <a:ext cx="5181600" cy="435133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1806421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D89C836-F4D4-9B58-2D26-DBC3E659121C}"/>
              </a:ext>
            </a:extLst>
          </p:cNvPr>
          <p:cNvSpPr>
            <a:spLocks noGrp="1"/>
          </p:cNvSpPr>
          <p:nvPr>
            <p:ph type="title" hasCustomPrompt="1"/>
          </p:nvPr>
        </p:nvSpPr>
        <p:spPr>
          <a:xfrm>
            <a:off x="644769" y="365125"/>
            <a:ext cx="10710619" cy="1325563"/>
          </a:xfrm>
        </p:spPr>
        <p:txBody>
          <a:bodyPr/>
          <a:lstStyle/>
          <a:p>
            <a:r>
              <a:rPr lang="en-US"/>
              <a:t>CLICK TO EDIT TITLE</a:t>
            </a:r>
          </a:p>
        </p:txBody>
      </p:sp>
      <p:sp>
        <p:nvSpPr>
          <p:cNvPr id="3" name="Content Placeholder 2">
            <a:extLst>
              <a:ext uri="{FF2B5EF4-FFF2-40B4-BE49-F238E27FC236}">
                <a16:creationId xmlns:a16="http://schemas.microsoft.com/office/drawing/2014/main" id="{55861FEF-A671-1F7D-9144-4A18E9166FFA}"/>
              </a:ext>
            </a:extLst>
          </p:cNvPr>
          <p:cNvSpPr>
            <a:spLocks noGrp="1"/>
          </p:cNvSpPr>
          <p:nvPr>
            <p:ph sz="half" idx="1" hasCustomPrompt="1"/>
          </p:nvPr>
        </p:nvSpPr>
        <p:spPr>
          <a:xfrm>
            <a:off x="644773" y="1825625"/>
            <a:ext cx="3296919" cy="435133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F52BFFF7-3F56-AD0F-118D-AF92E147DB0A}"/>
              </a:ext>
            </a:extLst>
          </p:cNvPr>
          <p:cNvSpPr>
            <a:spLocks noGrp="1"/>
          </p:cNvSpPr>
          <p:nvPr>
            <p:ph sz="half" idx="13" hasCustomPrompt="1"/>
          </p:nvPr>
        </p:nvSpPr>
        <p:spPr>
          <a:xfrm>
            <a:off x="4351622" y="1825625"/>
            <a:ext cx="3296919" cy="435133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3BBBBC6-6719-80F5-099C-8B072696F417}"/>
              </a:ext>
            </a:extLst>
          </p:cNvPr>
          <p:cNvSpPr>
            <a:spLocks noGrp="1"/>
          </p:cNvSpPr>
          <p:nvPr>
            <p:ph sz="half" idx="2" hasCustomPrompt="1"/>
          </p:nvPr>
        </p:nvSpPr>
        <p:spPr>
          <a:xfrm>
            <a:off x="8058471" y="1825625"/>
            <a:ext cx="3296919" cy="435133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38535612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and Subhea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8410B2EF-F0F6-7528-D1AE-B660054C2BB6}"/>
              </a:ext>
            </a:extLst>
          </p:cNvPr>
          <p:cNvSpPr>
            <a:spLocks noGrp="1"/>
          </p:cNvSpPr>
          <p:nvPr>
            <p:ph type="title" hasCustomPrompt="1"/>
          </p:nvPr>
        </p:nvSpPr>
        <p:spPr>
          <a:xfrm>
            <a:off x="646359" y="365127"/>
            <a:ext cx="10709031" cy="734621"/>
          </a:xfrm>
        </p:spPr>
        <p:txBody>
          <a:bodyPr/>
          <a:lstStyle/>
          <a:p>
            <a:r>
              <a:rPr lang="en-US"/>
              <a:t>CLICK TO EDIT TITLE</a:t>
            </a:r>
          </a:p>
        </p:txBody>
      </p:sp>
      <p:sp>
        <p:nvSpPr>
          <p:cNvPr id="11" name="Text Placeholder 3">
            <a:extLst>
              <a:ext uri="{FF2B5EF4-FFF2-40B4-BE49-F238E27FC236}">
                <a16:creationId xmlns:a16="http://schemas.microsoft.com/office/drawing/2014/main" id="{38C80B25-96A7-774E-2468-5777A0523942}"/>
              </a:ext>
            </a:extLst>
          </p:cNvPr>
          <p:cNvSpPr>
            <a:spLocks noGrp="1"/>
          </p:cNvSpPr>
          <p:nvPr>
            <p:ph type="body" sz="quarter" idx="14"/>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78" indent="0">
              <a:buNone/>
              <a:defRPr b="0" i="0">
                <a:solidFill>
                  <a:schemeClr val="accent1"/>
                </a:solidFill>
                <a:latin typeface="IBM Plex Sans Light" panose="020B0403050203000203" pitchFamily="34" charset="0"/>
              </a:defRPr>
            </a:lvl2pPr>
            <a:lvl3pPr marL="914354" indent="0">
              <a:buNone/>
              <a:defRPr b="0" i="0">
                <a:solidFill>
                  <a:schemeClr val="accent1"/>
                </a:solidFill>
                <a:latin typeface="IBM Plex Sans Light" panose="020B0403050203000203" pitchFamily="34" charset="0"/>
              </a:defRPr>
            </a:lvl3pPr>
            <a:lvl4pPr marL="1371532" indent="0">
              <a:buNone/>
              <a:defRPr b="0" i="0">
                <a:solidFill>
                  <a:schemeClr val="accent1"/>
                </a:solidFill>
                <a:latin typeface="IBM Plex Sans Light" panose="020B0403050203000203" pitchFamily="34" charset="0"/>
              </a:defRPr>
            </a:lvl4pPr>
            <a:lvl5pPr marL="1828709" indent="0">
              <a:buNone/>
              <a:defRPr b="0" i="0">
                <a:solidFill>
                  <a:schemeClr val="accent1"/>
                </a:solidFill>
                <a:latin typeface="IBM Plex Sans Light" panose="020B0403050203000203" pitchFamily="34" charset="0"/>
              </a:defRPr>
            </a:lvl5pPr>
          </a:lstStyle>
          <a:p>
            <a:pPr lvl="0"/>
            <a:endParaRPr lang="en-US"/>
          </a:p>
        </p:txBody>
      </p:sp>
      <p:sp>
        <p:nvSpPr>
          <p:cNvPr id="3" name="Content Placeholder 2">
            <a:extLst>
              <a:ext uri="{FF2B5EF4-FFF2-40B4-BE49-F238E27FC236}">
                <a16:creationId xmlns:a16="http://schemas.microsoft.com/office/drawing/2014/main" id="{55861FEF-A671-1F7D-9144-4A18E9166FFA}"/>
              </a:ext>
            </a:extLst>
          </p:cNvPr>
          <p:cNvSpPr>
            <a:spLocks noGrp="1"/>
          </p:cNvSpPr>
          <p:nvPr>
            <p:ph sz="half" idx="1" hasCustomPrompt="1"/>
          </p:nvPr>
        </p:nvSpPr>
        <p:spPr>
          <a:xfrm>
            <a:off x="644773" y="2325836"/>
            <a:ext cx="3296919" cy="385112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F52BFFF7-3F56-AD0F-118D-AF92E147DB0A}"/>
              </a:ext>
            </a:extLst>
          </p:cNvPr>
          <p:cNvSpPr>
            <a:spLocks noGrp="1"/>
          </p:cNvSpPr>
          <p:nvPr>
            <p:ph sz="half" idx="13" hasCustomPrompt="1"/>
          </p:nvPr>
        </p:nvSpPr>
        <p:spPr>
          <a:xfrm>
            <a:off x="4351622" y="2325836"/>
            <a:ext cx="3296919" cy="385112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3BBBBC6-6719-80F5-099C-8B072696F417}"/>
              </a:ext>
            </a:extLst>
          </p:cNvPr>
          <p:cNvSpPr>
            <a:spLocks noGrp="1"/>
          </p:cNvSpPr>
          <p:nvPr>
            <p:ph sz="half" idx="2" hasCustomPrompt="1"/>
          </p:nvPr>
        </p:nvSpPr>
        <p:spPr>
          <a:xfrm>
            <a:off x="8058471" y="2325836"/>
            <a:ext cx="3296919" cy="385112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2922326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D89C836-F4D4-9B58-2D26-DBC3E659121C}"/>
              </a:ext>
            </a:extLst>
          </p:cNvPr>
          <p:cNvSpPr>
            <a:spLocks noGrp="1"/>
          </p:cNvSpPr>
          <p:nvPr>
            <p:ph type="title" hasCustomPrompt="1"/>
          </p:nvPr>
        </p:nvSpPr>
        <p:spPr>
          <a:xfrm>
            <a:off x="644769" y="365125"/>
            <a:ext cx="10710619" cy="1325563"/>
          </a:xfrm>
        </p:spPr>
        <p:txBody>
          <a:bodyPr/>
          <a:lstStyle/>
          <a:p>
            <a:r>
              <a:rPr lang="en-US"/>
              <a:t>CLICK TO EDIT TITLE</a:t>
            </a:r>
          </a:p>
        </p:txBody>
      </p:sp>
      <p:sp>
        <p:nvSpPr>
          <p:cNvPr id="5" name="Text Placeholder 4">
            <a:extLst>
              <a:ext uri="{FF2B5EF4-FFF2-40B4-BE49-F238E27FC236}">
                <a16:creationId xmlns:a16="http://schemas.microsoft.com/office/drawing/2014/main" id="{CE96A1FF-9563-1D0B-9D8F-4D3CE6D345C1}"/>
              </a:ext>
            </a:extLst>
          </p:cNvPr>
          <p:cNvSpPr>
            <a:spLocks noGrp="1"/>
          </p:cNvSpPr>
          <p:nvPr>
            <p:ph type="body" sz="quarter" idx="13" hasCustomPrompt="1"/>
          </p:nvPr>
        </p:nvSpPr>
        <p:spPr>
          <a:xfrm>
            <a:off x="644526" y="1962352"/>
            <a:ext cx="4954588" cy="1828165"/>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9" name="Text Placeholder 4">
            <a:extLst>
              <a:ext uri="{FF2B5EF4-FFF2-40B4-BE49-F238E27FC236}">
                <a16:creationId xmlns:a16="http://schemas.microsoft.com/office/drawing/2014/main" id="{99928444-9A41-AAEE-EC0C-055B01E3FA33}"/>
              </a:ext>
            </a:extLst>
          </p:cNvPr>
          <p:cNvSpPr>
            <a:spLocks noGrp="1"/>
          </p:cNvSpPr>
          <p:nvPr>
            <p:ph type="body" sz="quarter" idx="14" hasCustomPrompt="1"/>
          </p:nvPr>
        </p:nvSpPr>
        <p:spPr>
          <a:xfrm>
            <a:off x="6400803" y="1962352"/>
            <a:ext cx="4954588" cy="1828165"/>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10" name="Text Placeholder 4">
            <a:extLst>
              <a:ext uri="{FF2B5EF4-FFF2-40B4-BE49-F238E27FC236}">
                <a16:creationId xmlns:a16="http://schemas.microsoft.com/office/drawing/2014/main" id="{157F465B-8F7A-5BDD-5E92-E3A4922D0EB8}"/>
              </a:ext>
            </a:extLst>
          </p:cNvPr>
          <p:cNvSpPr>
            <a:spLocks noGrp="1"/>
          </p:cNvSpPr>
          <p:nvPr>
            <p:ph type="body" sz="quarter" idx="15" hasCustomPrompt="1"/>
          </p:nvPr>
        </p:nvSpPr>
        <p:spPr>
          <a:xfrm>
            <a:off x="644526" y="4119680"/>
            <a:ext cx="4954588" cy="1828165"/>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11" name="Text Placeholder 4">
            <a:extLst>
              <a:ext uri="{FF2B5EF4-FFF2-40B4-BE49-F238E27FC236}">
                <a16:creationId xmlns:a16="http://schemas.microsoft.com/office/drawing/2014/main" id="{8903BE86-C433-D59A-ADA6-4BDB1F1AC224}"/>
              </a:ext>
            </a:extLst>
          </p:cNvPr>
          <p:cNvSpPr>
            <a:spLocks noGrp="1"/>
          </p:cNvSpPr>
          <p:nvPr>
            <p:ph type="body" sz="quarter" idx="16" hasCustomPrompt="1"/>
          </p:nvPr>
        </p:nvSpPr>
        <p:spPr>
          <a:xfrm>
            <a:off x="6400803" y="4119680"/>
            <a:ext cx="4954588" cy="1828165"/>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4283218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ur Content and subhea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590D32B-BE46-D2FF-5124-9FDB39359486}"/>
              </a:ext>
            </a:extLst>
          </p:cNvPr>
          <p:cNvSpPr>
            <a:spLocks noGrp="1"/>
          </p:cNvSpPr>
          <p:nvPr>
            <p:ph type="title" hasCustomPrompt="1"/>
          </p:nvPr>
        </p:nvSpPr>
        <p:spPr>
          <a:xfrm>
            <a:off x="646359" y="365127"/>
            <a:ext cx="10709031" cy="734621"/>
          </a:xfrm>
        </p:spPr>
        <p:txBody>
          <a:bodyPr/>
          <a:lstStyle/>
          <a:p>
            <a:r>
              <a:rPr lang="en-US"/>
              <a:t>CLICK TO EDIT TITLE</a:t>
            </a:r>
          </a:p>
        </p:txBody>
      </p:sp>
      <p:sp>
        <p:nvSpPr>
          <p:cNvPr id="13" name="Text Placeholder 3">
            <a:extLst>
              <a:ext uri="{FF2B5EF4-FFF2-40B4-BE49-F238E27FC236}">
                <a16:creationId xmlns:a16="http://schemas.microsoft.com/office/drawing/2014/main" id="{9FC42B0F-D951-B28C-B437-6054E47EBDFD}"/>
              </a:ext>
            </a:extLst>
          </p:cNvPr>
          <p:cNvSpPr>
            <a:spLocks noGrp="1"/>
          </p:cNvSpPr>
          <p:nvPr>
            <p:ph type="body" sz="quarter" idx="17"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78" indent="0">
              <a:buNone/>
              <a:defRPr b="0" i="0">
                <a:solidFill>
                  <a:schemeClr val="accent1"/>
                </a:solidFill>
                <a:latin typeface="IBM Plex Sans Light" panose="020B0403050203000203" pitchFamily="34" charset="0"/>
              </a:defRPr>
            </a:lvl2pPr>
            <a:lvl3pPr marL="914354" indent="0">
              <a:buNone/>
              <a:defRPr b="0" i="0">
                <a:solidFill>
                  <a:schemeClr val="accent1"/>
                </a:solidFill>
                <a:latin typeface="IBM Plex Sans Light" panose="020B0403050203000203" pitchFamily="34" charset="0"/>
              </a:defRPr>
            </a:lvl3pPr>
            <a:lvl4pPr marL="1371532" indent="0">
              <a:buNone/>
              <a:defRPr b="0" i="0">
                <a:solidFill>
                  <a:schemeClr val="accent1"/>
                </a:solidFill>
                <a:latin typeface="IBM Plex Sans Light" panose="020B0403050203000203" pitchFamily="34" charset="0"/>
              </a:defRPr>
            </a:lvl4pPr>
            <a:lvl5pPr marL="1828709" indent="0">
              <a:buNone/>
              <a:defRPr b="0" i="0">
                <a:solidFill>
                  <a:schemeClr val="accent1"/>
                </a:solidFill>
                <a:latin typeface="IBM Plex Sans Light" panose="020B0403050203000203" pitchFamily="34" charset="0"/>
              </a:defRPr>
            </a:lvl5pPr>
          </a:lstStyle>
          <a:p>
            <a:pPr lvl="0"/>
            <a:r>
              <a:rPr lang="en-US"/>
              <a:t>Click to edit subhead</a:t>
            </a:r>
          </a:p>
        </p:txBody>
      </p:sp>
      <p:sp>
        <p:nvSpPr>
          <p:cNvPr id="5" name="Text Placeholder 4">
            <a:extLst>
              <a:ext uri="{FF2B5EF4-FFF2-40B4-BE49-F238E27FC236}">
                <a16:creationId xmlns:a16="http://schemas.microsoft.com/office/drawing/2014/main" id="{CE96A1FF-9563-1D0B-9D8F-4D3CE6D345C1}"/>
              </a:ext>
            </a:extLst>
          </p:cNvPr>
          <p:cNvSpPr>
            <a:spLocks noGrp="1"/>
          </p:cNvSpPr>
          <p:nvPr>
            <p:ph type="body" sz="quarter" idx="13" hasCustomPrompt="1"/>
          </p:nvPr>
        </p:nvSpPr>
        <p:spPr>
          <a:xfrm>
            <a:off x="644526" y="2233235"/>
            <a:ext cx="4954588"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9" name="Text Placeholder 4">
            <a:extLst>
              <a:ext uri="{FF2B5EF4-FFF2-40B4-BE49-F238E27FC236}">
                <a16:creationId xmlns:a16="http://schemas.microsoft.com/office/drawing/2014/main" id="{99928444-9A41-AAEE-EC0C-055B01E3FA33}"/>
              </a:ext>
            </a:extLst>
          </p:cNvPr>
          <p:cNvSpPr>
            <a:spLocks noGrp="1"/>
          </p:cNvSpPr>
          <p:nvPr>
            <p:ph type="body" sz="quarter" idx="14" hasCustomPrompt="1"/>
          </p:nvPr>
        </p:nvSpPr>
        <p:spPr>
          <a:xfrm>
            <a:off x="6400803" y="2233235"/>
            <a:ext cx="4954588"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10" name="Text Placeholder 4">
            <a:extLst>
              <a:ext uri="{FF2B5EF4-FFF2-40B4-BE49-F238E27FC236}">
                <a16:creationId xmlns:a16="http://schemas.microsoft.com/office/drawing/2014/main" id="{157F465B-8F7A-5BDD-5E92-E3A4922D0EB8}"/>
              </a:ext>
            </a:extLst>
          </p:cNvPr>
          <p:cNvSpPr>
            <a:spLocks noGrp="1"/>
          </p:cNvSpPr>
          <p:nvPr>
            <p:ph type="body" sz="quarter" idx="15" hasCustomPrompt="1"/>
          </p:nvPr>
        </p:nvSpPr>
        <p:spPr>
          <a:xfrm>
            <a:off x="644526" y="4448441"/>
            <a:ext cx="4954588"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11" name="Text Placeholder 4">
            <a:extLst>
              <a:ext uri="{FF2B5EF4-FFF2-40B4-BE49-F238E27FC236}">
                <a16:creationId xmlns:a16="http://schemas.microsoft.com/office/drawing/2014/main" id="{8903BE86-C433-D59A-ADA6-4BDB1F1AC224}"/>
              </a:ext>
            </a:extLst>
          </p:cNvPr>
          <p:cNvSpPr>
            <a:spLocks noGrp="1"/>
          </p:cNvSpPr>
          <p:nvPr>
            <p:ph type="body" sz="quarter" idx="16" hasCustomPrompt="1"/>
          </p:nvPr>
        </p:nvSpPr>
        <p:spPr>
          <a:xfrm>
            <a:off x="6400803" y="4448441"/>
            <a:ext cx="4954588"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37501901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ive Content">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AF436CFC-B187-8D35-9B90-53CDD3C63724}"/>
              </a:ext>
            </a:extLst>
          </p:cNvPr>
          <p:cNvSpPr>
            <a:spLocks noGrp="1"/>
          </p:cNvSpPr>
          <p:nvPr>
            <p:ph type="title" hasCustomPrompt="1"/>
          </p:nvPr>
        </p:nvSpPr>
        <p:spPr>
          <a:xfrm>
            <a:off x="644769" y="365125"/>
            <a:ext cx="10710619" cy="1325563"/>
          </a:xfrm>
        </p:spPr>
        <p:txBody>
          <a:bodyPr/>
          <a:lstStyle/>
          <a:p>
            <a:r>
              <a:rPr lang="en-US"/>
              <a:t>CLICK TO EDIT TITLE</a:t>
            </a:r>
          </a:p>
        </p:txBody>
      </p:sp>
      <p:sp>
        <p:nvSpPr>
          <p:cNvPr id="15" name="Content Placeholder 2">
            <a:extLst>
              <a:ext uri="{FF2B5EF4-FFF2-40B4-BE49-F238E27FC236}">
                <a16:creationId xmlns:a16="http://schemas.microsoft.com/office/drawing/2014/main" id="{33F4AA73-6270-8996-F775-27ADF208BB76}"/>
              </a:ext>
            </a:extLst>
          </p:cNvPr>
          <p:cNvSpPr>
            <a:spLocks noGrp="1"/>
          </p:cNvSpPr>
          <p:nvPr>
            <p:ph sz="half" idx="1" hasCustomPrompt="1"/>
          </p:nvPr>
        </p:nvSpPr>
        <p:spPr>
          <a:xfrm>
            <a:off x="644771" y="2210082"/>
            <a:ext cx="4572000" cy="3890163"/>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E96A1FF-9563-1D0B-9D8F-4D3CE6D345C1}"/>
              </a:ext>
            </a:extLst>
          </p:cNvPr>
          <p:cNvSpPr>
            <a:spLocks noGrp="1"/>
          </p:cNvSpPr>
          <p:nvPr>
            <p:ph type="body" sz="quarter" idx="13" hasCustomPrompt="1"/>
          </p:nvPr>
        </p:nvSpPr>
        <p:spPr>
          <a:xfrm>
            <a:off x="5359999" y="2210085"/>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9" name="Text Placeholder 4">
            <a:extLst>
              <a:ext uri="{FF2B5EF4-FFF2-40B4-BE49-F238E27FC236}">
                <a16:creationId xmlns:a16="http://schemas.microsoft.com/office/drawing/2014/main" id="{99928444-9A41-AAEE-EC0C-055B01E3FA33}"/>
              </a:ext>
            </a:extLst>
          </p:cNvPr>
          <p:cNvSpPr>
            <a:spLocks noGrp="1"/>
          </p:cNvSpPr>
          <p:nvPr>
            <p:ph type="body" sz="quarter" idx="14" hasCustomPrompt="1"/>
          </p:nvPr>
        </p:nvSpPr>
        <p:spPr>
          <a:xfrm>
            <a:off x="8429308" y="2210086"/>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10" name="Text Placeholder 4">
            <a:extLst>
              <a:ext uri="{FF2B5EF4-FFF2-40B4-BE49-F238E27FC236}">
                <a16:creationId xmlns:a16="http://schemas.microsoft.com/office/drawing/2014/main" id="{157F465B-8F7A-5BDD-5E92-E3A4922D0EB8}"/>
              </a:ext>
            </a:extLst>
          </p:cNvPr>
          <p:cNvSpPr>
            <a:spLocks noGrp="1"/>
          </p:cNvSpPr>
          <p:nvPr>
            <p:ph type="body" sz="quarter" idx="15" hasCustomPrompt="1"/>
          </p:nvPr>
        </p:nvSpPr>
        <p:spPr>
          <a:xfrm>
            <a:off x="5359999" y="4448439"/>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11" name="Text Placeholder 4">
            <a:extLst>
              <a:ext uri="{FF2B5EF4-FFF2-40B4-BE49-F238E27FC236}">
                <a16:creationId xmlns:a16="http://schemas.microsoft.com/office/drawing/2014/main" id="{8903BE86-C433-D59A-ADA6-4BDB1F1AC224}"/>
              </a:ext>
            </a:extLst>
          </p:cNvPr>
          <p:cNvSpPr>
            <a:spLocks noGrp="1"/>
          </p:cNvSpPr>
          <p:nvPr>
            <p:ph type="body" sz="quarter" idx="16" hasCustomPrompt="1"/>
          </p:nvPr>
        </p:nvSpPr>
        <p:spPr>
          <a:xfrm>
            <a:off x="8429308" y="4448441"/>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14833794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ve Content and subhea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590D32B-BE46-D2FF-5124-9FDB39359486}"/>
              </a:ext>
            </a:extLst>
          </p:cNvPr>
          <p:cNvSpPr>
            <a:spLocks noGrp="1"/>
          </p:cNvSpPr>
          <p:nvPr>
            <p:ph type="title" hasCustomPrompt="1"/>
          </p:nvPr>
        </p:nvSpPr>
        <p:spPr>
          <a:xfrm>
            <a:off x="646359" y="365127"/>
            <a:ext cx="10709031" cy="734621"/>
          </a:xfrm>
        </p:spPr>
        <p:txBody>
          <a:bodyPr/>
          <a:lstStyle/>
          <a:p>
            <a:r>
              <a:rPr lang="en-US"/>
              <a:t>CLICK TO EDIT TITLE</a:t>
            </a:r>
          </a:p>
        </p:txBody>
      </p:sp>
      <p:sp>
        <p:nvSpPr>
          <p:cNvPr id="13" name="Text Placeholder 3">
            <a:extLst>
              <a:ext uri="{FF2B5EF4-FFF2-40B4-BE49-F238E27FC236}">
                <a16:creationId xmlns:a16="http://schemas.microsoft.com/office/drawing/2014/main" id="{9FC42B0F-D951-B28C-B437-6054E47EBDFD}"/>
              </a:ext>
            </a:extLst>
          </p:cNvPr>
          <p:cNvSpPr>
            <a:spLocks noGrp="1"/>
          </p:cNvSpPr>
          <p:nvPr>
            <p:ph type="body" sz="quarter" idx="17"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78" indent="0">
              <a:buNone/>
              <a:defRPr b="0" i="0">
                <a:solidFill>
                  <a:schemeClr val="accent1"/>
                </a:solidFill>
                <a:latin typeface="IBM Plex Sans Light" panose="020B0403050203000203" pitchFamily="34" charset="0"/>
              </a:defRPr>
            </a:lvl2pPr>
            <a:lvl3pPr marL="914354" indent="0">
              <a:buNone/>
              <a:defRPr b="0" i="0">
                <a:solidFill>
                  <a:schemeClr val="accent1"/>
                </a:solidFill>
                <a:latin typeface="IBM Plex Sans Light" panose="020B0403050203000203" pitchFamily="34" charset="0"/>
              </a:defRPr>
            </a:lvl3pPr>
            <a:lvl4pPr marL="1371532" indent="0">
              <a:buNone/>
              <a:defRPr b="0" i="0">
                <a:solidFill>
                  <a:schemeClr val="accent1"/>
                </a:solidFill>
                <a:latin typeface="IBM Plex Sans Light" panose="020B0403050203000203" pitchFamily="34" charset="0"/>
              </a:defRPr>
            </a:lvl4pPr>
            <a:lvl5pPr marL="1828709" indent="0">
              <a:buNone/>
              <a:defRPr b="0" i="0">
                <a:solidFill>
                  <a:schemeClr val="accent1"/>
                </a:solidFill>
                <a:latin typeface="IBM Plex Sans Light" panose="020B0403050203000203" pitchFamily="34" charset="0"/>
              </a:defRPr>
            </a:lvl5pPr>
          </a:lstStyle>
          <a:p>
            <a:pPr lvl="0"/>
            <a:r>
              <a:rPr lang="en-US"/>
              <a:t>Click to edit subhead</a:t>
            </a:r>
          </a:p>
        </p:txBody>
      </p:sp>
      <p:sp>
        <p:nvSpPr>
          <p:cNvPr id="15" name="Content Placeholder 2">
            <a:extLst>
              <a:ext uri="{FF2B5EF4-FFF2-40B4-BE49-F238E27FC236}">
                <a16:creationId xmlns:a16="http://schemas.microsoft.com/office/drawing/2014/main" id="{33F4AA73-6270-8996-F775-27ADF208BB76}"/>
              </a:ext>
            </a:extLst>
          </p:cNvPr>
          <p:cNvSpPr>
            <a:spLocks noGrp="1"/>
          </p:cNvSpPr>
          <p:nvPr>
            <p:ph sz="half" idx="1" hasCustomPrompt="1"/>
          </p:nvPr>
        </p:nvSpPr>
        <p:spPr>
          <a:xfrm>
            <a:off x="644771" y="2210082"/>
            <a:ext cx="4572000" cy="3890163"/>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E96A1FF-9563-1D0B-9D8F-4D3CE6D345C1}"/>
              </a:ext>
            </a:extLst>
          </p:cNvPr>
          <p:cNvSpPr>
            <a:spLocks noGrp="1"/>
          </p:cNvSpPr>
          <p:nvPr>
            <p:ph type="body" sz="quarter" idx="13" hasCustomPrompt="1"/>
          </p:nvPr>
        </p:nvSpPr>
        <p:spPr>
          <a:xfrm>
            <a:off x="5359205" y="2210086"/>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9" name="Text Placeholder 4">
            <a:extLst>
              <a:ext uri="{FF2B5EF4-FFF2-40B4-BE49-F238E27FC236}">
                <a16:creationId xmlns:a16="http://schemas.microsoft.com/office/drawing/2014/main" id="{99928444-9A41-AAEE-EC0C-055B01E3FA33}"/>
              </a:ext>
            </a:extLst>
          </p:cNvPr>
          <p:cNvSpPr>
            <a:spLocks noGrp="1"/>
          </p:cNvSpPr>
          <p:nvPr>
            <p:ph type="body" sz="quarter" idx="14" hasCustomPrompt="1"/>
          </p:nvPr>
        </p:nvSpPr>
        <p:spPr>
          <a:xfrm>
            <a:off x="8427720" y="2210086"/>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10" name="Text Placeholder 4">
            <a:extLst>
              <a:ext uri="{FF2B5EF4-FFF2-40B4-BE49-F238E27FC236}">
                <a16:creationId xmlns:a16="http://schemas.microsoft.com/office/drawing/2014/main" id="{157F465B-8F7A-5BDD-5E92-E3A4922D0EB8}"/>
              </a:ext>
            </a:extLst>
          </p:cNvPr>
          <p:cNvSpPr>
            <a:spLocks noGrp="1"/>
          </p:cNvSpPr>
          <p:nvPr>
            <p:ph type="body" sz="quarter" idx="15" hasCustomPrompt="1"/>
          </p:nvPr>
        </p:nvSpPr>
        <p:spPr>
          <a:xfrm>
            <a:off x="5359205" y="4448441"/>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11" name="Text Placeholder 4">
            <a:extLst>
              <a:ext uri="{FF2B5EF4-FFF2-40B4-BE49-F238E27FC236}">
                <a16:creationId xmlns:a16="http://schemas.microsoft.com/office/drawing/2014/main" id="{8903BE86-C433-D59A-ADA6-4BDB1F1AC224}"/>
              </a:ext>
            </a:extLst>
          </p:cNvPr>
          <p:cNvSpPr>
            <a:spLocks noGrp="1"/>
          </p:cNvSpPr>
          <p:nvPr>
            <p:ph type="body" sz="quarter" idx="16" hasCustomPrompt="1"/>
          </p:nvPr>
        </p:nvSpPr>
        <p:spPr>
          <a:xfrm>
            <a:off x="8427720" y="4448441"/>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42829749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Subhea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CFB8F7E-E499-364F-DBBC-112AB229FB0F}"/>
              </a:ext>
            </a:extLst>
          </p:cNvPr>
          <p:cNvSpPr>
            <a:spLocks noGrp="1"/>
          </p:cNvSpPr>
          <p:nvPr>
            <p:ph type="title" hasCustomPrompt="1"/>
          </p:nvPr>
        </p:nvSpPr>
        <p:spPr>
          <a:xfrm>
            <a:off x="646359" y="365127"/>
            <a:ext cx="10709031" cy="734621"/>
          </a:xfrm>
        </p:spPr>
        <p:txBody>
          <a:bodyPr/>
          <a:lstStyle/>
          <a:p>
            <a:r>
              <a:rPr lang="en-US"/>
              <a:t>CLICK TO EDIT TITLE</a:t>
            </a:r>
          </a:p>
        </p:txBody>
      </p:sp>
      <p:sp>
        <p:nvSpPr>
          <p:cNvPr id="9" name="Text Placeholder 3">
            <a:extLst>
              <a:ext uri="{FF2B5EF4-FFF2-40B4-BE49-F238E27FC236}">
                <a16:creationId xmlns:a16="http://schemas.microsoft.com/office/drawing/2014/main" id="{C2104D11-CF58-8BD0-F89F-27B8D217FA90}"/>
              </a:ext>
            </a:extLst>
          </p:cNvPr>
          <p:cNvSpPr>
            <a:spLocks noGrp="1"/>
          </p:cNvSpPr>
          <p:nvPr>
            <p:ph type="body" sz="quarter" idx="13"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78" indent="0">
              <a:buNone/>
              <a:defRPr b="0" i="0">
                <a:solidFill>
                  <a:schemeClr val="accent1"/>
                </a:solidFill>
                <a:latin typeface="IBM Plex Sans Light" panose="020B0403050203000203" pitchFamily="34" charset="0"/>
              </a:defRPr>
            </a:lvl2pPr>
            <a:lvl3pPr marL="914354" indent="0">
              <a:buNone/>
              <a:defRPr b="0" i="0">
                <a:solidFill>
                  <a:schemeClr val="accent1"/>
                </a:solidFill>
                <a:latin typeface="IBM Plex Sans Light" panose="020B0403050203000203" pitchFamily="34" charset="0"/>
              </a:defRPr>
            </a:lvl3pPr>
            <a:lvl4pPr marL="1371532" indent="0">
              <a:buNone/>
              <a:defRPr b="0" i="0">
                <a:solidFill>
                  <a:schemeClr val="accent1"/>
                </a:solidFill>
                <a:latin typeface="IBM Plex Sans Light" panose="020B0403050203000203" pitchFamily="34" charset="0"/>
              </a:defRPr>
            </a:lvl4pPr>
            <a:lvl5pPr marL="1828709" indent="0">
              <a:buNone/>
              <a:defRPr b="0" i="0">
                <a:solidFill>
                  <a:schemeClr val="accent1"/>
                </a:solidFill>
                <a:latin typeface="IBM Plex Sans Light" panose="020B0403050203000203" pitchFamily="34" charset="0"/>
              </a:defRPr>
            </a:lvl5pPr>
          </a:lstStyle>
          <a:p>
            <a:pPr lvl="0"/>
            <a:r>
              <a:rPr lang="en-US"/>
              <a:t>Click to edit subhead</a:t>
            </a:r>
          </a:p>
        </p:txBody>
      </p:sp>
      <p:sp>
        <p:nvSpPr>
          <p:cNvPr id="3" name="Content Placeholder 2">
            <a:extLst>
              <a:ext uri="{FF2B5EF4-FFF2-40B4-BE49-F238E27FC236}">
                <a16:creationId xmlns:a16="http://schemas.microsoft.com/office/drawing/2014/main" id="{55861FEF-A671-1F7D-9144-4A18E9166FFA}"/>
              </a:ext>
            </a:extLst>
          </p:cNvPr>
          <p:cNvSpPr>
            <a:spLocks noGrp="1"/>
          </p:cNvSpPr>
          <p:nvPr>
            <p:ph sz="half" idx="1" hasCustomPrompt="1"/>
          </p:nvPr>
        </p:nvSpPr>
        <p:spPr>
          <a:xfrm>
            <a:off x="644769" y="2325836"/>
            <a:ext cx="5181600" cy="385112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3BBBBC6-6719-80F5-099C-8B072696F417}"/>
              </a:ext>
            </a:extLst>
          </p:cNvPr>
          <p:cNvSpPr>
            <a:spLocks noGrp="1"/>
          </p:cNvSpPr>
          <p:nvPr>
            <p:ph sz="half" idx="2" hasCustomPrompt="1"/>
          </p:nvPr>
        </p:nvSpPr>
        <p:spPr>
          <a:xfrm>
            <a:off x="6172200" y="2325836"/>
            <a:ext cx="5181600" cy="385112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35167264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E74C1-7A20-8CB4-3DD4-EB8A50BB8128}"/>
              </a:ext>
            </a:extLst>
          </p:cNvPr>
          <p:cNvSpPr>
            <a:spLocks noGrp="1"/>
          </p:cNvSpPr>
          <p:nvPr>
            <p:ph type="title" hasCustomPrompt="1"/>
          </p:nvPr>
        </p:nvSpPr>
        <p:spPr>
          <a:xfrm>
            <a:off x="644769" y="365125"/>
            <a:ext cx="10710619" cy="1325563"/>
          </a:xfrm>
        </p:spPr>
        <p:txBody>
          <a:bodyPr/>
          <a:lstStyle/>
          <a:p>
            <a:r>
              <a:rPr lang="en-US"/>
              <a:t>CLICK TO EDIT TITLE</a:t>
            </a:r>
          </a:p>
        </p:txBody>
      </p:sp>
      <p:sp>
        <p:nvSpPr>
          <p:cNvPr id="3" name="Text Placeholder 2">
            <a:extLst>
              <a:ext uri="{FF2B5EF4-FFF2-40B4-BE49-F238E27FC236}">
                <a16:creationId xmlns:a16="http://schemas.microsoft.com/office/drawing/2014/main" id="{817277B2-0A2F-FA77-9E15-CA3A58A5B545}"/>
              </a:ext>
            </a:extLst>
          </p:cNvPr>
          <p:cNvSpPr>
            <a:spLocks noGrp="1"/>
          </p:cNvSpPr>
          <p:nvPr>
            <p:ph type="body" idx="1" hasCustomPrompt="1"/>
          </p:nvPr>
        </p:nvSpPr>
        <p:spPr>
          <a:xfrm>
            <a:off x="644772" y="1681163"/>
            <a:ext cx="5157787" cy="823912"/>
          </a:xfrm>
        </p:spPr>
        <p:txBody>
          <a:bodyPr anchor="b"/>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text</a:t>
            </a:r>
          </a:p>
        </p:txBody>
      </p:sp>
      <p:sp>
        <p:nvSpPr>
          <p:cNvPr id="4" name="Content Placeholder 3">
            <a:extLst>
              <a:ext uri="{FF2B5EF4-FFF2-40B4-BE49-F238E27FC236}">
                <a16:creationId xmlns:a16="http://schemas.microsoft.com/office/drawing/2014/main" id="{07B25F01-3996-B6B6-F8FD-75E9120A8843}"/>
              </a:ext>
            </a:extLst>
          </p:cNvPr>
          <p:cNvSpPr>
            <a:spLocks noGrp="1"/>
          </p:cNvSpPr>
          <p:nvPr>
            <p:ph sz="half" idx="2" hasCustomPrompt="1"/>
          </p:nvPr>
        </p:nvSpPr>
        <p:spPr>
          <a:xfrm>
            <a:off x="644772" y="2505075"/>
            <a:ext cx="5157787" cy="3684588"/>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F473F84-FD9A-282A-FBCC-F5ADD527FC9F}"/>
              </a:ext>
            </a:extLst>
          </p:cNvPr>
          <p:cNvSpPr>
            <a:spLocks noGrp="1"/>
          </p:cNvSpPr>
          <p:nvPr>
            <p:ph type="body" sz="quarter" idx="3" hasCustomPrompt="1"/>
          </p:nvPr>
        </p:nvSpPr>
        <p:spPr>
          <a:xfrm>
            <a:off x="6172202" y="1681163"/>
            <a:ext cx="5183188" cy="823912"/>
          </a:xfrm>
        </p:spPr>
        <p:txBody>
          <a:bodyPr anchor="b"/>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text</a:t>
            </a:r>
          </a:p>
        </p:txBody>
      </p:sp>
      <p:sp>
        <p:nvSpPr>
          <p:cNvPr id="6" name="Content Placeholder 5">
            <a:extLst>
              <a:ext uri="{FF2B5EF4-FFF2-40B4-BE49-F238E27FC236}">
                <a16:creationId xmlns:a16="http://schemas.microsoft.com/office/drawing/2014/main" id="{5EE5DE14-382A-1AC7-A660-8E5831B83608}"/>
              </a:ext>
            </a:extLst>
          </p:cNvPr>
          <p:cNvSpPr>
            <a:spLocks noGrp="1"/>
          </p:cNvSpPr>
          <p:nvPr>
            <p:ph sz="quarter" idx="4" hasCustomPrompt="1"/>
          </p:nvPr>
        </p:nvSpPr>
        <p:spPr>
          <a:xfrm>
            <a:off x="6172202" y="2505075"/>
            <a:ext cx="5183188" cy="3684588"/>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9E6D1FFC-28E6-E13A-7721-39658D2AA087}"/>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7237700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27957-9EED-8271-0E72-EFAE0371AF15}"/>
              </a:ext>
            </a:extLst>
          </p:cNvPr>
          <p:cNvSpPr>
            <a:spLocks noGrp="1"/>
          </p:cNvSpPr>
          <p:nvPr>
            <p:ph type="title" hasCustomPrompt="1"/>
          </p:nvPr>
        </p:nvSpPr>
        <p:spPr/>
        <p:txBody>
          <a:bodyPr/>
          <a:lstStyle/>
          <a:p>
            <a:r>
              <a:rPr lang="en-US"/>
              <a:t>CLICK TO EDIT TITLE</a:t>
            </a:r>
          </a:p>
        </p:txBody>
      </p:sp>
      <p:sp>
        <p:nvSpPr>
          <p:cNvPr id="5" name="Slide Number Placeholder 4">
            <a:extLst>
              <a:ext uri="{FF2B5EF4-FFF2-40B4-BE49-F238E27FC236}">
                <a16:creationId xmlns:a16="http://schemas.microsoft.com/office/drawing/2014/main" id="{D555F4F9-1684-DE61-8B6E-9C5982CDC272}"/>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22793769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C93D118-64C2-DAF8-93EF-9D41A6B09A50}"/>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7418459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546ACC9-E2A9-486E-5749-83DDF3B956C7}"/>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Tree>
    <p:extLst>
      <p:ext uri="{BB962C8B-B14F-4D97-AF65-F5344CB8AC3E}">
        <p14:creationId xmlns:p14="http://schemas.microsoft.com/office/powerpoint/2010/main" val="976705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ABF1B99-BFB4-0688-A8CA-067A988DADEC}"/>
              </a:ext>
            </a:extLst>
          </p:cNvPr>
          <p:cNvSpPr>
            <a:spLocks noGrp="1"/>
          </p:cNvSpPr>
          <p:nvPr>
            <p:ph type="sldNum" sz="quarter" idx="12"/>
          </p:nvPr>
        </p:nvSpPr>
        <p:spPr/>
        <p:txBody>
          <a:bodyPr/>
          <a:lstStyle/>
          <a:p>
            <a:fld id="{4267CD5E-26CF-4249-8540-BB1D07FD4227}" type="slidenum">
              <a:rPr lang="en-US" smtClean="0"/>
              <a:t>‹#›</a:t>
            </a:fld>
            <a:endParaRPr lang="en-US"/>
          </a:p>
        </p:txBody>
      </p:sp>
      <p:sp>
        <p:nvSpPr>
          <p:cNvPr id="3" name="Content Placeholder 2">
            <a:extLst>
              <a:ext uri="{FF2B5EF4-FFF2-40B4-BE49-F238E27FC236}">
                <a16:creationId xmlns:a16="http://schemas.microsoft.com/office/drawing/2014/main" id="{A1A211F7-F5B3-755A-0FE9-7416E5B6D3BB}"/>
              </a:ext>
            </a:extLst>
          </p:cNvPr>
          <p:cNvSpPr>
            <a:spLocks noGrp="1"/>
          </p:cNvSpPr>
          <p:nvPr>
            <p:ph idx="1" hasCustomPrompt="1"/>
          </p:nvPr>
        </p:nvSpPr>
        <p:spPr>
          <a:xfrm>
            <a:off x="5183188" y="987428"/>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C1DCA10-F271-79EA-C335-35398B7961CF}"/>
              </a:ext>
            </a:extLst>
          </p:cNvPr>
          <p:cNvSpPr>
            <a:spLocks noGrp="1"/>
          </p:cNvSpPr>
          <p:nvPr>
            <p:ph type="body" sz="half" idx="2" hasCustomPrompt="1"/>
          </p:nvPr>
        </p:nvSpPr>
        <p:spPr>
          <a:xfrm>
            <a:off x="644773" y="2057402"/>
            <a:ext cx="4127255" cy="3811588"/>
          </a:xfrm>
        </p:spPr>
        <p:txBody>
          <a:bodyPr/>
          <a:lstStyle>
            <a:lvl1pPr marL="0" indent="0">
              <a:buNone/>
              <a:defRPr sz="16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US"/>
              <a:t>Click to edit text</a:t>
            </a:r>
          </a:p>
        </p:txBody>
      </p:sp>
      <p:sp>
        <p:nvSpPr>
          <p:cNvPr id="2" name="Title 1">
            <a:extLst>
              <a:ext uri="{FF2B5EF4-FFF2-40B4-BE49-F238E27FC236}">
                <a16:creationId xmlns:a16="http://schemas.microsoft.com/office/drawing/2014/main" id="{F7F18D82-BCB2-4520-6E3E-BC47DF6E92F2}"/>
              </a:ext>
            </a:extLst>
          </p:cNvPr>
          <p:cNvSpPr>
            <a:spLocks noGrp="1"/>
          </p:cNvSpPr>
          <p:nvPr>
            <p:ph type="title" hasCustomPrompt="1"/>
          </p:nvPr>
        </p:nvSpPr>
        <p:spPr>
          <a:xfrm>
            <a:off x="644773" y="457200"/>
            <a:ext cx="4127255" cy="1600200"/>
          </a:xfrm>
        </p:spPr>
        <p:txBody>
          <a:bodyPr anchor="b"/>
          <a:lstStyle>
            <a:lvl1pPr>
              <a:defRPr sz="3200"/>
            </a:lvl1pPr>
          </a:lstStyle>
          <a:p>
            <a:r>
              <a:rPr lang="en-US"/>
              <a:t>CLICK TO EDIT TITLE</a:t>
            </a:r>
          </a:p>
        </p:txBody>
      </p:sp>
    </p:spTree>
    <p:extLst>
      <p:ext uri="{BB962C8B-B14F-4D97-AF65-F5344CB8AC3E}">
        <p14:creationId xmlns:p14="http://schemas.microsoft.com/office/powerpoint/2010/main" val="20657944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CDE9B-54A8-866E-B788-EB3968761BC7}"/>
              </a:ext>
            </a:extLst>
          </p:cNvPr>
          <p:cNvSpPr>
            <a:spLocks noGrp="1"/>
          </p:cNvSpPr>
          <p:nvPr>
            <p:ph type="title" hasCustomPrompt="1"/>
          </p:nvPr>
        </p:nvSpPr>
        <p:spPr>
          <a:xfrm>
            <a:off x="644773" y="457200"/>
            <a:ext cx="4127255" cy="1600200"/>
          </a:xfrm>
        </p:spPr>
        <p:txBody>
          <a:bodyPr anchor="b"/>
          <a:lstStyle>
            <a:lvl1pPr>
              <a:defRPr sz="3200"/>
            </a:lvl1pPr>
          </a:lstStyle>
          <a:p>
            <a:r>
              <a:rPr lang="en-US"/>
              <a:t>Click to edit title</a:t>
            </a:r>
          </a:p>
        </p:txBody>
      </p:sp>
      <p:sp>
        <p:nvSpPr>
          <p:cNvPr id="4" name="Text Placeholder 3">
            <a:extLst>
              <a:ext uri="{FF2B5EF4-FFF2-40B4-BE49-F238E27FC236}">
                <a16:creationId xmlns:a16="http://schemas.microsoft.com/office/drawing/2014/main" id="{B31F6659-DAE0-7160-C9F6-2C8137D933BD}"/>
              </a:ext>
            </a:extLst>
          </p:cNvPr>
          <p:cNvSpPr>
            <a:spLocks noGrp="1"/>
          </p:cNvSpPr>
          <p:nvPr>
            <p:ph type="body" sz="half" idx="2" hasCustomPrompt="1"/>
          </p:nvPr>
        </p:nvSpPr>
        <p:spPr>
          <a:xfrm>
            <a:off x="644773" y="2057402"/>
            <a:ext cx="4127255" cy="3811588"/>
          </a:xfrm>
        </p:spPr>
        <p:txBody>
          <a:bodyPr/>
          <a:lstStyle>
            <a:lvl1pPr marL="0" indent="0">
              <a:buNone/>
              <a:defRPr sz="16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US"/>
              <a:t>Click to edit text</a:t>
            </a:r>
          </a:p>
        </p:txBody>
      </p:sp>
      <p:sp>
        <p:nvSpPr>
          <p:cNvPr id="3" name="Picture Placeholder 2">
            <a:extLst>
              <a:ext uri="{FF2B5EF4-FFF2-40B4-BE49-F238E27FC236}">
                <a16:creationId xmlns:a16="http://schemas.microsoft.com/office/drawing/2014/main" id="{3F05E2B1-FC9F-DFC8-B82B-3A9D2B911EBC}"/>
              </a:ext>
            </a:extLst>
          </p:cNvPr>
          <p:cNvSpPr>
            <a:spLocks noGrp="1"/>
          </p:cNvSpPr>
          <p:nvPr>
            <p:ph type="pic" idx="1"/>
          </p:nvPr>
        </p:nvSpPr>
        <p:spPr>
          <a:xfrm>
            <a:off x="5183188" y="987428"/>
            <a:ext cx="6172200" cy="4873625"/>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endParaRPr lang="en-US"/>
          </a:p>
        </p:txBody>
      </p:sp>
      <p:sp>
        <p:nvSpPr>
          <p:cNvPr id="7" name="Slide Number Placeholder 6">
            <a:extLst>
              <a:ext uri="{FF2B5EF4-FFF2-40B4-BE49-F238E27FC236}">
                <a16:creationId xmlns:a16="http://schemas.microsoft.com/office/drawing/2014/main" id="{330ECE5B-0146-1148-6A0D-A0F447C354AC}"/>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11529442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92B4C-D932-924C-A9B9-A7396B7CB503}"/>
              </a:ext>
            </a:extLst>
          </p:cNvPr>
          <p:cNvSpPr>
            <a:spLocks noGrp="1"/>
          </p:cNvSpPr>
          <p:nvPr>
            <p:ph type="title" hasCustomPrompt="1"/>
          </p:nvPr>
        </p:nvSpPr>
        <p:spPr/>
        <p:txBody>
          <a:bodyPr/>
          <a:lstStyle/>
          <a:p>
            <a:r>
              <a:rPr lang="en-US"/>
              <a:t>Click to edit title</a:t>
            </a:r>
          </a:p>
        </p:txBody>
      </p:sp>
      <p:sp>
        <p:nvSpPr>
          <p:cNvPr id="3" name="Vertical Text Placeholder 2">
            <a:extLst>
              <a:ext uri="{FF2B5EF4-FFF2-40B4-BE49-F238E27FC236}">
                <a16:creationId xmlns:a16="http://schemas.microsoft.com/office/drawing/2014/main" id="{61DF67A6-D1DA-71BB-CCFF-678D91838913}"/>
              </a:ext>
            </a:extLst>
          </p:cNvPr>
          <p:cNvSpPr>
            <a:spLocks noGrp="1"/>
          </p:cNvSpPr>
          <p:nvPr>
            <p:ph type="body" orient="vert" idx="1" hasCustomPrompt="1"/>
          </p:nvPr>
        </p:nvSpPr>
        <p:spPr/>
        <p:txBody>
          <a:bodyPr vert="eaVert"/>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21283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8CFDF3-4C0B-B588-73E9-559E689FE0AF}"/>
              </a:ext>
            </a:extLst>
          </p:cNvPr>
          <p:cNvSpPr>
            <a:spLocks noGrp="1"/>
          </p:cNvSpPr>
          <p:nvPr>
            <p:ph type="title" orient="vert"/>
          </p:nvPr>
        </p:nvSpPr>
        <p:spPr>
          <a:xfrm>
            <a:off x="8724902" y="365127"/>
            <a:ext cx="2628900" cy="581183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E20EF8-D417-90E9-AEFA-DB28B8392B89}"/>
              </a:ext>
            </a:extLst>
          </p:cNvPr>
          <p:cNvSpPr>
            <a:spLocks noGrp="1"/>
          </p:cNvSpPr>
          <p:nvPr>
            <p:ph type="body" orient="vert" idx="1"/>
          </p:nvPr>
        </p:nvSpPr>
        <p:spPr>
          <a:xfrm>
            <a:off x="644769" y="365127"/>
            <a:ext cx="7927731"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42867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pic>
        <p:nvPicPr>
          <p:cNvPr id="6" name="Picture 5" descr="A picture containing person, crowd, event, several&#10;&#10;Description automatically generated">
            <a:extLst>
              <a:ext uri="{FF2B5EF4-FFF2-40B4-BE49-F238E27FC236}">
                <a16:creationId xmlns:a16="http://schemas.microsoft.com/office/drawing/2014/main" id="{206FAFD8-028E-613E-F668-7FDFC37E002D}"/>
              </a:ext>
            </a:extLst>
          </p:cNvPr>
          <p:cNvPicPr>
            <a:picLocks noChangeAspect="1"/>
          </p:cNvPicPr>
          <p:nvPr userDrawn="1"/>
        </p:nvPicPr>
        <p:blipFill rotWithShape="1">
          <a:blip r:embed="rId2"/>
          <a:srcRect l="28985"/>
          <a:stretch/>
        </p:blipFill>
        <p:spPr>
          <a:xfrm>
            <a:off x="2" y="0"/>
            <a:ext cx="7305260" cy="6858000"/>
          </a:xfrm>
          <a:prstGeom prst="rect">
            <a:avLst/>
          </a:prstGeom>
        </p:spPr>
      </p:pic>
      <p:pic>
        <p:nvPicPr>
          <p:cNvPr id="3" name="Picture 2" descr="A picture containing shape&#10;&#10;Description automatically generated">
            <a:extLst>
              <a:ext uri="{FF2B5EF4-FFF2-40B4-BE49-F238E27FC236}">
                <a16:creationId xmlns:a16="http://schemas.microsoft.com/office/drawing/2014/main" id="{E12E123F-8311-330F-DB73-3B618A779343}"/>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84B2191C-6994-71BA-A63E-85F5AF6A9776}"/>
              </a:ext>
            </a:extLst>
          </p:cNvPr>
          <p:cNvSpPr txBox="1"/>
          <p:nvPr userDrawn="1"/>
        </p:nvSpPr>
        <p:spPr>
          <a:xfrm>
            <a:off x="7284722" y="3144277"/>
            <a:ext cx="4245895" cy="923330"/>
          </a:xfrm>
          <a:prstGeom prst="rect">
            <a:avLst/>
          </a:prstGeom>
          <a:noFill/>
        </p:spPr>
        <p:txBody>
          <a:bodyPr wrap="square" rtlCol="0">
            <a:spAutoFit/>
          </a:bodyPr>
          <a:lstStyle/>
          <a:p>
            <a:pPr algn="r"/>
            <a:r>
              <a:rPr lang="en-US" sz="5400" b="0" i="0">
                <a:solidFill>
                  <a:schemeClr val="bg1"/>
                </a:solidFill>
                <a:latin typeface="Saira Condensed Condensed Light" pitchFamily="2" charset="77"/>
              </a:rPr>
              <a:t>THANK </a:t>
            </a:r>
            <a:r>
              <a:rPr lang="en-US" sz="5400" b="1" i="0">
                <a:solidFill>
                  <a:schemeClr val="bg1"/>
                </a:solidFill>
                <a:latin typeface="Saira Condensed Condensed Light" pitchFamily="2" charset="77"/>
              </a:rPr>
              <a:t>YOU</a:t>
            </a:r>
          </a:p>
        </p:txBody>
      </p:sp>
      <p:sp>
        <p:nvSpPr>
          <p:cNvPr id="9" name="TextBox 8">
            <a:extLst>
              <a:ext uri="{FF2B5EF4-FFF2-40B4-BE49-F238E27FC236}">
                <a16:creationId xmlns:a16="http://schemas.microsoft.com/office/drawing/2014/main" id="{7F2600DA-4934-A3D7-306B-06292C3154B8}"/>
              </a:ext>
            </a:extLst>
          </p:cNvPr>
          <p:cNvSpPr txBox="1"/>
          <p:nvPr userDrawn="1"/>
        </p:nvSpPr>
        <p:spPr>
          <a:xfrm>
            <a:off x="6096002" y="5170418"/>
            <a:ext cx="5434615" cy="584775"/>
          </a:xfrm>
          <a:prstGeom prst="rect">
            <a:avLst/>
          </a:prstGeom>
          <a:noFill/>
        </p:spPr>
        <p:txBody>
          <a:bodyPr wrap="square" rtlCol="0">
            <a:spAutoFit/>
          </a:bodyPr>
          <a:lstStyle/>
          <a:p>
            <a:pPr algn="r"/>
            <a:r>
              <a:rPr lang="en-US" sz="1600" b="1" kern="1200">
                <a:solidFill>
                  <a:schemeClr val="bg1"/>
                </a:solidFill>
                <a:effectLst/>
                <a:latin typeface="IBM Plex Sans" panose="020B0503050203000203" pitchFamily="34" charset="0"/>
                <a:ea typeface="+mn-ea"/>
                <a:cs typeface="+mn-cs"/>
              </a:rPr>
              <a:t>Stevens Institute of Technology</a:t>
            </a:r>
            <a:br>
              <a:rPr lang="en-US" sz="1600" b="1" kern="1200">
                <a:solidFill>
                  <a:schemeClr val="bg1"/>
                </a:solidFill>
                <a:effectLst/>
                <a:latin typeface="IBM Plex Sans" panose="020B0503050203000203" pitchFamily="34" charset="0"/>
                <a:ea typeface="+mn-ea"/>
                <a:cs typeface="+mn-cs"/>
              </a:rPr>
            </a:br>
            <a:r>
              <a:rPr lang="en-US" sz="1600" kern="1200">
                <a:solidFill>
                  <a:schemeClr val="bg1"/>
                </a:solidFill>
                <a:effectLst/>
                <a:latin typeface="IBM Plex Sans" panose="020B0503050203000203" pitchFamily="34" charset="0"/>
                <a:ea typeface="+mn-ea"/>
                <a:cs typeface="+mn-cs"/>
              </a:rPr>
              <a:t>1 Castle Point Terrace, Hoboken, NJ 07030</a:t>
            </a:r>
          </a:p>
        </p:txBody>
      </p:sp>
    </p:spTree>
    <p:extLst>
      <p:ext uri="{BB962C8B-B14F-4D97-AF65-F5344CB8AC3E}">
        <p14:creationId xmlns:p14="http://schemas.microsoft.com/office/powerpoint/2010/main" val="37594975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21141074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13" imgH="416" progId="TCLayout.ActiveDocument.1">
                  <p:embed/>
                </p:oleObj>
              </mc:Choice>
              <mc:Fallback>
                <p:oleObj name="think-cell Slide" r:id="rId8"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2"/>
            </p:custDataLst>
          </p:nvPr>
        </p:nvSpPr>
        <p:spPr>
          <a:xfrm>
            <a:off x="554736" y="172212"/>
            <a:ext cx="11082528" cy="384721"/>
          </a:xfrm>
        </p:spPr>
        <p:txBody>
          <a:bodyPr vert="horz" wrap="square" lIns="0" tIns="0" rIns="0" bIns="0" rtlCol="0" anchor="t" anchorCtr="0">
            <a:spAutoFit/>
          </a:bodyPr>
          <a:lstStyle>
            <a:lvl1pPr>
              <a:defRPr lang="en-US" dirty="0"/>
            </a:lvl1pPr>
          </a:lstStyle>
          <a:p>
            <a:pPr lvl="0"/>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571094"/>
            <a:ext cx="11082528" cy="276999"/>
          </a:xfrm>
          <a:prstGeom prst="rect">
            <a:avLst/>
          </a:prstGeom>
        </p:spPr>
        <p:txBody>
          <a:bodyPr vert="horz" wrap="square" lIns="0" tIns="0" rIns="0" bIns="0" rtlCol="0">
            <a:spAutoFit/>
          </a:bodyPr>
          <a:lstStyle>
            <a:lvl1pPr>
              <a:defRPr lang="en-US" sz="1800" b="0" dirty="0"/>
            </a:lvl1pPr>
          </a:lstStyle>
          <a:p>
            <a:pPr lvl="0">
              <a:buNone/>
            </a:pPr>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b="0">
              <a:solidFill>
                <a:schemeClr val="tx1"/>
              </a:solidFill>
              <a:latin typeface="+mn-lt"/>
              <a:ea typeface="+mn-ea"/>
              <a:cs typeface="Arial" panose="020B0604020202020204" pitchFamily="34" charset="0"/>
            </a:endParaRP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5"/>
            </p:custDataLst>
          </p:nvPr>
        </p:nvSpPr>
        <p:spPr>
          <a:xfrm>
            <a:off x="554735" y="41597"/>
            <a:ext cx="3843338" cy="123111"/>
          </a:xfrm>
          <a:prstGeom prst="rect">
            <a:avLst/>
          </a:prstGeom>
          <a:ln w="6350">
            <a:noFill/>
            <a:miter lim="800000"/>
          </a:ln>
        </p:spPr>
        <p:txBody>
          <a:bodyPr vert="horz" wrap="square" lIns="0" tIns="0" rIns="0" bIns="0" rtlCol="0">
            <a:spAutoFit/>
          </a:bodyPr>
          <a:lstStyle>
            <a:lvl1pPr>
              <a:defRPr lang="en-US" sz="800" b="0" dirty="0">
                <a:cs typeface="+mn-cs"/>
              </a:defRPr>
            </a:lvl1pPr>
          </a:lstStyle>
          <a:p>
            <a:pPr lvl="0">
              <a:buNone/>
            </a:pPr>
            <a:r>
              <a:rPr lang="en-US"/>
              <a:t>Add tracker</a:t>
            </a:r>
          </a:p>
        </p:txBody>
      </p:sp>
      <p:sp>
        <p:nvSpPr>
          <p:cNvPr id="16" name="5. Source" hidden="1">
            <a:extLst>
              <a:ext uri="{FF2B5EF4-FFF2-40B4-BE49-F238E27FC236}">
                <a16:creationId xmlns:a16="http://schemas.microsoft.com/office/drawing/2014/main" id="{CB70C099-E1CF-467B-80FE-DF6BA9D27188}"/>
              </a:ext>
            </a:extLst>
          </p:cNvPr>
          <p:cNvSpPr txBox="1"/>
          <p:nvPr userDrawn="1">
            <p:custDataLst>
              <p:tags r:id="rId6"/>
            </p:custDataLst>
          </p:nvPr>
        </p:nvSpPr>
        <p:spPr>
          <a:xfrm>
            <a:off x="3278317" y="6417021"/>
            <a:ext cx="5653077"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ctr"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Source: …</a:t>
            </a:r>
          </a:p>
        </p:txBody>
      </p:sp>
    </p:spTree>
    <p:extLst>
      <p:ext uri="{BB962C8B-B14F-4D97-AF65-F5344CB8AC3E}">
        <p14:creationId xmlns:p14="http://schemas.microsoft.com/office/powerpoint/2010/main" val="2717858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DC58314-C2CD-B536-46C4-9B698E81FD0F}"/>
              </a:ext>
            </a:extLst>
          </p:cNvPr>
          <p:cNvPicPr>
            <a:picLocks noChangeAspect="1"/>
          </p:cNvPicPr>
          <p:nvPr userDrawn="1"/>
        </p:nvPicPr>
        <p:blipFill>
          <a:blip r:embed="rId26"/>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3D8260AC-B27C-DE3D-E8FB-3000BB8698CA}"/>
              </a:ext>
            </a:extLst>
          </p:cNvPr>
          <p:cNvSpPr>
            <a:spLocks noGrp="1"/>
          </p:cNvSpPr>
          <p:nvPr>
            <p:ph type="title"/>
          </p:nvPr>
        </p:nvSpPr>
        <p:spPr>
          <a:xfrm>
            <a:off x="644771" y="365125"/>
            <a:ext cx="10709031" cy="1325563"/>
          </a:xfrm>
          <a:prstGeom prst="rect">
            <a:avLst/>
          </a:prstGeom>
        </p:spPr>
        <p:txBody>
          <a:bodyPr vert="horz" lIns="91440" tIns="45720" rIns="91440" bIns="45720" rtlCol="0" anchor="t">
            <a:normAutofit/>
          </a:bodyPr>
          <a:lstStyle/>
          <a:p>
            <a:r>
              <a:rPr lang="en-US"/>
              <a:t>CLICK TO EDIT TITLE</a:t>
            </a:r>
          </a:p>
        </p:txBody>
      </p:sp>
      <p:sp>
        <p:nvSpPr>
          <p:cNvPr id="3" name="Text Placeholder 2">
            <a:extLst>
              <a:ext uri="{FF2B5EF4-FFF2-40B4-BE49-F238E27FC236}">
                <a16:creationId xmlns:a16="http://schemas.microsoft.com/office/drawing/2014/main" id="{227D0E4D-9C81-2FCD-CDF4-6788792CAAEC}"/>
              </a:ext>
            </a:extLst>
          </p:cNvPr>
          <p:cNvSpPr>
            <a:spLocks noGrp="1"/>
          </p:cNvSpPr>
          <p:nvPr>
            <p:ph type="body" idx="1"/>
          </p:nvPr>
        </p:nvSpPr>
        <p:spPr>
          <a:xfrm>
            <a:off x="644771" y="1825625"/>
            <a:ext cx="10709031" cy="4235176"/>
          </a:xfrm>
          <a:prstGeom prst="rect">
            <a:avLst/>
          </a:prstGeom>
        </p:spPr>
        <p:txBody>
          <a:bodyPr vert="horz" lIns="91440" tIns="45720" rIns="91440" bIns="45720" rtlCol="0">
            <a:normAutofit/>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E6FF5758-A04B-569F-5DA2-3E27D28C73D9}"/>
              </a:ext>
            </a:extLst>
          </p:cNvPr>
          <p:cNvSpPr>
            <a:spLocks noGrp="1"/>
          </p:cNvSpPr>
          <p:nvPr>
            <p:ph type="sldNum" sz="quarter" idx="4"/>
          </p:nvPr>
        </p:nvSpPr>
        <p:spPr>
          <a:xfrm>
            <a:off x="9375913" y="6276840"/>
            <a:ext cx="2743200" cy="365125"/>
          </a:xfrm>
          <a:prstGeom prst="rect">
            <a:avLst/>
          </a:prstGeom>
        </p:spPr>
        <p:txBody>
          <a:bodyPr vert="horz" lIns="91440" tIns="45720" rIns="91440" bIns="45720" rtlCol="0" anchor="ctr"/>
          <a:lstStyle>
            <a:lvl1pPr algn="r">
              <a:defRPr sz="1200" b="1" i="0">
                <a:solidFill>
                  <a:schemeClr val="accent1"/>
                </a:solidFill>
                <a:latin typeface="IBM Plex Sans" panose="020B0503050203000203" pitchFamily="34" charset="0"/>
              </a:defRPr>
            </a:lvl1pPr>
          </a:lstStyle>
          <a:p>
            <a:fld id="{4267CD5E-26CF-4249-8540-BB1D07FD4227}" type="slidenum">
              <a:rPr lang="en-US" smtClean="0"/>
              <a:pPr/>
              <a:t>‹#›</a:t>
            </a:fld>
            <a:endParaRPr lang="en-US"/>
          </a:p>
        </p:txBody>
      </p:sp>
    </p:spTree>
    <p:extLst>
      <p:ext uri="{BB962C8B-B14F-4D97-AF65-F5344CB8AC3E}">
        <p14:creationId xmlns:p14="http://schemas.microsoft.com/office/powerpoint/2010/main" val="261335189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Lst>
  <p:hf hdr="0" ftr="0"/>
  <p:txStyles>
    <p:titleStyle>
      <a:lvl1pPr algn="l" defTabSz="914354" rtl="0" eaLnBrk="1" latinLnBrk="0" hangingPunct="1">
        <a:lnSpc>
          <a:spcPct val="90000"/>
        </a:lnSpc>
        <a:spcBef>
          <a:spcPct val="0"/>
        </a:spcBef>
        <a:buNone/>
        <a:defRPr sz="4000" b="1" i="0" kern="1200">
          <a:solidFill>
            <a:schemeClr val="tx1"/>
          </a:solidFill>
          <a:latin typeface="Arial Nova" panose="020B0504020202020204" pitchFamily="34" charset="0"/>
          <a:ea typeface="+mj-ea"/>
          <a:cs typeface="+mj-cs"/>
        </a:defRPr>
      </a:lvl1pPr>
    </p:titleStyle>
    <p:bodyStyle>
      <a:lvl1pPr marL="228600" indent="-228600" algn="l" defTabSz="914354" rtl="0" eaLnBrk="1" latinLnBrk="0" hangingPunct="1">
        <a:lnSpc>
          <a:spcPct val="90000"/>
        </a:lnSpc>
        <a:spcBef>
          <a:spcPts val="1000"/>
        </a:spcBef>
        <a:buClr>
          <a:schemeClr val="accent4"/>
        </a:buClr>
        <a:buFont typeface="Wingdings" pitchFamily="2" charset="2"/>
        <a:buChar char="§"/>
        <a:defRPr sz="1800" b="0" i="0" kern="1200">
          <a:solidFill>
            <a:schemeClr val="tx1"/>
          </a:solidFill>
          <a:latin typeface="Arial Nova" panose="020B0504020202020204" pitchFamily="34" charset="0"/>
          <a:ea typeface="+mn-ea"/>
          <a:cs typeface="+mn-cs"/>
        </a:defRPr>
      </a:lvl1pPr>
      <a:lvl2pPr marL="502920" indent="-228600" algn="l" defTabSz="914354" rtl="0" eaLnBrk="1" latinLnBrk="0" hangingPunct="1">
        <a:lnSpc>
          <a:spcPct val="90000"/>
        </a:lnSpc>
        <a:spcBef>
          <a:spcPts val="500"/>
        </a:spcBef>
        <a:buClr>
          <a:schemeClr val="accent4"/>
        </a:buClr>
        <a:buFont typeface="System Font Regular"/>
        <a:buChar char="-"/>
        <a:defRPr sz="1800" b="0" i="0" kern="1200">
          <a:solidFill>
            <a:schemeClr val="tx1"/>
          </a:solidFill>
          <a:latin typeface="Arial Nova" panose="020B0504020202020204" pitchFamily="34" charset="0"/>
          <a:ea typeface="+mn-ea"/>
          <a:cs typeface="+mn-cs"/>
        </a:defRPr>
      </a:lvl2pPr>
      <a:lvl3pPr marL="777240" indent="-228600" algn="l" defTabSz="914354" rtl="0" eaLnBrk="1" latinLnBrk="0" hangingPunct="1">
        <a:lnSpc>
          <a:spcPct val="90000"/>
        </a:lnSpc>
        <a:spcBef>
          <a:spcPts val="500"/>
        </a:spcBef>
        <a:buClr>
          <a:schemeClr val="accent4"/>
        </a:buClr>
        <a:buFont typeface="System Font Regular"/>
        <a:buChar char="-"/>
        <a:defRPr sz="1600" b="0" i="0" kern="1200">
          <a:solidFill>
            <a:schemeClr val="tx1"/>
          </a:solidFill>
          <a:latin typeface="Arial Nova" panose="020B0504020202020204" pitchFamily="34" charset="0"/>
          <a:ea typeface="+mn-ea"/>
          <a:cs typeface="+mn-cs"/>
        </a:defRPr>
      </a:lvl3pPr>
      <a:lvl4pPr marL="1005840" indent="-228600" algn="l" defTabSz="914354" rtl="0" eaLnBrk="1" latinLnBrk="0" hangingPunct="1">
        <a:lnSpc>
          <a:spcPct val="90000"/>
        </a:lnSpc>
        <a:spcBef>
          <a:spcPts val="500"/>
        </a:spcBef>
        <a:buClr>
          <a:schemeClr val="accent4"/>
        </a:buClr>
        <a:buFont typeface="System Font Regular"/>
        <a:buChar char="-"/>
        <a:defRPr sz="1600" b="0" i="0" kern="1200">
          <a:solidFill>
            <a:schemeClr val="tx1"/>
          </a:solidFill>
          <a:latin typeface="Arial Nova" panose="020B0504020202020204" pitchFamily="34" charset="0"/>
          <a:ea typeface="+mn-ea"/>
          <a:cs typeface="+mn-cs"/>
        </a:defRPr>
      </a:lvl4pPr>
      <a:lvl5pPr marL="1280160" indent="-228600" algn="l" defTabSz="914354" rtl="0" eaLnBrk="1" latinLnBrk="0" hangingPunct="1">
        <a:lnSpc>
          <a:spcPct val="90000"/>
        </a:lnSpc>
        <a:spcBef>
          <a:spcPts val="500"/>
        </a:spcBef>
        <a:buClr>
          <a:schemeClr val="accent4"/>
        </a:buClr>
        <a:buFont typeface="System Font Regular"/>
        <a:buChar char="-"/>
        <a:defRPr sz="1400" b="0" i="0" kern="1200">
          <a:solidFill>
            <a:schemeClr val="tx1"/>
          </a:solidFill>
          <a:latin typeface="Arial Nova" panose="020B0504020202020204" pitchFamily="34" charset="0"/>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14.xml"/><Relationship Id="rId13" Type="http://schemas.openxmlformats.org/officeDocument/2006/relationships/image" Target="../media/image12.svg"/><Relationship Id="rId3" Type="http://schemas.openxmlformats.org/officeDocument/2006/relationships/tags" Target="../tags/tag9.xml"/><Relationship Id="rId7" Type="http://schemas.openxmlformats.org/officeDocument/2006/relationships/tags" Target="../tags/tag13.xml"/><Relationship Id="rId12" Type="http://schemas.openxmlformats.org/officeDocument/2006/relationships/image" Target="../media/image11.emf"/><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oleObject" Target="../embeddings/oleObject2.bin"/><Relationship Id="rId5" Type="http://schemas.openxmlformats.org/officeDocument/2006/relationships/tags" Target="../tags/tag11.xml"/><Relationship Id="rId10" Type="http://schemas.openxmlformats.org/officeDocument/2006/relationships/notesSlide" Target="../notesSlides/notesSlide2.xml"/><Relationship Id="rId4" Type="http://schemas.openxmlformats.org/officeDocument/2006/relationships/tags" Target="../tags/tag10.xml"/><Relationship Id="rId9" Type="http://schemas.openxmlformats.org/officeDocument/2006/relationships/slideLayout" Target="../slideLayouts/slideLayout24.xml"/><Relationship Id="rId14" Type="http://schemas.openxmlformats.org/officeDocument/2006/relationships/image" Target="../media/image13.svg"/></Relationships>
</file>

<file path=ppt/slides/_rels/slide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jpeg"/><Relationship Id="rId2" Type="http://schemas.openxmlformats.org/officeDocument/2006/relationships/notesSlide" Target="../notesSlides/notesSlide3.xml"/><Relationship Id="rId1" Type="http://schemas.openxmlformats.org/officeDocument/2006/relationships/slideLayout" Target="../slideLayouts/slideLayout2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FAA2-C07A-0943-A630-F1492ED71448}"/>
              </a:ext>
            </a:extLst>
          </p:cNvPr>
          <p:cNvSpPr>
            <a:spLocks noGrp="1"/>
          </p:cNvSpPr>
          <p:nvPr>
            <p:ph type="ctrTitle"/>
          </p:nvPr>
        </p:nvSpPr>
        <p:spPr>
          <a:xfrm>
            <a:off x="4029739" y="2037089"/>
            <a:ext cx="7692261" cy="2061531"/>
          </a:xfrm>
        </p:spPr>
        <p:txBody>
          <a:bodyPr>
            <a:normAutofit/>
          </a:bodyPr>
          <a:lstStyle/>
          <a:p>
            <a:pPr algn="r"/>
            <a:r>
              <a:rPr sz="4600" b="1" dirty="0">
                <a:solidFill>
                  <a:srgbClr val="FFFFFF"/>
                </a:solidFill>
                <a:latin typeface="Calibri"/>
              </a:rPr>
              <a:t>Healthcare Analytics</a:t>
            </a:r>
            <a:endParaRPr lang="en-US" sz="8000" dirty="0">
              <a:latin typeface="Arial Nova" panose="020B0504020202020204" pitchFamily="34" charset="0"/>
            </a:endParaRPr>
          </a:p>
          <a:p>
            <a:pPr algn="r"/>
            <a:r>
              <a:rPr sz="2200" b="0" dirty="0">
                <a:solidFill>
                  <a:srgbClr val="FFFFFF"/>
                </a:solidFill>
                <a:latin typeface="Calibri"/>
              </a:rPr>
              <a:t>Why the J2250 Cannibalization Play Failed</a:t>
            </a:r>
          </a:p>
          <a:p>
            <a:pPr algn="r"/>
            <a:r>
              <a:rPr sz="2200" b="0" dirty="0">
                <a:solidFill>
                  <a:srgbClr val="FFFFFF"/>
                </a:solidFill>
                <a:latin typeface="Calibri"/>
              </a:rPr>
              <a:t>and How to Recover</a:t>
            </a:r>
          </a:p>
        </p:txBody>
      </p:sp>
      <p:sp>
        <p:nvSpPr>
          <p:cNvPr id="3" name="Subtitle 2">
            <a:extLst>
              <a:ext uri="{FF2B5EF4-FFF2-40B4-BE49-F238E27FC236}">
                <a16:creationId xmlns:a16="http://schemas.microsoft.com/office/drawing/2014/main" id="{EFF6D773-353D-94C4-5ED1-E219014D0C3A}"/>
              </a:ext>
            </a:extLst>
          </p:cNvPr>
          <p:cNvSpPr>
            <a:spLocks noGrp="1"/>
          </p:cNvSpPr>
          <p:nvPr>
            <p:ph type="subTitle" idx="1"/>
          </p:nvPr>
        </p:nvSpPr>
        <p:spPr>
          <a:xfrm>
            <a:off x="4488873" y="4328061"/>
            <a:ext cx="7041742" cy="934635"/>
          </a:xfrm>
        </p:spPr>
        <p:txBody>
          <a:bodyPr vert="horz" lIns="91440" tIns="45720" rIns="91440" bIns="45720" rtlCol="0" anchor="t">
            <a:noAutofit/>
          </a:bodyPr>
          <a:lstStyle/>
          <a:p>
            <a:r>
              <a:rPr lang="en-US" sz="1500" dirty="0"/>
              <a:t>BIA 810</a:t>
            </a:r>
          </a:p>
          <a:p>
            <a:r>
              <a:rPr lang="en-US" sz="1500" dirty="0">
                <a:latin typeface="Arial Nova"/>
              </a:rPr>
              <a:t>Health Care Data &amp; Analytics</a:t>
            </a:r>
          </a:p>
          <a:p>
            <a:r>
              <a:rPr lang="en-US" sz="1500" dirty="0">
                <a:latin typeface="Arial Nova"/>
              </a:rPr>
              <a:t>Final Project</a:t>
            </a:r>
          </a:p>
          <a:p>
            <a:r>
              <a:rPr lang="en-US" sz="1500" dirty="0">
                <a:latin typeface="Arial Nova"/>
              </a:rPr>
              <a:t>J-FIVE</a:t>
            </a:r>
            <a:endParaRPr lang="en-US" sz="1500" dirty="0"/>
          </a:p>
        </p:txBody>
      </p:sp>
      <p:sp>
        <p:nvSpPr>
          <p:cNvPr id="5" name="Text Placeholder 4">
            <a:extLst>
              <a:ext uri="{FF2B5EF4-FFF2-40B4-BE49-F238E27FC236}">
                <a16:creationId xmlns:a16="http://schemas.microsoft.com/office/drawing/2014/main" id="{76DF9A7D-5140-FE6A-1B0F-C8FCC110B54B}"/>
              </a:ext>
            </a:extLst>
          </p:cNvPr>
          <p:cNvSpPr>
            <a:spLocks noGrp="1"/>
          </p:cNvSpPr>
          <p:nvPr>
            <p:ph type="body" sz="quarter" idx="11"/>
          </p:nvPr>
        </p:nvSpPr>
        <p:spPr/>
        <p:txBody>
          <a:bodyPr/>
          <a:lstStyle/>
          <a:p>
            <a:r>
              <a:rPr lang="en-US" dirty="0"/>
              <a:t>Team Healthcare Commercial Analytics</a:t>
            </a:r>
          </a:p>
        </p:txBody>
      </p:sp>
      <p:sp>
        <p:nvSpPr>
          <p:cNvPr id="4" name="Date Placeholder 3">
            <a:extLst>
              <a:ext uri="{FF2B5EF4-FFF2-40B4-BE49-F238E27FC236}">
                <a16:creationId xmlns:a16="http://schemas.microsoft.com/office/drawing/2014/main" id="{D20968D9-35B6-3681-6045-6E282ACC0210}"/>
              </a:ext>
            </a:extLst>
          </p:cNvPr>
          <p:cNvSpPr>
            <a:spLocks noGrp="1"/>
          </p:cNvSpPr>
          <p:nvPr>
            <p:ph type="dt" sz="half" idx="10"/>
          </p:nvPr>
        </p:nvSpPr>
        <p:spPr>
          <a:xfrm>
            <a:off x="8279296" y="6342033"/>
            <a:ext cx="3251319" cy="276999"/>
          </a:xfrm>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r>
              <a:rPr lang="en-US" sz="1200" dirty="0">
                <a:solidFill>
                  <a:srgbClr val="FFFFFF"/>
                </a:solidFill>
              </a:rPr>
              <a:t>Spring 2026</a:t>
            </a:r>
            <a:endParaRPr kumimoji="0" lang="en-US" sz="1200" b="1" i="0" u="none" strike="noStrike" kern="1200" cap="none" spc="0" normalizeH="0" baseline="0" noProof="0" dirty="0">
              <a:ln>
                <a:noFill/>
              </a:ln>
              <a:solidFill>
                <a:srgbClr val="FFFFFF"/>
              </a:solidFill>
              <a:effectLst/>
              <a:uLnTx/>
              <a:uFillTx/>
              <a:latin typeface="Arial Nova" panose="020B0504020202020204" pitchFamily="34" charset="0"/>
              <a:ea typeface="+mn-ea"/>
              <a:cs typeface="+mn-cs"/>
            </a:endParaRPr>
          </a:p>
        </p:txBody>
      </p:sp>
    </p:spTree>
    <p:extLst>
      <p:ext uri="{BB962C8B-B14F-4D97-AF65-F5344CB8AC3E}">
        <p14:creationId xmlns:p14="http://schemas.microsoft.com/office/powerpoint/2010/main" val="4219607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17A3EB76-9130-4670-801A-0E377B2C57A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395" imgH="396" progId="TCLayout.ActiveDocument.1">
                  <p:embed/>
                </p:oleObj>
              </mc:Choice>
              <mc:Fallback>
                <p:oleObj name="think-cell Slide" r:id="rId11" imgW="395" imgH="396" progId="TCLayout.ActiveDocument.1">
                  <p:embed/>
                  <p:pic>
                    <p:nvPicPr>
                      <p:cNvPr id="5" name="Object 6" hidden="1">
                        <a:extLst>
                          <a:ext uri="{FF2B5EF4-FFF2-40B4-BE49-F238E27FC236}">
                            <a16:creationId xmlns:a16="http://schemas.microsoft.com/office/drawing/2014/main" id="{17A3EB76-9130-4670-801A-0E377B2C57A4}"/>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82" name="Rectangle 81">
            <a:extLst>
              <a:ext uri="{FF2B5EF4-FFF2-40B4-BE49-F238E27FC236}">
                <a16:creationId xmlns:a16="http://schemas.microsoft.com/office/drawing/2014/main" id="{D0F1D5FE-8948-4389-82EA-BAFCA57EB4CD}"/>
              </a:ext>
            </a:extLst>
          </p:cNvPr>
          <p:cNvSpPr>
            <a:spLocks/>
          </p:cNvSpPr>
          <p:nvPr/>
        </p:nvSpPr>
        <p:spPr>
          <a:xfrm>
            <a:off x="554736" y="2991600"/>
            <a:ext cx="11193353" cy="608012"/>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a:ea typeface="+mn-ea"/>
              <a:cs typeface="+mn-cs"/>
            </a:endParaRPr>
          </a:p>
        </p:txBody>
      </p:sp>
      <p:sp>
        <p:nvSpPr>
          <p:cNvPr id="2" name="2. Slide Title">
            <a:extLst>
              <a:ext uri="{FF2B5EF4-FFF2-40B4-BE49-F238E27FC236}">
                <a16:creationId xmlns:a16="http://schemas.microsoft.com/office/drawing/2014/main" id="{9061057D-7294-4021-9331-3F7505C18C29}"/>
              </a:ext>
            </a:extLst>
          </p:cNvPr>
          <p:cNvSpPr>
            <a:spLocks noGrp="1"/>
          </p:cNvSpPr>
          <p:nvPr>
            <p:ph type="title"/>
            <p:custDataLst>
              <p:tags r:id="rId2"/>
            </p:custDataLst>
          </p:nvPr>
        </p:nvSpPr>
        <p:spPr>
          <a:xfrm>
            <a:off x="554736" y="829238"/>
            <a:ext cx="11082528" cy="384721"/>
          </a:xfrm>
          <a:noFill/>
          <a:ln/>
          <a:extLst>
            <a:ext uri="{909E8E84-426E-40DD-AFC4-6F175D3DCCD1}">
              <a14:hiddenFill xmlns:a14="http://schemas.microsoft.com/office/drawing/2010/main">
                <a:solidFill>
                  <a:srgbClr val="FFFFFF"/>
                </a:solidFill>
              </a14:hiddenFill>
            </a:ext>
          </a:extLst>
        </p:spPr>
        <p:txBody>
          <a:bodyPr vert="horz" wrap="square" anchor="t" anchorCtr="0">
            <a:noAutofit/>
          </a:bodyPr>
          <a:lstStyle/>
          <a:p>
            <a:r>
              <a:rPr lang="en-US"/>
              <a:t>Today's Agenda</a:t>
            </a:r>
          </a:p>
        </p:txBody>
      </p:sp>
      <p:cxnSp>
        <p:nvCxnSpPr>
          <p:cNvPr id="39" name="Straight Connector 38">
            <a:extLst>
              <a:ext uri="{FF2B5EF4-FFF2-40B4-BE49-F238E27FC236}">
                <a16:creationId xmlns:a16="http://schemas.microsoft.com/office/drawing/2014/main" id="{07BD0E45-7F50-4A2E-8581-0E65E8C8F5C1}"/>
              </a:ext>
            </a:extLst>
          </p:cNvPr>
          <p:cNvCxnSpPr>
            <a:cxnSpLocks/>
          </p:cNvCxnSpPr>
          <p:nvPr>
            <p:custDataLst>
              <p:tags r:id="rId3"/>
            </p:custDataLst>
          </p:nvPr>
        </p:nvCxnSpPr>
        <p:spPr>
          <a:xfrm>
            <a:off x="602528" y="3001097"/>
            <a:ext cx="11082528" cy="1588"/>
          </a:xfrm>
          <a:prstGeom prst="line">
            <a:avLst/>
          </a:prstGeom>
          <a:ln w="12700" cap="sq">
            <a:solidFill>
              <a:schemeClr val="bg2">
                <a:lumMod val="90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B5F9DA2-470D-47AA-901A-7D0F6F01736A}"/>
              </a:ext>
            </a:extLst>
          </p:cNvPr>
          <p:cNvCxnSpPr>
            <a:cxnSpLocks/>
          </p:cNvCxnSpPr>
          <p:nvPr>
            <p:custDataLst>
              <p:tags r:id="rId4"/>
            </p:custDataLst>
          </p:nvPr>
        </p:nvCxnSpPr>
        <p:spPr>
          <a:xfrm>
            <a:off x="602528" y="3612212"/>
            <a:ext cx="11082528" cy="1588"/>
          </a:xfrm>
          <a:prstGeom prst="line">
            <a:avLst/>
          </a:prstGeom>
          <a:ln w="6350" cap="sq">
            <a:solidFill>
              <a:schemeClr val="bg2">
                <a:lumMod val="9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5094913-5806-4622-AD7C-2D6F9E799F5A}"/>
              </a:ext>
            </a:extLst>
          </p:cNvPr>
          <p:cNvSpPr txBox="1">
            <a:spLocks/>
          </p:cNvSpPr>
          <p:nvPr/>
        </p:nvSpPr>
        <p:spPr>
          <a:xfrm>
            <a:off x="585764" y="3168949"/>
            <a:ext cx="1312165" cy="276999"/>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SzPct val="110000"/>
              <a:buFont typeface="Arial" panose="020B0604020202020204" pitchFamily="34" charset="0"/>
              <a:buChar char="‒"/>
              <a:defRPr lang="en-US" sz="1600" dirty="0"/>
            </a:lvl3pPr>
            <a:lvl4pPr marL="598488" lvl="3" indent="-152400">
              <a:lnSpc>
                <a:spcPct val="100000"/>
              </a:lnSpc>
              <a:spcBef>
                <a:spcPts val="0"/>
              </a:spcBef>
              <a:spcAft>
                <a:spcPts val="300"/>
              </a:spcAft>
              <a:buSzPct val="100000"/>
              <a:buFont typeface="Arial" panose="020B0604020202020204" pitchFamily="34" charset="0"/>
              <a:buChar char="•"/>
              <a:defRPr lang="en-US" sz="1600" dirty="0"/>
            </a:lvl4pPr>
            <a:lvl5pPr marL="817563" lvl="4" indent="-147638">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800" b="1" i="0" u="none" strike="noStrike" kern="1200" cap="none" spc="0" normalizeH="0" baseline="0" noProof="0">
                <a:ln>
                  <a:noFill/>
                </a:ln>
                <a:solidFill>
                  <a:srgbClr val="09357A"/>
                </a:solidFill>
                <a:effectLst/>
                <a:uLnTx/>
                <a:uFillTx/>
                <a:latin typeface="Calibri"/>
                <a:ea typeface="+mn-ea"/>
                <a:cs typeface="Arial" panose="020B0604020202020204" pitchFamily="34" charset="0"/>
              </a:rPr>
              <a:t>[Min 0 to 5]</a:t>
            </a:r>
          </a:p>
        </p:txBody>
      </p:sp>
      <p:sp>
        <p:nvSpPr>
          <p:cNvPr id="35" name="TextBox 34">
            <a:extLst>
              <a:ext uri="{FF2B5EF4-FFF2-40B4-BE49-F238E27FC236}">
                <a16:creationId xmlns:a16="http://schemas.microsoft.com/office/drawing/2014/main" id="{7398ED37-36E6-4885-866F-B5591970B51C}"/>
              </a:ext>
            </a:extLst>
          </p:cNvPr>
          <p:cNvSpPr txBox="1">
            <a:spLocks/>
          </p:cNvSpPr>
          <p:nvPr/>
        </p:nvSpPr>
        <p:spPr>
          <a:xfrm>
            <a:off x="554736" y="2558750"/>
            <a:ext cx="1312165" cy="307777"/>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SzPct val="110000"/>
              <a:buFont typeface="Arial" panose="020B0604020202020204" pitchFamily="34" charset="0"/>
              <a:buChar char="‒"/>
              <a:defRPr lang="en-US" sz="1600" dirty="0"/>
            </a:lvl3pPr>
            <a:lvl4pPr marL="598488" lvl="3" indent="-152400">
              <a:lnSpc>
                <a:spcPct val="100000"/>
              </a:lnSpc>
              <a:spcBef>
                <a:spcPts val="0"/>
              </a:spcBef>
              <a:spcAft>
                <a:spcPts val="300"/>
              </a:spcAft>
              <a:buSzPct val="100000"/>
              <a:buFont typeface="Arial" panose="020B0604020202020204" pitchFamily="34" charset="0"/>
              <a:buChar char="•"/>
              <a:defRPr lang="en-US" sz="1600" dirty="0"/>
            </a:lvl4pPr>
            <a:lvl5pPr marL="817563" lvl="4" indent="-147638">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2000" b="1" i="0" u="none" strike="noStrike" kern="1200" cap="none" spc="0" normalizeH="0" baseline="0" noProof="0">
                <a:ln>
                  <a:noFill/>
                </a:ln>
                <a:solidFill>
                  <a:srgbClr val="09357A"/>
                </a:solidFill>
                <a:effectLst/>
                <a:uLnTx/>
                <a:uFillTx/>
                <a:latin typeface="Calibri"/>
                <a:ea typeface="+mn-ea"/>
                <a:cs typeface="Arial" panose="020B0604020202020204" pitchFamily="34" charset="0"/>
              </a:rPr>
              <a:t>Time</a:t>
            </a:r>
          </a:p>
        </p:txBody>
      </p:sp>
      <p:sp>
        <p:nvSpPr>
          <p:cNvPr id="37" name="TextBox 36">
            <a:extLst>
              <a:ext uri="{FF2B5EF4-FFF2-40B4-BE49-F238E27FC236}">
                <a16:creationId xmlns:a16="http://schemas.microsoft.com/office/drawing/2014/main" id="{0FA77D28-8B26-4BED-AABD-D3D6C562BEAD}"/>
              </a:ext>
            </a:extLst>
          </p:cNvPr>
          <p:cNvSpPr txBox="1">
            <a:spLocks/>
          </p:cNvSpPr>
          <p:nvPr/>
        </p:nvSpPr>
        <p:spPr>
          <a:xfrm>
            <a:off x="585763" y="3780064"/>
            <a:ext cx="1312165" cy="276999"/>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SzPct val="110000"/>
              <a:buFont typeface="Arial" panose="020B0604020202020204" pitchFamily="34" charset="0"/>
              <a:buChar char="‒"/>
              <a:defRPr lang="en-US" sz="1600" dirty="0"/>
            </a:lvl3pPr>
            <a:lvl4pPr marL="598488" lvl="3" indent="-152400">
              <a:lnSpc>
                <a:spcPct val="100000"/>
              </a:lnSpc>
              <a:spcBef>
                <a:spcPts val="0"/>
              </a:spcBef>
              <a:spcAft>
                <a:spcPts val="300"/>
              </a:spcAft>
              <a:buSzPct val="100000"/>
              <a:buFont typeface="Arial" panose="020B0604020202020204" pitchFamily="34" charset="0"/>
              <a:buChar char="•"/>
              <a:defRPr lang="en-US" sz="1600" dirty="0"/>
            </a:lvl4pPr>
            <a:lvl5pPr marL="817563" lvl="4" indent="-147638">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800" b="1" i="0" u="none" strike="noStrike" kern="1200" cap="none" spc="0" normalizeH="0" baseline="0" noProof="0">
                <a:ln>
                  <a:noFill/>
                </a:ln>
                <a:solidFill>
                  <a:srgbClr val="09357A"/>
                </a:solidFill>
                <a:effectLst/>
                <a:uLnTx/>
                <a:uFillTx/>
                <a:latin typeface="Calibri"/>
                <a:ea typeface="+mn-ea"/>
                <a:cs typeface="Arial"/>
              </a:rPr>
              <a:t>[Min 5 to 10]</a:t>
            </a:r>
            <a:endParaRPr kumimoji="0" lang="en-US" sz="1800" b="1" i="0" u="none" strike="noStrike" kern="1200" cap="none" spc="0" normalizeH="0" baseline="0" noProof="0">
              <a:ln>
                <a:noFill/>
              </a:ln>
              <a:solidFill>
                <a:srgbClr val="09357A"/>
              </a:solidFill>
              <a:effectLst/>
              <a:uLnTx/>
              <a:uFillTx/>
              <a:latin typeface="Calibri"/>
              <a:ea typeface="+mn-ea"/>
              <a:cs typeface="Arial" panose="020B0604020202020204" pitchFamily="34" charset="0"/>
            </a:endParaRPr>
          </a:p>
        </p:txBody>
      </p:sp>
      <p:pic>
        <p:nvPicPr>
          <p:cNvPr id="76" name="CustomIcon">
            <a:extLst>
              <a:ext uri="{FF2B5EF4-FFF2-40B4-BE49-F238E27FC236}">
                <a16:creationId xmlns:a16="http://schemas.microsoft.com/office/drawing/2014/main" id="{12214520-FF19-46DC-989F-82E24AFBCAAB}"/>
              </a:ext>
            </a:extLst>
          </p:cNvPr>
          <p:cNvPicPr>
            <a:picLocks noChangeAspect="1"/>
          </p:cNvPicPr>
          <p:nvPr>
            <p:custDataLst>
              <p:tags r:id="rId5"/>
            </p:custDataLst>
          </p:nvPr>
        </p:nvPicPr>
        <p:blipFill>
          <a:blip>
            <a:extLst>
              <a:ext uri="{96DAC541-7B7A-43D3-8B79-37D633B846F1}">
                <asvg:svgBlip xmlns:asvg="http://schemas.microsoft.com/office/drawing/2016/SVG/main" r:embed="rId13"/>
              </a:ext>
            </a:extLst>
          </a:blip>
          <a:stretch>
            <a:fillRect/>
          </a:stretch>
        </p:blipFill>
        <p:spPr>
          <a:xfrm>
            <a:off x="554737" y="1820761"/>
            <a:ext cx="609600" cy="609600"/>
          </a:xfrm>
          <a:prstGeom prst="rect">
            <a:avLst/>
          </a:prstGeom>
        </p:spPr>
      </p:pic>
      <p:sp>
        <p:nvSpPr>
          <p:cNvPr id="8" name="TextBox 7">
            <a:extLst>
              <a:ext uri="{FF2B5EF4-FFF2-40B4-BE49-F238E27FC236}">
                <a16:creationId xmlns:a16="http://schemas.microsoft.com/office/drawing/2014/main" id="{DA58669F-2C9A-4D16-B351-261582C7325B}"/>
              </a:ext>
            </a:extLst>
          </p:cNvPr>
          <p:cNvSpPr txBox="1">
            <a:spLocks/>
          </p:cNvSpPr>
          <p:nvPr/>
        </p:nvSpPr>
        <p:spPr>
          <a:xfrm>
            <a:off x="2455356" y="2546541"/>
            <a:ext cx="6462141" cy="307777"/>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SzPct val="110000"/>
              <a:buFont typeface="Arial" panose="020B0604020202020204" pitchFamily="34" charset="0"/>
              <a:buChar char="‒"/>
              <a:defRPr lang="en-US" sz="1600" dirty="0"/>
            </a:lvl3pPr>
            <a:lvl4pPr marL="598488" lvl="3" indent="-152400">
              <a:lnSpc>
                <a:spcPct val="100000"/>
              </a:lnSpc>
              <a:spcBef>
                <a:spcPts val="0"/>
              </a:spcBef>
              <a:spcAft>
                <a:spcPts val="300"/>
              </a:spcAft>
              <a:buSzPct val="100000"/>
              <a:buFont typeface="Arial" panose="020B0604020202020204" pitchFamily="34" charset="0"/>
              <a:buChar char="•"/>
              <a:defRPr lang="en-US" sz="1600" dirty="0"/>
            </a:lvl4pPr>
            <a:lvl5pPr marL="817563" lvl="4" indent="-147638">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2000" b="1" i="0" u="none" strike="noStrike" kern="1200" cap="none" spc="0" normalizeH="0" baseline="0" noProof="0">
                <a:ln>
                  <a:noFill/>
                </a:ln>
                <a:solidFill>
                  <a:srgbClr val="09357A"/>
                </a:solidFill>
                <a:effectLst/>
                <a:uLnTx/>
                <a:uFillTx/>
                <a:latin typeface="Calibri"/>
                <a:ea typeface="+mn-ea"/>
                <a:cs typeface="Arial" panose="020B0604020202020204" pitchFamily="34" charset="0"/>
              </a:rPr>
              <a:t>Topic</a:t>
            </a:r>
          </a:p>
        </p:txBody>
      </p:sp>
      <p:sp>
        <p:nvSpPr>
          <p:cNvPr id="3" name="TextBox 2">
            <a:extLst>
              <a:ext uri="{FF2B5EF4-FFF2-40B4-BE49-F238E27FC236}">
                <a16:creationId xmlns:a16="http://schemas.microsoft.com/office/drawing/2014/main" id="{4DB8B234-E2FF-4F63-BF1B-97F8D3ADF5BC}"/>
              </a:ext>
            </a:extLst>
          </p:cNvPr>
          <p:cNvSpPr txBox="1">
            <a:spLocks/>
          </p:cNvSpPr>
          <p:nvPr/>
        </p:nvSpPr>
        <p:spPr>
          <a:xfrm>
            <a:off x="2486383" y="3168949"/>
            <a:ext cx="6462141" cy="276999"/>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SzPct val="110000"/>
              <a:buFont typeface="Arial" panose="020B0604020202020204" pitchFamily="34" charset="0"/>
              <a:buChar char="‒"/>
              <a:defRPr lang="en-US" sz="1600" dirty="0"/>
            </a:lvl3pPr>
            <a:lvl4pPr marL="598488" lvl="3" indent="-152400">
              <a:lnSpc>
                <a:spcPct val="100000"/>
              </a:lnSpc>
              <a:spcBef>
                <a:spcPts val="0"/>
              </a:spcBef>
              <a:spcAft>
                <a:spcPts val="300"/>
              </a:spcAft>
              <a:buSzPct val="100000"/>
              <a:buFont typeface="Arial" panose="020B0604020202020204" pitchFamily="34" charset="0"/>
              <a:buChar char="•"/>
              <a:defRPr lang="en-US" sz="1600" dirty="0"/>
            </a:lvl4pPr>
            <a:lvl5pPr marL="817563" lvl="4" indent="-147638">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800" b="1" i="0" u="none" strike="noStrike" kern="1200" cap="none" spc="0" normalizeH="0" baseline="0" noProof="0">
                <a:ln>
                  <a:noFill/>
                </a:ln>
                <a:solidFill>
                  <a:srgbClr val="09357A"/>
                </a:solidFill>
                <a:effectLst/>
                <a:uLnTx/>
                <a:uFillTx/>
                <a:latin typeface="Calibri"/>
                <a:ea typeface="+mn-ea"/>
                <a:cs typeface="Arial" panose="020B0604020202020204" pitchFamily="34" charset="0"/>
              </a:rPr>
              <a:t>Context, Stakes, and the Strategic Reframe</a:t>
            </a:r>
          </a:p>
        </p:txBody>
      </p:sp>
      <p:sp>
        <p:nvSpPr>
          <p:cNvPr id="10" name="TextBox 9">
            <a:extLst>
              <a:ext uri="{FF2B5EF4-FFF2-40B4-BE49-F238E27FC236}">
                <a16:creationId xmlns:a16="http://schemas.microsoft.com/office/drawing/2014/main" id="{9EEAC1D8-C359-4ECA-949C-5AC880D6CE4D}"/>
              </a:ext>
            </a:extLst>
          </p:cNvPr>
          <p:cNvSpPr txBox="1">
            <a:spLocks/>
          </p:cNvSpPr>
          <p:nvPr/>
        </p:nvSpPr>
        <p:spPr>
          <a:xfrm>
            <a:off x="2486383" y="3780064"/>
            <a:ext cx="6462141" cy="276999"/>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SzPct val="110000"/>
              <a:buFont typeface="Arial" panose="020B0604020202020204" pitchFamily="34" charset="0"/>
              <a:buChar char="‒"/>
              <a:defRPr lang="en-US" sz="1600" dirty="0"/>
            </a:lvl3pPr>
            <a:lvl4pPr marL="598488" lvl="3" indent="-152400">
              <a:lnSpc>
                <a:spcPct val="100000"/>
              </a:lnSpc>
              <a:spcBef>
                <a:spcPts val="0"/>
              </a:spcBef>
              <a:spcAft>
                <a:spcPts val="300"/>
              </a:spcAft>
              <a:buSzPct val="100000"/>
              <a:buFont typeface="Arial" panose="020B0604020202020204" pitchFamily="34" charset="0"/>
              <a:buChar char="•"/>
              <a:defRPr lang="en-US" sz="1600" dirty="0"/>
            </a:lvl4pPr>
            <a:lvl5pPr marL="817563" lvl="4" indent="-147638">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Segoe UI" panose="020B0502040204020203" pitchFamily="34" charset="0"/>
              <a:buChar char="​"/>
              <a:tabLst/>
              <a:defRPr/>
            </a:pPr>
            <a:r>
              <a:rPr kumimoji="0" lang="en-US" sz="1800" b="1" i="0" u="none" strike="noStrike" kern="1200" cap="none" spc="0" normalizeH="0" baseline="0" noProof="0">
                <a:ln>
                  <a:noFill/>
                </a:ln>
                <a:solidFill>
                  <a:srgbClr val="09357A"/>
                </a:solidFill>
                <a:effectLst/>
                <a:uLnTx/>
                <a:uFillTx/>
                <a:latin typeface="Calibri"/>
                <a:ea typeface="+mn-ea"/>
                <a:cs typeface="Arial" panose="020B0604020202020204" pitchFamily="34" charset="0"/>
              </a:rPr>
              <a:t>Methodology and Q1 Market Dynamics</a:t>
            </a:r>
            <a:endParaRPr kumimoji="0" lang="en-US" sz="1600" b="0" i="0" u="none" strike="noStrike" kern="1200" cap="none" spc="0" normalizeH="0" baseline="0" noProof="0">
              <a:ln>
                <a:noFill/>
              </a:ln>
              <a:solidFill>
                <a:srgbClr val="000000"/>
              </a:solidFill>
              <a:effectLst/>
              <a:uLnTx/>
              <a:uFillTx/>
              <a:latin typeface="Calibri"/>
              <a:ea typeface="+mn-ea"/>
              <a:cs typeface="Arial" panose="020B0604020202020204" pitchFamily="34" charset="0"/>
            </a:endParaRPr>
          </a:p>
        </p:txBody>
      </p:sp>
      <p:pic>
        <p:nvPicPr>
          <p:cNvPr id="79" name="CustomIcon">
            <a:extLst>
              <a:ext uri="{FF2B5EF4-FFF2-40B4-BE49-F238E27FC236}">
                <a16:creationId xmlns:a16="http://schemas.microsoft.com/office/drawing/2014/main" id="{56C20701-8723-4654-AED2-6D5BAE1978C3}"/>
              </a:ext>
            </a:extLst>
          </p:cNvPr>
          <p:cNvPicPr>
            <a:picLocks noChangeAspect="1"/>
          </p:cNvPicPr>
          <p:nvPr>
            <p:custDataLst>
              <p:tags r:id="rId6"/>
            </p:custDataLst>
          </p:nvPr>
        </p:nvPicPr>
        <p:blipFill>
          <a:blip>
            <a:extLst>
              <a:ext uri="{96DAC541-7B7A-43D3-8B79-37D633B846F1}">
                <asvg:svgBlip xmlns:asvg="http://schemas.microsoft.com/office/drawing/2016/SVG/main" r:embed="rId14"/>
              </a:ext>
            </a:extLst>
          </a:blip>
          <a:stretch>
            <a:fillRect/>
          </a:stretch>
        </p:blipFill>
        <p:spPr>
          <a:xfrm>
            <a:off x="2455356" y="1820761"/>
            <a:ext cx="609600" cy="609600"/>
          </a:xfrm>
          <a:prstGeom prst="rect">
            <a:avLst/>
          </a:prstGeom>
        </p:spPr>
      </p:pic>
      <p:cxnSp>
        <p:nvCxnSpPr>
          <p:cNvPr id="32" name="Straight Connector 31">
            <a:extLst>
              <a:ext uri="{FF2B5EF4-FFF2-40B4-BE49-F238E27FC236}">
                <a16:creationId xmlns:a16="http://schemas.microsoft.com/office/drawing/2014/main" id="{02122A50-2B89-4E59-B6D4-EB69F1F90037}"/>
              </a:ext>
            </a:extLst>
          </p:cNvPr>
          <p:cNvCxnSpPr>
            <a:cxnSpLocks/>
          </p:cNvCxnSpPr>
          <p:nvPr>
            <p:custDataLst>
              <p:tags r:id="rId7"/>
            </p:custDataLst>
          </p:nvPr>
        </p:nvCxnSpPr>
        <p:spPr>
          <a:xfrm>
            <a:off x="602528" y="4220602"/>
            <a:ext cx="11082528" cy="1588"/>
          </a:xfrm>
          <a:prstGeom prst="line">
            <a:avLst/>
          </a:prstGeom>
          <a:ln w="6350" cap="sq">
            <a:solidFill>
              <a:schemeClr val="bg2">
                <a:lumMod val="9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2828661C-20F9-4F5D-8687-7905C89E0BFE}"/>
              </a:ext>
            </a:extLst>
          </p:cNvPr>
          <p:cNvSpPr txBox="1">
            <a:spLocks/>
          </p:cNvSpPr>
          <p:nvPr/>
        </p:nvSpPr>
        <p:spPr>
          <a:xfrm>
            <a:off x="571572" y="4348211"/>
            <a:ext cx="1438924" cy="276999"/>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SzPct val="110000"/>
              <a:buFont typeface="Arial" panose="020B0604020202020204" pitchFamily="34" charset="0"/>
              <a:buChar char="‒"/>
              <a:defRPr lang="en-US" sz="1600" dirty="0"/>
            </a:lvl3pPr>
            <a:lvl4pPr marL="598488" lvl="3" indent="-152400">
              <a:lnSpc>
                <a:spcPct val="100000"/>
              </a:lnSpc>
              <a:spcBef>
                <a:spcPts val="0"/>
              </a:spcBef>
              <a:spcAft>
                <a:spcPts val="300"/>
              </a:spcAft>
              <a:buSzPct val="100000"/>
              <a:buFont typeface="Arial" panose="020B0604020202020204" pitchFamily="34" charset="0"/>
              <a:buChar char="•"/>
              <a:defRPr lang="en-US" sz="1600" dirty="0"/>
            </a:lvl4pPr>
            <a:lvl5pPr marL="817563" lvl="4" indent="-147638">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800" b="1" i="0" u="none" strike="noStrike" kern="1200" cap="none" spc="0" normalizeH="0" baseline="0" noProof="0" dirty="0">
                <a:ln>
                  <a:noFill/>
                </a:ln>
                <a:solidFill>
                  <a:srgbClr val="09357A"/>
                </a:solidFill>
                <a:effectLst/>
                <a:uLnTx/>
                <a:uFillTx/>
                <a:latin typeface="Calibri"/>
                <a:ea typeface="+mn-ea"/>
                <a:cs typeface="Arial"/>
              </a:rPr>
              <a:t>[Min 10 to 18]</a:t>
            </a:r>
            <a:endParaRPr kumimoji="0" lang="en-US" sz="1800" b="1" i="0" u="none" strike="noStrike" kern="1200" cap="none" spc="0" normalizeH="0" baseline="0" noProof="0" dirty="0">
              <a:ln>
                <a:noFill/>
              </a:ln>
              <a:solidFill>
                <a:srgbClr val="09357A"/>
              </a:solidFill>
              <a:effectLst/>
              <a:uLnTx/>
              <a:uFillTx/>
              <a:latin typeface="Calibri"/>
              <a:ea typeface="+mn-ea"/>
              <a:cs typeface="Arial" panose="020B0604020202020204" pitchFamily="34" charset="0"/>
            </a:endParaRPr>
          </a:p>
        </p:txBody>
      </p:sp>
      <p:sp>
        <p:nvSpPr>
          <p:cNvPr id="44" name="TextBox 43">
            <a:extLst>
              <a:ext uri="{FF2B5EF4-FFF2-40B4-BE49-F238E27FC236}">
                <a16:creationId xmlns:a16="http://schemas.microsoft.com/office/drawing/2014/main" id="{BAEBEBE9-2028-4F2A-9D2B-57DDFAD12C18}"/>
              </a:ext>
            </a:extLst>
          </p:cNvPr>
          <p:cNvSpPr txBox="1">
            <a:spLocks/>
          </p:cNvSpPr>
          <p:nvPr/>
        </p:nvSpPr>
        <p:spPr>
          <a:xfrm>
            <a:off x="2486383" y="4348211"/>
            <a:ext cx="6462141" cy="55399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SzPct val="110000"/>
              <a:buFont typeface="Arial" panose="020B0604020202020204" pitchFamily="34" charset="0"/>
              <a:buChar char="‒"/>
              <a:defRPr lang="en-US" sz="1600" dirty="0"/>
            </a:lvl3pPr>
            <a:lvl4pPr marL="598488" lvl="3" indent="-152400">
              <a:lnSpc>
                <a:spcPct val="100000"/>
              </a:lnSpc>
              <a:spcBef>
                <a:spcPts val="0"/>
              </a:spcBef>
              <a:spcAft>
                <a:spcPts val="300"/>
              </a:spcAft>
              <a:buSzPct val="100000"/>
              <a:buFont typeface="Arial" panose="020B0604020202020204" pitchFamily="34" charset="0"/>
              <a:buChar char="•"/>
              <a:defRPr lang="en-US" sz="1600" dirty="0"/>
            </a:lvl4pPr>
            <a:lvl5pPr marL="817563" lvl="4" indent="-147638">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Segoe UI" panose="020B0502040204020203" pitchFamily="34" charset="0"/>
              <a:buChar char="​"/>
              <a:tabLst/>
              <a:defRPr/>
            </a:pPr>
            <a:r>
              <a:rPr kumimoji="0" lang="en-US" sz="1800" b="1" i="0" u="none" strike="noStrike" kern="1200" cap="none" spc="0" normalizeH="0" baseline="0" noProof="0" dirty="0">
                <a:ln>
                  <a:noFill/>
                </a:ln>
                <a:solidFill>
                  <a:srgbClr val="09357A"/>
                </a:solidFill>
                <a:effectLst/>
                <a:uLnTx/>
                <a:uFillTx/>
                <a:latin typeface="Calibri"/>
                <a:ea typeface="+mn-ea"/>
                <a:cs typeface="Arial" panose="020B0604020202020204" pitchFamily="34" charset="0"/>
              </a:rPr>
              <a:t>Q2 Market Drivers and Strategic Analytics</a:t>
            </a:r>
          </a:p>
        </p:txBody>
      </p:sp>
      <p:cxnSp>
        <p:nvCxnSpPr>
          <p:cNvPr id="6" name="Straight Connector 5">
            <a:extLst>
              <a:ext uri="{FF2B5EF4-FFF2-40B4-BE49-F238E27FC236}">
                <a16:creationId xmlns:a16="http://schemas.microsoft.com/office/drawing/2014/main" id="{1A5ED25E-11B8-64E6-9588-C37D9A6107F9}"/>
              </a:ext>
            </a:extLst>
          </p:cNvPr>
          <p:cNvCxnSpPr>
            <a:cxnSpLocks/>
          </p:cNvCxnSpPr>
          <p:nvPr>
            <p:custDataLst>
              <p:tags r:id="rId8"/>
            </p:custDataLst>
          </p:nvPr>
        </p:nvCxnSpPr>
        <p:spPr>
          <a:xfrm>
            <a:off x="554736" y="4801362"/>
            <a:ext cx="11082528" cy="1588"/>
          </a:xfrm>
          <a:prstGeom prst="line">
            <a:avLst/>
          </a:prstGeom>
          <a:ln w="6350" cap="sq">
            <a:solidFill>
              <a:schemeClr val="bg2">
                <a:lumMod val="9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02A8F6F-213D-2FE8-76D7-D1FB9D34EC8F}"/>
              </a:ext>
            </a:extLst>
          </p:cNvPr>
          <p:cNvSpPr txBox="1">
            <a:spLocks/>
          </p:cNvSpPr>
          <p:nvPr/>
        </p:nvSpPr>
        <p:spPr>
          <a:xfrm>
            <a:off x="602528" y="4926746"/>
            <a:ext cx="1407968" cy="276999"/>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SzPct val="110000"/>
              <a:buFont typeface="Arial" panose="020B0604020202020204" pitchFamily="34" charset="0"/>
              <a:buChar char="‒"/>
              <a:defRPr lang="en-US" sz="1600" dirty="0"/>
            </a:lvl3pPr>
            <a:lvl4pPr marL="598488" lvl="3" indent="-152400">
              <a:lnSpc>
                <a:spcPct val="100000"/>
              </a:lnSpc>
              <a:spcBef>
                <a:spcPts val="0"/>
              </a:spcBef>
              <a:spcAft>
                <a:spcPts val="300"/>
              </a:spcAft>
              <a:buSzPct val="100000"/>
              <a:buFont typeface="Arial" panose="020B0604020202020204" pitchFamily="34" charset="0"/>
              <a:buChar char="•"/>
              <a:defRPr lang="en-US" sz="1600" dirty="0"/>
            </a:lvl4pPr>
            <a:lvl5pPr marL="817563" lvl="4" indent="-147638">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800" b="1" i="0" u="none" strike="noStrike" kern="1200" cap="none" spc="0" normalizeH="0" baseline="0" noProof="0" dirty="0">
                <a:ln>
                  <a:noFill/>
                </a:ln>
                <a:solidFill>
                  <a:srgbClr val="09357A"/>
                </a:solidFill>
                <a:effectLst/>
                <a:uLnTx/>
                <a:uFillTx/>
                <a:latin typeface="Calibri"/>
                <a:ea typeface="+mn-ea"/>
                <a:cs typeface="Arial"/>
              </a:rPr>
              <a:t>[Min 18 to 25]</a:t>
            </a:r>
            <a:endParaRPr kumimoji="0" lang="en-US" sz="1800" b="1" i="0" u="none" strike="noStrike" kern="1200" cap="none" spc="0" normalizeH="0" baseline="0" noProof="0" dirty="0">
              <a:ln>
                <a:noFill/>
              </a:ln>
              <a:solidFill>
                <a:srgbClr val="09357A"/>
              </a:solidFill>
              <a:effectLst/>
              <a:uLnTx/>
              <a:uFillTx/>
              <a:latin typeface="Calibri"/>
              <a:ea typeface="+mn-ea"/>
              <a:cs typeface="Arial" panose="020B0604020202020204" pitchFamily="34" charset="0"/>
            </a:endParaRPr>
          </a:p>
        </p:txBody>
      </p:sp>
      <p:sp>
        <p:nvSpPr>
          <p:cNvPr id="15" name="TextBox 14">
            <a:extLst>
              <a:ext uri="{FF2B5EF4-FFF2-40B4-BE49-F238E27FC236}">
                <a16:creationId xmlns:a16="http://schemas.microsoft.com/office/drawing/2014/main" id="{B22E0269-9680-2250-4A8A-5B716B88D603}"/>
              </a:ext>
            </a:extLst>
          </p:cNvPr>
          <p:cNvSpPr txBox="1">
            <a:spLocks/>
          </p:cNvSpPr>
          <p:nvPr/>
        </p:nvSpPr>
        <p:spPr>
          <a:xfrm>
            <a:off x="2455355" y="4926746"/>
            <a:ext cx="6462141" cy="276999"/>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SzPct val="110000"/>
              <a:buFont typeface="Arial" panose="020B0604020202020204" pitchFamily="34" charset="0"/>
              <a:buChar char="‒"/>
              <a:defRPr lang="en-US" sz="1600" dirty="0"/>
            </a:lvl3pPr>
            <a:lvl4pPr marL="598488" lvl="3" indent="-152400">
              <a:lnSpc>
                <a:spcPct val="100000"/>
              </a:lnSpc>
              <a:spcBef>
                <a:spcPts val="0"/>
              </a:spcBef>
              <a:spcAft>
                <a:spcPts val="300"/>
              </a:spcAft>
              <a:buSzPct val="100000"/>
              <a:buFont typeface="Arial" panose="020B0604020202020204" pitchFamily="34" charset="0"/>
              <a:buChar char="•"/>
              <a:defRPr lang="en-US" sz="1600" dirty="0"/>
            </a:lvl4pPr>
            <a:lvl5pPr marL="817563" lvl="4" indent="-147638">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Segoe UI" panose="020B0502040204020203" pitchFamily="34" charset="0"/>
              <a:buChar char="​"/>
              <a:tabLst/>
              <a:defRPr/>
            </a:pPr>
            <a:r>
              <a:rPr kumimoji="0" lang="en-US" sz="1800" b="1" i="0" u="none" strike="noStrike" kern="1200" cap="none" spc="0" normalizeH="0" baseline="0" noProof="0">
                <a:ln>
                  <a:noFill/>
                </a:ln>
                <a:solidFill>
                  <a:srgbClr val="09357A"/>
                </a:solidFill>
                <a:effectLst/>
                <a:uLnTx/>
                <a:uFillTx/>
                <a:latin typeface="Calibri"/>
                <a:ea typeface="+mn-ea"/>
                <a:cs typeface="Arial" panose="020B0604020202020204" pitchFamily="34" charset="0"/>
              </a:rPr>
              <a:t>Recommendations, Q4 Data Gaps, and Path Forward</a:t>
            </a:r>
            <a:endParaRPr kumimoji="0" lang="en-US" sz="1600" b="0" i="0" u="none" strike="noStrike" kern="1200" cap="none" spc="0" normalizeH="0" baseline="0" noProof="0">
              <a:ln>
                <a:noFill/>
              </a:ln>
              <a:solidFill>
                <a:srgbClr val="000000"/>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15934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FA037F31-273E-DC36-2DD2-834B2CD82F8A}"/>
              </a:ext>
            </a:extLst>
          </p:cNvPr>
          <p:cNvPicPr>
            <a:picLocks noChangeAspect="1"/>
          </p:cNvPicPr>
          <p:nvPr/>
        </p:nvPicPr>
        <p:blipFill>
          <a:blip r:embed="rId3"/>
          <a:stretch>
            <a:fillRect/>
          </a:stretch>
        </p:blipFill>
        <p:spPr>
          <a:xfrm>
            <a:off x="8490890" y="1788559"/>
            <a:ext cx="1417468" cy="1417468"/>
          </a:xfrm>
          <a:prstGeom prst="rect">
            <a:avLst/>
          </a:prstGeom>
        </p:spPr>
      </p:pic>
      <p:pic>
        <p:nvPicPr>
          <p:cNvPr id="18" name="Picture 17">
            <a:extLst>
              <a:ext uri="{FF2B5EF4-FFF2-40B4-BE49-F238E27FC236}">
                <a16:creationId xmlns:a16="http://schemas.microsoft.com/office/drawing/2014/main" id="{AE9864F7-D733-9EB3-AE4C-3872B927E8C8}"/>
              </a:ext>
            </a:extLst>
          </p:cNvPr>
          <p:cNvPicPr>
            <a:picLocks noChangeAspect="1"/>
          </p:cNvPicPr>
          <p:nvPr/>
        </p:nvPicPr>
        <p:blipFill>
          <a:blip r:embed="rId4"/>
          <a:stretch>
            <a:fillRect/>
          </a:stretch>
        </p:blipFill>
        <p:spPr>
          <a:xfrm>
            <a:off x="4909551" y="1785050"/>
            <a:ext cx="1431456" cy="1444962"/>
          </a:xfrm>
          <a:prstGeom prst="rect">
            <a:avLst/>
          </a:prstGeom>
        </p:spPr>
      </p:pic>
      <p:pic>
        <p:nvPicPr>
          <p:cNvPr id="17" name="Picture 16">
            <a:extLst>
              <a:ext uri="{FF2B5EF4-FFF2-40B4-BE49-F238E27FC236}">
                <a16:creationId xmlns:a16="http://schemas.microsoft.com/office/drawing/2014/main" id="{4848B2CD-EF3A-2A79-7DB7-BDB213097FF8}"/>
              </a:ext>
            </a:extLst>
          </p:cNvPr>
          <p:cNvPicPr>
            <a:picLocks noChangeAspect="1"/>
          </p:cNvPicPr>
          <p:nvPr/>
        </p:nvPicPr>
        <p:blipFill>
          <a:blip r:embed="rId5"/>
          <a:stretch>
            <a:fillRect/>
          </a:stretch>
        </p:blipFill>
        <p:spPr>
          <a:xfrm>
            <a:off x="7842136" y="4203713"/>
            <a:ext cx="1425416" cy="1417468"/>
          </a:xfrm>
          <a:prstGeom prst="rect">
            <a:avLst/>
          </a:prstGeom>
        </p:spPr>
      </p:pic>
      <p:pic>
        <p:nvPicPr>
          <p:cNvPr id="16" name="Picture 15">
            <a:extLst>
              <a:ext uri="{FF2B5EF4-FFF2-40B4-BE49-F238E27FC236}">
                <a16:creationId xmlns:a16="http://schemas.microsoft.com/office/drawing/2014/main" id="{69EADC00-09C7-1185-9379-EEEB46AF6ACE}"/>
              </a:ext>
            </a:extLst>
          </p:cNvPr>
          <p:cNvPicPr>
            <a:picLocks noChangeAspect="1"/>
          </p:cNvPicPr>
          <p:nvPr/>
        </p:nvPicPr>
        <p:blipFill>
          <a:blip r:embed="rId6"/>
          <a:stretch>
            <a:fillRect/>
          </a:stretch>
        </p:blipFill>
        <p:spPr>
          <a:xfrm>
            <a:off x="6708177" y="1785050"/>
            <a:ext cx="1417468" cy="1417468"/>
          </a:xfrm>
          <a:prstGeom prst="rect">
            <a:avLst/>
          </a:prstGeom>
        </p:spPr>
      </p:pic>
      <p:sp>
        <p:nvSpPr>
          <p:cNvPr id="5" name="Title 4">
            <a:extLst>
              <a:ext uri="{FF2B5EF4-FFF2-40B4-BE49-F238E27FC236}">
                <a16:creationId xmlns:a16="http://schemas.microsoft.com/office/drawing/2014/main" id="{9A7678A6-67DE-8434-7F4C-EDFEADB07E9F}"/>
              </a:ext>
            </a:extLst>
          </p:cNvPr>
          <p:cNvSpPr>
            <a:spLocks noGrp="1"/>
          </p:cNvSpPr>
          <p:nvPr>
            <p:ph type="title"/>
          </p:nvPr>
        </p:nvSpPr>
        <p:spPr>
          <a:xfrm>
            <a:off x="554736" y="622908"/>
            <a:ext cx="11082528" cy="525408"/>
          </a:xfrm>
        </p:spPr>
        <p:txBody>
          <a:bodyPr/>
          <a:lstStyle/>
          <a:p>
            <a:r>
              <a:rPr lang="en-US"/>
              <a:t>Meet the Team!</a:t>
            </a:r>
          </a:p>
        </p:txBody>
      </p:sp>
      <p:sp>
        <p:nvSpPr>
          <p:cNvPr id="8" name="TextBox 7">
            <a:extLst>
              <a:ext uri="{FF2B5EF4-FFF2-40B4-BE49-F238E27FC236}">
                <a16:creationId xmlns:a16="http://schemas.microsoft.com/office/drawing/2014/main" id="{57823F27-5C81-1404-3795-F449E14FA280}"/>
              </a:ext>
            </a:extLst>
          </p:cNvPr>
          <p:cNvSpPr txBox="1">
            <a:spLocks/>
          </p:cNvSpPr>
          <p:nvPr/>
        </p:nvSpPr>
        <p:spPr bwMode="gray">
          <a:xfrm>
            <a:off x="6360891" y="3400840"/>
            <a:ext cx="2097853" cy="276999"/>
          </a:xfrm>
          <a:prstGeom prst="rect">
            <a:avLst/>
          </a:prstGeom>
          <a:ln>
            <a:noFill/>
          </a:ln>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SzPct val="110000"/>
              <a:buFont typeface="Arial" panose="020B0604020202020204" pitchFamily="34" charset="0"/>
              <a:buChar char="‒"/>
              <a:defRPr lang="en-US" sz="1600" dirty="0"/>
            </a:lvl3pPr>
            <a:lvl4pPr marL="598488" lvl="3" indent="-152400">
              <a:lnSpc>
                <a:spcPct val="100000"/>
              </a:lnSpc>
              <a:spcBef>
                <a:spcPts val="0"/>
              </a:spcBef>
              <a:spcAft>
                <a:spcPts val="300"/>
              </a:spcAft>
              <a:buSzPct val="100000"/>
              <a:buFont typeface="Arial" panose="020B0604020202020204" pitchFamily="34" charset="0"/>
              <a:buChar char="•"/>
              <a:defRPr lang="en-US" sz="1600" dirty="0"/>
            </a:lvl4pPr>
            <a:lvl5pPr marL="817563" lvl="4" indent="-147638">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377" rtl="0" eaLnBrk="1" fontAlgn="auto" latinLnBrk="0" hangingPunct="1">
              <a:lnSpc>
                <a:spcPct val="100000"/>
              </a:lnSpc>
              <a:spcBef>
                <a:spcPts val="300"/>
              </a:spcBef>
              <a:spcAft>
                <a:spcPts val="300"/>
              </a:spcAft>
              <a:buClr>
                <a:srgbClr val="000000"/>
              </a:buClr>
              <a:buSzTx/>
              <a:buFont typeface="Segoe UI" panose="020B0502040204020203" pitchFamily="34" charset="0"/>
              <a:buChar char="​"/>
              <a:tabLst/>
              <a:defRPr/>
            </a:pPr>
            <a:r>
              <a:rPr kumimoji="0" lang="en-US" sz="1800" b="0" i="0" u="none" strike="noStrike" kern="0" cap="none" spc="0" normalizeH="0" baseline="0" noProof="0" dirty="0">
                <a:ln>
                  <a:noFill/>
                </a:ln>
                <a:solidFill>
                  <a:srgbClr val="09357A"/>
                </a:solidFill>
                <a:effectLst/>
                <a:uLnTx/>
                <a:uFillTx/>
                <a:latin typeface="Calibri"/>
                <a:ea typeface="+mn-ea"/>
                <a:cs typeface="Arial" panose="020B0604020202020204" pitchFamily="34" charset="0"/>
              </a:rPr>
              <a:t>Aneesh Vishnu</a:t>
            </a:r>
          </a:p>
        </p:txBody>
      </p:sp>
      <p:sp>
        <p:nvSpPr>
          <p:cNvPr id="9" name="TextBox 8">
            <a:extLst>
              <a:ext uri="{FF2B5EF4-FFF2-40B4-BE49-F238E27FC236}">
                <a16:creationId xmlns:a16="http://schemas.microsoft.com/office/drawing/2014/main" id="{9DE10198-ED4E-E5B2-1EE2-FF39941AFE22}"/>
              </a:ext>
            </a:extLst>
          </p:cNvPr>
          <p:cNvSpPr txBox="1">
            <a:spLocks/>
          </p:cNvSpPr>
          <p:nvPr/>
        </p:nvSpPr>
        <p:spPr bwMode="gray">
          <a:xfrm>
            <a:off x="4570222" y="3400839"/>
            <a:ext cx="2097853" cy="276999"/>
          </a:xfrm>
          <a:prstGeom prst="rect">
            <a:avLst/>
          </a:prstGeom>
          <a:ln>
            <a:noFill/>
          </a:ln>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SzPct val="110000"/>
              <a:buFont typeface="Arial" panose="020B0604020202020204" pitchFamily="34" charset="0"/>
              <a:buChar char="‒"/>
              <a:defRPr lang="en-US" sz="1600" dirty="0"/>
            </a:lvl3pPr>
            <a:lvl4pPr marL="598488" lvl="3" indent="-152400">
              <a:lnSpc>
                <a:spcPct val="100000"/>
              </a:lnSpc>
              <a:spcBef>
                <a:spcPts val="0"/>
              </a:spcBef>
              <a:spcAft>
                <a:spcPts val="300"/>
              </a:spcAft>
              <a:buSzPct val="100000"/>
              <a:buFont typeface="Arial" panose="020B0604020202020204" pitchFamily="34" charset="0"/>
              <a:buChar char="•"/>
              <a:defRPr lang="en-US" sz="1600" dirty="0"/>
            </a:lvl4pPr>
            <a:lvl5pPr marL="817563" lvl="4" indent="-147638">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377" rtl="0" eaLnBrk="1" fontAlgn="auto" latinLnBrk="0" hangingPunct="1">
              <a:lnSpc>
                <a:spcPct val="100000"/>
              </a:lnSpc>
              <a:spcBef>
                <a:spcPts val="300"/>
              </a:spcBef>
              <a:spcAft>
                <a:spcPts val="300"/>
              </a:spcAft>
              <a:buClr>
                <a:srgbClr val="000000"/>
              </a:buClr>
              <a:buSzTx/>
              <a:buFont typeface="Segoe UI" panose="020B0502040204020203" pitchFamily="34" charset="0"/>
              <a:buChar char="​"/>
              <a:tabLst/>
              <a:defRPr/>
            </a:pPr>
            <a:r>
              <a:rPr kumimoji="0" lang="en-US" sz="1800" b="0" i="0" u="none" strike="noStrike" kern="0" cap="none" spc="0" normalizeH="0" baseline="0" noProof="0" dirty="0">
                <a:ln>
                  <a:noFill/>
                </a:ln>
                <a:solidFill>
                  <a:srgbClr val="09357A"/>
                </a:solidFill>
                <a:effectLst/>
                <a:uLnTx/>
                <a:uFillTx/>
                <a:latin typeface="Calibri"/>
                <a:ea typeface="+mn-ea"/>
                <a:cs typeface="Arial" panose="020B0604020202020204" pitchFamily="34" charset="0"/>
              </a:rPr>
              <a:t>Aditya Patel</a:t>
            </a:r>
          </a:p>
        </p:txBody>
      </p:sp>
      <p:pic>
        <p:nvPicPr>
          <p:cNvPr id="22" name="Picture 6" descr="Profile photo of Sanjiv Koshal">
            <a:extLst>
              <a:ext uri="{FF2B5EF4-FFF2-40B4-BE49-F238E27FC236}">
                <a16:creationId xmlns:a16="http://schemas.microsoft.com/office/drawing/2014/main" id="{4663B61B-3D61-1672-A531-64B12F4252F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424763" y="1797299"/>
            <a:ext cx="1417468" cy="1417468"/>
          </a:xfrm>
          <a:prstGeom prst="rect">
            <a:avLst/>
          </a:prstGeom>
          <a:noFill/>
          <a:ln w="28575">
            <a:solidFill>
              <a:schemeClr val="accent3"/>
            </a:solidFill>
          </a:ln>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7B6A4CEB-2FAE-7351-C82E-00ECD8DED677}"/>
              </a:ext>
            </a:extLst>
          </p:cNvPr>
          <p:cNvSpPr txBox="1">
            <a:spLocks/>
          </p:cNvSpPr>
          <p:nvPr/>
        </p:nvSpPr>
        <p:spPr bwMode="gray">
          <a:xfrm>
            <a:off x="1165292" y="3567809"/>
            <a:ext cx="2781834" cy="276999"/>
          </a:xfrm>
          <a:prstGeom prst="rect">
            <a:avLst/>
          </a:prstGeom>
          <a:ln>
            <a:noFill/>
          </a:ln>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SzPct val="110000"/>
              <a:buFont typeface="Arial" panose="020B0604020202020204" pitchFamily="34" charset="0"/>
              <a:buChar char="‒"/>
              <a:defRPr lang="en-US" sz="1600" dirty="0"/>
            </a:lvl3pPr>
            <a:lvl4pPr marL="598488" lvl="3" indent="-152400">
              <a:lnSpc>
                <a:spcPct val="100000"/>
              </a:lnSpc>
              <a:spcBef>
                <a:spcPts val="0"/>
              </a:spcBef>
              <a:spcAft>
                <a:spcPts val="300"/>
              </a:spcAft>
              <a:buSzPct val="100000"/>
              <a:buFont typeface="Arial" panose="020B0604020202020204" pitchFamily="34" charset="0"/>
              <a:buChar char="•"/>
              <a:defRPr lang="en-US" sz="1600" dirty="0"/>
            </a:lvl4pPr>
            <a:lvl5pPr marL="817563" lvl="4" indent="-147638">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377" rtl="0" eaLnBrk="1" fontAlgn="auto" latinLnBrk="0" hangingPunct="1">
              <a:lnSpc>
                <a:spcPct val="100000"/>
              </a:lnSpc>
              <a:spcBef>
                <a:spcPts val="300"/>
              </a:spcBef>
              <a:spcAft>
                <a:spcPts val="300"/>
              </a:spcAft>
              <a:buClr>
                <a:srgbClr val="000000"/>
              </a:buClr>
              <a:buSzTx/>
              <a:buFont typeface="Segoe UI" panose="020B0502040204020203" pitchFamily="34" charset="0"/>
              <a:buChar char="​"/>
              <a:tabLst/>
              <a:defRPr/>
            </a:pPr>
            <a:r>
              <a:rPr kumimoji="0" lang="en-US" sz="1800" b="0" i="0" u="none" strike="noStrike" kern="0" cap="none" spc="0" normalizeH="0" baseline="0" noProof="0">
                <a:ln>
                  <a:noFill/>
                </a:ln>
                <a:solidFill>
                  <a:srgbClr val="09357A"/>
                </a:solidFill>
                <a:effectLst/>
                <a:uLnTx/>
                <a:uFillTx/>
                <a:latin typeface="Calibri"/>
                <a:ea typeface="+mn-ea"/>
                <a:cs typeface="Arial" panose="020B0604020202020204" pitchFamily="34" charset="0"/>
              </a:rPr>
              <a:t>Professor: Sanjiv Koshal</a:t>
            </a:r>
          </a:p>
        </p:txBody>
      </p:sp>
      <p:pic>
        <p:nvPicPr>
          <p:cNvPr id="13" name="Picture 20" descr="Angel face outline with solid fill">
            <a:extLst>
              <a:ext uri="{FF2B5EF4-FFF2-40B4-BE49-F238E27FC236}">
                <a16:creationId xmlns:a16="http://schemas.microsoft.com/office/drawing/2014/main" id="{02A42E95-E5A3-6872-3BB9-6412A4A3D4D6}"/>
              </a:ext>
            </a:extLst>
          </p:cNvPr>
          <p:cNvPicPr>
            <a:picLocks noChangeAspect="1" noChangeArrowheads="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bwMode="auto">
          <a:xfrm>
            <a:off x="6708177" y="1785050"/>
            <a:ext cx="1417468" cy="1417468"/>
          </a:xfrm>
          <a:prstGeom prst="rect">
            <a:avLst/>
          </a:prstGeom>
          <a:noFill/>
          <a:ln w="28575">
            <a:solidFill>
              <a:schemeClr val="accent3"/>
            </a:solidFill>
          </a:ln>
        </p:spPr>
      </p:pic>
      <p:pic>
        <p:nvPicPr>
          <p:cNvPr id="7" name="Picture 20" descr="Angel face outline with solid fill">
            <a:extLst>
              <a:ext uri="{FF2B5EF4-FFF2-40B4-BE49-F238E27FC236}">
                <a16:creationId xmlns:a16="http://schemas.microsoft.com/office/drawing/2014/main" id="{DF513391-A5DB-06A6-0987-AEAE8A6BCFFA}"/>
              </a:ext>
            </a:extLst>
          </p:cNvPr>
          <p:cNvPicPr>
            <a:picLocks noChangeAspect="1" noChangeArrowheads="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bwMode="auto">
          <a:xfrm>
            <a:off x="4925464" y="1788569"/>
            <a:ext cx="1417468" cy="1417468"/>
          </a:xfrm>
          <a:prstGeom prst="rect">
            <a:avLst/>
          </a:prstGeom>
          <a:noFill/>
          <a:ln w="28575">
            <a:solidFill>
              <a:schemeClr val="accent3"/>
            </a:solidFill>
          </a:ln>
        </p:spPr>
      </p:pic>
      <p:pic>
        <p:nvPicPr>
          <p:cNvPr id="2" name="Picture 20" descr="Angel face outline with solid fill">
            <a:extLst>
              <a:ext uri="{FF2B5EF4-FFF2-40B4-BE49-F238E27FC236}">
                <a16:creationId xmlns:a16="http://schemas.microsoft.com/office/drawing/2014/main" id="{39726D1F-B53A-5486-E29B-A017A21C810B}"/>
              </a:ext>
            </a:extLst>
          </p:cNvPr>
          <p:cNvPicPr>
            <a:picLocks noChangeAspect="1" noChangeArrowheads="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bwMode="auto">
          <a:xfrm>
            <a:off x="8490890" y="1785050"/>
            <a:ext cx="1417468" cy="1417468"/>
          </a:xfrm>
          <a:prstGeom prst="rect">
            <a:avLst/>
          </a:prstGeom>
          <a:noFill/>
          <a:ln w="28575">
            <a:solidFill>
              <a:schemeClr val="accent3"/>
            </a:solidFill>
          </a:ln>
        </p:spPr>
      </p:pic>
      <p:sp>
        <p:nvSpPr>
          <p:cNvPr id="3" name="TextBox 2">
            <a:extLst>
              <a:ext uri="{FF2B5EF4-FFF2-40B4-BE49-F238E27FC236}">
                <a16:creationId xmlns:a16="http://schemas.microsoft.com/office/drawing/2014/main" id="{56E63310-6FCC-E804-33BC-99F0C4D3C49B}"/>
              </a:ext>
            </a:extLst>
          </p:cNvPr>
          <p:cNvSpPr txBox="1">
            <a:spLocks/>
          </p:cNvSpPr>
          <p:nvPr/>
        </p:nvSpPr>
        <p:spPr bwMode="gray">
          <a:xfrm>
            <a:off x="8143604" y="3406303"/>
            <a:ext cx="2097853" cy="276999"/>
          </a:xfrm>
          <a:prstGeom prst="rect">
            <a:avLst/>
          </a:prstGeom>
          <a:ln>
            <a:noFill/>
          </a:ln>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SzPct val="110000"/>
              <a:buFont typeface="Arial" panose="020B0604020202020204" pitchFamily="34" charset="0"/>
              <a:buChar char="‒"/>
              <a:defRPr lang="en-US" sz="1600" dirty="0"/>
            </a:lvl3pPr>
            <a:lvl4pPr marL="598488" lvl="3" indent="-152400">
              <a:lnSpc>
                <a:spcPct val="100000"/>
              </a:lnSpc>
              <a:spcBef>
                <a:spcPts val="0"/>
              </a:spcBef>
              <a:spcAft>
                <a:spcPts val="300"/>
              </a:spcAft>
              <a:buSzPct val="100000"/>
              <a:buFont typeface="Arial" panose="020B0604020202020204" pitchFamily="34" charset="0"/>
              <a:buChar char="•"/>
              <a:defRPr lang="en-US" sz="1600" dirty="0"/>
            </a:lvl4pPr>
            <a:lvl5pPr marL="817563" lvl="4" indent="-147638">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377" rtl="0" eaLnBrk="1" fontAlgn="auto" latinLnBrk="0" hangingPunct="1">
              <a:lnSpc>
                <a:spcPct val="100000"/>
              </a:lnSpc>
              <a:spcBef>
                <a:spcPts val="300"/>
              </a:spcBef>
              <a:spcAft>
                <a:spcPts val="300"/>
              </a:spcAft>
              <a:buClr>
                <a:srgbClr val="000000"/>
              </a:buClr>
              <a:buSzTx/>
              <a:buFont typeface="Segoe UI" panose="020B0502040204020203" pitchFamily="34" charset="0"/>
              <a:buChar char="​"/>
              <a:tabLst/>
              <a:defRPr/>
            </a:pPr>
            <a:r>
              <a:rPr kumimoji="0" lang="en-US" sz="1800" b="0" i="0" u="none" strike="noStrike" kern="0" cap="none" spc="0" normalizeH="0" baseline="0" noProof="0" dirty="0">
                <a:ln>
                  <a:noFill/>
                </a:ln>
                <a:solidFill>
                  <a:srgbClr val="09357A"/>
                </a:solidFill>
                <a:effectLst/>
                <a:uLnTx/>
                <a:uFillTx/>
                <a:latin typeface="Calibri"/>
                <a:ea typeface="+mn-ea"/>
                <a:cs typeface="Arial" panose="020B0604020202020204" pitchFamily="34" charset="0"/>
              </a:rPr>
              <a:t>Nikhil Sonawane</a:t>
            </a:r>
          </a:p>
        </p:txBody>
      </p:sp>
      <p:sp>
        <p:nvSpPr>
          <p:cNvPr id="4" name="TextBox 3">
            <a:extLst>
              <a:ext uri="{FF2B5EF4-FFF2-40B4-BE49-F238E27FC236}">
                <a16:creationId xmlns:a16="http://schemas.microsoft.com/office/drawing/2014/main" id="{3294E1F8-10B7-08E9-1E37-650ED789199D}"/>
              </a:ext>
            </a:extLst>
          </p:cNvPr>
          <p:cNvSpPr txBox="1">
            <a:spLocks/>
          </p:cNvSpPr>
          <p:nvPr/>
        </p:nvSpPr>
        <p:spPr bwMode="gray">
          <a:xfrm>
            <a:off x="7459615" y="5751359"/>
            <a:ext cx="2097853" cy="276999"/>
          </a:xfrm>
          <a:prstGeom prst="rect">
            <a:avLst/>
          </a:prstGeom>
          <a:ln>
            <a:noFill/>
          </a:ln>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SzPct val="110000"/>
              <a:buFont typeface="Arial" panose="020B0604020202020204" pitchFamily="34" charset="0"/>
              <a:buChar char="‒"/>
              <a:defRPr lang="en-US" sz="1600" dirty="0"/>
            </a:lvl3pPr>
            <a:lvl4pPr marL="598488" lvl="3" indent="-152400">
              <a:lnSpc>
                <a:spcPct val="100000"/>
              </a:lnSpc>
              <a:spcBef>
                <a:spcPts val="0"/>
              </a:spcBef>
              <a:spcAft>
                <a:spcPts val="300"/>
              </a:spcAft>
              <a:buSzPct val="100000"/>
              <a:buFont typeface="Arial" panose="020B0604020202020204" pitchFamily="34" charset="0"/>
              <a:buChar char="•"/>
              <a:defRPr lang="en-US" sz="1600" dirty="0"/>
            </a:lvl4pPr>
            <a:lvl5pPr marL="817563" lvl="4" indent="-147638">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377" rtl="0" eaLnBrk="1" fontAlgn="auto" latinLnBrk="0" hangingPunct="1">
              <a:lnSpc>
                <a:spcPct val="100000"/>
              </a:lnSpc>
              <a:spcBef>
                <a:spcPts val="300"/>
              </a:spcBef>
              <a:spcAft>
                <a:spcPts val="300"/>
              </a:spcAft>
              <a:buClr>
                <a:srgbClr val="000000"/>
              </a:buClr>
              <a:buSzTx/>
              <a:buFont typeface="Segoe UI" panose="020B0502040204020203" pitchFamily="34" charset="0"/>
              <a:buChar char="​"/>
              <a:tabLst/>
              <a:defRPr/>
            </a:pPr>
            <a:r>
              <a:rPr kumimoji="0" lang="en-US" sz="1800" b="0" i="0" u="none" strike="noStrike" kern="0" cap="none" spc="0" normalizeH="0" baseline="0" noProof="0" dirty="0">
                <a:ln>
                  <a:noFill/>
                </a:ln>
                <a:solidFill>
                  <a:srgbClr val="09357A"/>
                </a:solidFill>
                <a:effectLst/>
                <a:uLnTx/>
                <a:uFillTx/>
                <a:latin typeface="Calibri"/>
                <a:ea typeface="+mn-ea"/>
                <a:cs typeface="Arial" panose="020B0604020202020204" pitchFamily="34" charset="0"/>
              </a:rPr>
              <a:t>William </a:t>
            </a:r>
            <a:r>
              <a:rPr kumimoji="0" lang="en-US" sz="1800" b="0" i="0" u="none" strike="noStrike" kern="0" cap="none" spc="0" normalizeH="0" baseline="0" noProof="0" dirty="0" err="1">
                <a:ln>
                  <a:noFill/>
                </a:ln>
                <a:solidFill>
                  <a:srgbClr val="09357A"/>
                </a:solidFill>
                <a:effectLst/>
                <a:uLnTx/>
                <a:uFillTx/>
                <a:latin typeface="Calibri"/>
                <a:ea typeface="+mn-ea"/>
                <a:cs typeface="Arial" panose="020B0604020202020204" pitchFamily="34" charset="0"/>
              </a:rPr>
              <a:t>Reccoppa</a:t>
            </a:r>
            <a:endParaRPr kumimoji="0" lang="en-US" sz="1800" b="0" i="0" u="none" strike="noStrike" kern="0" cap="none" spc="0" normalizeH="0" baseline="0" noProof="0" dirty="0">
              <a:ln>
                <a:noFill/>
              </a:ln>
              <a:solidFill>
                <a:srgbClr val="09357A"/>
              </a:solidFill>
              <a:effectLst/>
              <a:uLnTx/>
              <a:uFillTx/>
              <a:latin typeface="Calibri"/>
              <a:ea typeface="+mn-ea"/>
              <a:cs typeface="Arial" panose="020B0604020202020204" pitchFamily="34" charset="0"/>
            </a:endParaRPr>
          </a:p>
        </p:txBody>
      </p:sp>
      <p:sp>
        <p:nvSpPr>
          <p:cNvPr id="6" name="TextBox 5">
            <a:extLst>
              <a:ext uri="{FF2B5EF4-FFF2-40B4-BE49-F238E27FC236}">
                <a16:creationId xmlns:a16="http://schemas.microsoft.com/office/drawing/2014/main" id="{6879FCBC-E79A-BBD3-9823-3572970D29B9}"/>
              </a:ext>
            </a:extLst>
          </p:cNvPr>
          <p:cNvSpPr txBox="1">
            <a:spLocks/>
          </p:cNvSpPr>
          <p:nvPr/>
        </p:nvSpPr>
        <p:spPr bwMode="gray">
          <a:xfrm>
            <a:off x="5681423" y="5781828"/>
            <a:ext cx="2097853" cy="276999"/>
          </a:xfrm>
          <a:prstGeom prst="rect">
            <a:avLst/>
          </a:prstGeom>
          <a:ln>
            <a:noFill/>
          </a:ln>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SzPct val="110000"/>
              <a:buFont typeface="Arial" panose="020B0604020202020204" pitchFamily="34" charset="0"/>
              <a:buChar char="‒"/>
              <a:defRPr lang="en-US" sz="1600" dirty="0"/>
            </a:lvl3pPr>
            <a:lvl4pPr marL="598488" lvl="3" indent="-152400">
              <a:lnSpc>
                <a:spcPct val="100000"/>
              </a:lnSpc>
              <a:spcBef>
                <a:spcPts val="0"/>
              </a:spcBef>
              <a:spcAft>
                <a:spcPts val="300"/>
              </a:spcAft>
              <a:buSzPct val="100000"/>
              <a:buFont typeface="Arial" panose="020B0604020202020204" pitchFamily="34" charset="0"/>
              <a:buChar char="•"/>
              <a:defRPr lang="en-US" sz="1600" dirty="0"/>
            </a:lvl4pPr>
            <a:lvl5pPr marL="817563" lvl="4" indent="-147638">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377" rtl="0" eaLnBrk="1" fontAlgn="auto" latinLnBrk="0" hangingPunct="1">
              <a:lnSpc>
                <a:spcPct val="100000"/>
              </a:lnSpc>
              <a:spcBef>
                <a:spcPts val="300"/>
              </a:spcBef>
              <a:spcAft>
                <a:spcPts val="300"/>
              </a:spcAft>
              <a:buClr>
                <a:srgbClr val="000000"/>
              </a:buClr>
              <a:buSzTx/>
              <a:buFont typeface="Segoe UI" panose="020B0502040204020203" pitchFamily="34" charset="0"/>
              <a:buChar char="​"/>
              <a:tabLst/>
              <a:defRPr/>
            </a:pPr>
            <a:r>
              <a:rPr kumimoji="0" lang="en-US" sz="1800" b="0" i="0" u="none" strike="noStrike" kern="0" cap="none" spc="0" normalizeH="0" baseline="0" noProof="0" dirty="0">
                <a:ln>
                  <a:noFill/>
                </a:ln>
                <a:solidFill>
                  <a:srgbClr val="09357A"/>
                </a:solidFill>
                <a:effectLst/>
                <a:uLnTx/>
                <a:uFillTx/>
                <a:latin typeface="Calibri"/>
                <a:ea typeface="+mn-ea"/>
                <a:cs typeface="Arial" panose="020B0604020202020204" pitchFamily="34" charset="0"/>
              </a:rPr>
              <a:t>Saket Kachchhi</a:t>
            </a:r>
          </a:p>
        </p:txBody>
      </p:sp>
      <p:pic>
        <p:nvPicPr>
          <p:cNvPr id="10" name="Picture 20" descr="Angel face outline with solid fill">
            <a:extLst>
              <a:ext uri="{FF2B5EF4-FFF2-40B4-BE49-F238E27FC236}">
                <a16:creationId xmlns:a16="http://schemas.microsoft.com/office/drawing/2014/main" id="{C5135F1A-156C-FCC1-2A54-E545B69CCAA4}"/>
              </a:ext>
            </a:extLst>
          </p:cNvPr>
          <p:cNvPicPr>
            <a:picLocks noChangeAspect="1" noChangeArrowheads="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bwMode="auto">
          <a:xfrm>
            <a:off x="7851179" y="4203713"/>
            <a:ext cx="1417468" cy="1417468"/>
          </a:xfrm>
          <a:prstGeom prst="rect">
            <a:avLst/>
          </a:prstGeom>
          <a:noFill/>
          <a:ln w="28575">
            <a:solidFill>
              <a:schemeClr val="accent3"/>
            </a:solidFill>
          </a:ln>
        </p:spPr>
      </p:pic>
      <p:pic>
        <p:nvPicPr>
          <p:cNvPr id="15" name="Picture 14">
            <a:extLst>
              <a:ext uri="{FF2B5EF4-FFF2-40B4-BE49-F238E27FC236}">
                <a16:creationId xmlns:a16="http://schemas.microsoft.com/office/drawing/2014/main" id="{26253A17-22BD-ECFC-A1DD-C26D23514C77}"/>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068464" y="4189746"/>
            <a:ext cx="1417469" cy="1459619"/>
          </a:xfrm>
          <a:prstGeom prst="rect">
            <a:avLst/>
          </a:prstGeom>
        </p:spPr>
      </p:pic>
      <p:pic>
        <p:nvPicPr>
          <p:cNvPr id="11" name="Picture 20" descr="Angel face outline with solid fill">
            <a:extLst>
              <a:ext uri="{FF2B5EF4-FFF2-40B4-BE49-F238E27FC236}">
                <a16:creationId xmlns:a16="http://schemas.microsoft.com/office/drawing/2014/main" id="{5B873141-989D-4071-7278-A3E8CD4095B6}"/>
              </a:ext>
            </a:extLst>
          </p:cNvPr>
          <p:cNvPicPr>
            <a:picLocks noChangeAspect="1" noChangeArrowheads="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bwMode="auto">
          <a:xfrm>
            <a:off x="6068466" y="4207232"/>
            <a:ext cx="1417468" cy="1417468"/>
          </a:xfrm>
          <a:prstGeom prst="rect">
            <a:avLst/>
          </a:prstGeom>
          <a:noFill/>
          <a:ln w="28575">
            <a:solidFill>
              <a:schemeClr val="accent3"/>
            </a:solidFill>
          </a:ln>
        </p:spPr>
      </p:pic>
      <p:sp>
        <p:nvSpPr>
          <p:cNvPr id="12" name="TextBox 11">
            <a:extLst>
              <a:ext uri="{FF2B5EF4-FFF2-40B4-BE49-F238E27FC236}">
                <a16:creationId xmlns:a16="http://schemas.microsoft.com/office/drawing/2014/main" id="{01B22551-C797-73D1-02CF-58C1B04C62E0}"/>
              </a:ext>
            </a:extLst>
          </p:cNvPr>
          <p:cNvSpPr txBox="1">
            <a:spLocks/>
          </p:cNvSpPr>
          <p:nvPr/>
        </p:nvSpPr>
        <p:spPr bwMode="gray">
          <a:xfrm>
            <a:off x="4616107" y="3672623"/>
            <a:ext cx="2097853" cy="184666"/>
          </a:xfrm>
          <a:prstGeom prst="rect">
            <a:avLst/>
          </a:prstGeom>
          <a:ln>
            <a:noFill/>
          </a:ln>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SzPct val="110000"/>
              <a:buFont typeface="Arial" panose="020B0604020202020204" pitchFamily="34" charset="0"/>
              <a:buChar char="‒"/>
              <a:defRPr lang="en-US" sz="1600" dirty="0"/>
            </a:lvl3pPr>
            <a:lvl4pPr marL="598488" lvl="3" indent="-152400">
              <a:lnSpc>
                <a:spcPct val="100000"/>
              </a:lnSpc>
              <a:spcBef>
                <a:spcPts val="0"/>
              </a:spcBef>
              <a:spcAft>
                <a:spcPts val="300"/>
              </a:spcAft>
              <a:buSzPct val="100000"/>
              <a:buFont typeface="Arial" panose="020B0604020202020204" pitchFamily="34" charset="0"/>
              <a:buChar char="•"/>
              <a:defRPr lang="en-US" sz="1600" dirty="0"/>
            </a:lvl4pPr>
            <a:lvl5pPr marL="817563" lvl="4" indent="-147638">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377" rtl="0" eaLnBrk="1" fontAlgn="auto" latinLnBrk="0" hangingPunct="1">
              <a:lnSpc>
                <a:spcPct val="100000"/>
              </a:lnSpc>
              <a:spcBef>
                <a:spcPts val="300"/>
              </a:spcBef>
              <a:spcAft>
                <a:spcPts val="300"/>
              </a:spcAft>
              <a:buClr>
                <a:srgbClr val="000000"/>
              </a:buClr>
              <a:buSzTx/>
              <a:buFont typeface="Segoe UI" panose="020B0502040204020203" pitchFamily="34" charset="0"/>
              <a:buChar char="​"/>
              <a:tabLst/>
              <a:defRPr/>
            </a:pPr>
            <a:r>
              <a:rPr kumimoji="0" lang="en-US" sz="1200" b="0" i="0" u="none" strike="noStrike" kern="0" cap="none" spc="0" normalizeH="0" baseline="0" noProof="0" dirty="0">
                <a:ln>
                  <a:noFill/>
                </a:ln>
                <a:solidFill>
                  <a:srgbClr val="09357A"/>
                </a:solidFill>
                <a:effectLst/>
                <a:uLnTx/>
                <a:uFillTx/>
                <a:latin typeface="Calibri"/>
                <a:ea typeface="+mn-ea"/>
                <a:cs typeface="Arial" panose="020B0604020202020204" pitchFamily="34" charset="0"/>
              </a:rPr>
              <a:t>Market Research Lead</a:t>
            </a:r>
          </a:p>
        </p:txBody>
      </p:sp>
      <p:sp>
        <p:nvSpPr>
          <p:cNvPr id="14" name="TextBox 13">
            <a:extLst>
              <a:ext uri="{FF2B5EF4-FFF2-40B4-BE49-F238E27FC236}">
                <a16:creationId xmlns:a16="http://schemas.microsoft.com/office/drawing/2014/main" id="{59B70E6F-8958-979C-E965-A8E310068239}"/>
              </a:ext>
            </a:extLst>
          </p:cNvPr>
          <p:cNvSpPr txBox="1">
            <a:spLocks/>
          </p:cNvSpPr>
          <p:nvPr/>
        </p:nvSpPr>
        <p:spPr bwMode="gray">
          <a:xfrm>
            <a:off x="6406776" y="3674859"/>
            <a:ext cx="2097853" cy="184666"/>
          </a:xfrm>
          <a:prstGeom prst="rect">
            <a:avLst/>
          </a:prstGeom>
          <a:ln>
            <a:noFill/>
          </a:ln>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SzPct val="110000"/>
              <a:buFont typeface="Arial" panose="020B0604020202020204" pitchFamily="34" charset="0"/>
              <a:buChar char="‒"/>
              <a:defRPr lang="en-US" sz="1600" dirty="0"/>
            </a:lvl3pPr>
            <a:lvl4pPr marL="598488" lvl="3" indent="-152400">
              <a:lnSpc>
                <a:spcPct val="100000"/>
              </a:lnSpc>
              <a:spcBef>
                <a:spcPts val="0"/>
              </a:spcBef>
              <a:spcAft>
                <a:spcPts val="300"/>
              </a:spcAft>
              <a:buSzPct val="100000"/>
              <a:buFont typeface="Arial" panose="020B0604020202020204" pitchFamily="34" charset="0"/>
              <a:buChar char="•"/>
              <a:defRPr lang="en-US" sz="1600" dirty="0"/>
            </a:lvl4pPr>
            <a:lvl5pPr marL="817563" lvl="4" indent="-147638">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377" rtl="0" eaLnBrk="1" fontAlgn="auto" latinLnBrk="0" hangingPunct="1">
              <a:lnSpc>
                <a:spcPct val="100000"/>
              </a:lnSpc>
              <a:spcBef>
                <a:spcPts val="300"/>
              </a:spcBef>
              <a:spcAft>
                <a:spcPts val="300"/>
              </a:spcAft>
              <a:buClr>
                <a:srgbClr val="000000"/>
              </a:buClr>
              <a:buSzTx/>
              <a:buFont typeface="Segoe UI" panose="020B0502040204020203" pitchFamily="34" charset="0"/>
              <a:buChar char="​"/>
              <a:tabLst/>
              <a:defRPr/>
            </a:pPr>
            <a:r>
              <a:rPr kumimoji="0" lang="en-US" sz="1200" b="0" i="0" u="none" strike="noStrike" kern="0" cap="none" spc="0" normalizeH="0" baseline="0" noProof="0" dirty="0">
                <a:ln>
                  <a:noFill/>
                </a:ln>
                <a:solidFill>
                  <a:srgbClr val="09357A"/>
                </a:solidFill>
                <a:effectLst/>
                <a:uLnTx/>
                <a:uFillTx/>
                <a:latin typeface="Calibri"/>
                <a:ea typeface="+mn-ea"/>
                <a:cs typeface="Arial" panose="020B0604020202020204" pitchFamily="34" charset="0"/>
              </a:rPr>
              <a:t>Execution Lead</a:t>
            </a:r>
          </a:p>
        </p:txBody>
      </p:sp>
      <p:sp>
        <p:nvSpPr>
          <p:cNvPr id="20" name="TextBox 19">
            <a:extLst>
              <a:ext uri="{FF2B5EF4-FFF2-40B4-BE49-F238E27FC236}">
                <a16:creationId xmlns:a16="http://schemas.microsoft.com/office/drawing/2014/main" id="{BEBB38C3-001B-2612-6814-05C05B02EB31}"/>
              </a:ext>
            </a:extLst>
          </p:cNvPr>
          <p:cNvSpPr txBox="1">
            <a:spLocks/>
          </p:cNvSpPr>
          <p:nvPr/>
        </p:nvSpPr>
        <p:spPr bwMode="gray">
          <a:xfrm>
            <a:off x="8189489" y="3668155"/>
            <a:ext cx="2097853" cy="184666"/>
          </a:xfrm>
          <a:prstGeom prst="rect">
            <a:avLst/>
          </a:prstGeom>
          <a:ln>
            <a:noFill/>
          </a:ln>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SzPct val="110000"/>
              <a:buFont typeface="Arial" panose="020B0604020202020204" pitchFamily="34" charset="0"/>
              <a:buChar char="‒"/>
              <a:defRPr lang="en-US" sz="1600" dirty="0"/>
            </a:lvl3pPr>
            <a:lvl4pPr marL="598488" lvl="3" indent="-152400">
              <a:lnSpc>
                <a:spcPct val="100000"/>
              </a:lnSpc>
              <a:spcBef>
                <a:spcPts val="0"/>
              </a:spcBef>
              <a:spcAft>
                <a:spcPts val="300"/>
              </a:spcAft>
              <a:buSzPct val="100000"/>
              <a:buFont typeface="Arial" panose="020B0604020202020204" pitchFamily="34" charset="0"/>
              <a:buChar char="•"/>
              <a:defRPr lang="en-US" sz="1600" dirty="0"/>
            </a:lvl4pPr>
            <a:lvl5pPr marL="817563" lvl="4" indent="-147638">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377" rtl="0" eaLnBrk="1" fontAlgn="auto" latinLnBrk="0" hangingPunct="1">
              <a:lnSpc>
                <a:spcPct val="100000"/>
              </a:lnSpc>
              <a:spcBef>
                <a:spcPts val="300"/>
              </a:spcBef>
              <a:spcAft>
                <a:spcPts val="300"/>
              </a:spcAft>
              <a:buClr>
                <a:srgbClr val="000000"/>
              </a:buClr>
              <a:buSzTx/>
              <a:buFont typeface="Segoe UI" panose="020B0502040204020203" pitchFamily="34" charset="0"/>
              <a:buChar char="​"/>
              <a:tabLst/>
              <a:defRPr/>
            </a:pPr>
            <a:r>
              <a:rPr kumimoji="0" lang="en-US" sz="1200" b="0" i="0" u="none" strike="noStrike" kern="0" cap="none" spc="0" normalizeH="0" baseline="0" noProof="0" dirty="0">
                <a:ln>
                  <a:noFill/>
                </a:ln>
                <a:solidFill>
                  <a:srgbClr val="09357A"/>
                </a:solidFill>
                <a:effectLst/>
                <a:uLnTx/>
                <a:uFillTx/>
                <a:latin typeface="Calibri"/>
                <a:ea typeface="+mn-ea"/>
                <a:cs typeface="Arial" panose="020B0604020202020204" pitchFamily="34" charset="0"/>
              </a:rPr>
              <a:t>Strategy Lead</a:t>
            </a:r>
          </a:p>
        </p:txBody>
      </p:sp>
      <p:sp>
        <p:nvSpPr>
          <p:cNvPr id="21" name="TextBox 20">
            <a:extLst>
              <a:ext uri="{FF2B5EF4-FFF2-40B4-BE49-F238E27FC236}">
                <a16:creationId xmlns:a16="http://schemas.microsoft.com/office/drawing/2014/main" id="{41845475-A309-EE99-D4D8-15BBE103BD8F}"/>
              </a:ext>
            </a:extLst>
          </p:cNvPr>
          <p:cNvSpPr txBox="1">
            <a:spLocks/>
          </p:cNvSpPr>
          <p:nvPr/>
        </p:nvSpPr>
        <p:spPr bwMode="gray">
          <a:xfrm>
            <a:off x="5728271" y="6044260"/>
            <a:ext cx="2097853" cy="184666"/>
          </a:xfrm>
          <a:prstGeom prst="rect">
            <a:avLst/>
          </a:prstGeom>
          <a:ln>
            <a:noFill/>
          </a:ln>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SzPct val="110000"/>
              <a:buFont typeface="Arial" panose="020B0604020202020204" pitchFamily="34" charset="0"/>
              <a:buChar char="‒"/>
              <a:defRPr lang="en-US" sz="1600" dirty="0"/>
            </a:lvl3pPr>
            <a:lvl4pPr marL="598488" lvl="3" indent="-152400">
              <a:lnSpc>
                <a:spcPct val="100000"/>
              </a:lnSpc>
              <a:spcBef>
                <a:spcPts val="0"/>
              </a:spcBef>
              <a:spcAft>
                <a:spcPts val="300"/>
              </a:spcAft>
              <a:buSzPct val="100000"/>
              <a:buFont typeface="Arial" panose="020B0604020202020204" pitchFamily="34" charset="0"/>
              <a:buChar char="•"/>
              <a:defRPr lang="en-US" sz="1600" dirty="0"/>
            </a:lvl4pPr>
            <a:lvl5pPr marL="817563" lvl="4" indent="-147638">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377" rtl="0" eaLnBrk="1" fontAlgn="auto" latinLnBrk="0" hangingPunct="1">
              <a:lnSpc>
                <a:spcPct val="100000"/>
              </a:lnSpc>
              <a:spcBef>
                <a:spcPts val="300"/>
              </a:spcBef>
              <a:spcAft>
                <a:spcPts val="300"/>
              </a:spcAft>
              <a:buClr>
                <a:srgbClr val="000000"/>
              </a:buClr>
              <a:buSzTx/>
              <a:buFont typeface="Segoe UI" panose="020B0502040204020203" pitchFamily="34" charset="0"/>
              <a:buChar char="​"/>
              <a:tabLst/>
              <a:defRPr/>
            </a:pPr>
            <a:r>
              <a:rPr lang="en-US" sz="1200" kern="0" dirty="0">
                <a:solidFill>
                  <a:srgbClr val="09357A"/>
                </a:solidFill>
                <a:latin typeface="Calibri"/>
              </a:rPr>
              <a:t>Project </a:t>
            </a:r>
            <a:r>
              <a:rPr kumimoji="0" lang="en-US" sz="1200" b="0" i="0" u="none" strike="noStrike" kern="0" cap="none" spc="0" normalizeH="0" baseline="0" noProof="0" dirty="0">
                <a:ln>
                  <a:noFill/>
                </a:ln>
                <a:solidFill>
                  <a:srgbClr val="09357A"/>
                </a:solidFill>
                <a:effectLst/>
                <a:uLnTx/>
                <a:uFillTx/>
                <a:latin typeface="Calibri"/>
                <a:ea typeface="+mn-ea"/>
                <a:cs typeface="Arial" panose="020B0604020202020204" pitchFamily="34" charset="0"/>
              </a:rPr>
              <a:t>Lead</a:t>
            </a:r>
          </a:p>
        </p:txBody>
      </p:sp>
      <p:sp>
        <p:nvSpPr>
          <p:cNvPr id="24" name="TextBox 23">
            <a:extLst>
              <a:ext uri="{FF2B5EF4-FFF2-40B4-BE49-F238E27FC236}">
                <a16:creationId xmlns:a16="http://schemas.microsoft.com/office/drawing/2014/main" id="{033BA6CB-CC7A-16AF-3CC1-03BB81D69740}"/>
              </a:ext>
            </a:extLst>
          </p:cNvPr>
          <p:cNvSpPr txBox="1">
            <a:spLocks/>
          </p:cNvSpPr>
          <p:nvPr/>
        </p:nvSpPr>
        <p:spPr bwMode="gray">
          <a:xfrm>
            <a:off x="7441963" y="6038019"/>
            <a:ext cx="2097853" cy="184666"/>
          </a:xfrm>
          <a:prstGeom prst="rect">
            <a:avLst/>
          </a:prstGeom>
          <a:ln>
            <a:noFill/>
          </a:ln>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SzPct val="110000"/>
              <a:buFont typeface="Arial" panose="020B0604020202020204" pitchFamily="34" charset="0"/>
              <a:buChar char="‒"/>
              <a:defRPr lang="en-US" sz="1600" dirty="0"/>
            </a:lvl3pPr>
            <a:lvl4pPr marL="598488" lvl="3" indent="-152400">
              <a:lnSpc>
                <a:spcPct val="100000"/>
              </a:lnSpc>
              <a:spcBef>
                <a:spcPts val="0"/>
              </a:spcBef>
              <a:spcAft>
                <a:spcPts val="300"/>
              </a:spcAft>
              <a:buSzPct val="100000"/>
              <a:buFont typeface="Arial" panose="020B0604020202020204" pitchFamily="34" charset="0"/>
              <a:buChar char="•"/>
              <a:defRPr lang="en-US" sz="1600" dirty="0"/>
            </a:lvl4pPr>
            <a:lvl5pPr marL="817563" lvl="4" indent="-147638">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377" rtl="0" eaLnBrk="1" fontAlgn="auto" latinLnBrk="0" hangingPunct="1">
              <a:lnSpc>
                <a:spcPct val="100000"/>
              </a:lnSpc>
              <a:spcBef>
                <a:spcPts val="300"/>
              </a:spcBef>
              <a:spcAft>
                <a:spcPts val="300"/>
              </a:spcAft>
              <a:buClr>
                <a:srgbClr val="000000"/>
              </a:buClr>
              <a:buSzTx/>
              <a:buFont typeface="Segoe UI" panose="020B0502040204020203" pitchFamily="34" charset="0"/>
              <a:buChar char="​"/>
              <a:tabLst/>
              <a:defRPr/>
            </a:pPr>
            <a:r>
              <a:rPr lang="en-US" sz="1200" kern="0" dirty="0">
                <a:solidFill>
                  <a:srgbClr val="09357A"/>
                </a:solidFill>
                <a:latin typeface="Calibri"/>
              </a:rPr>
              <a:t>Lead Analyst, </a:t>
            </a:r>
            <a:r>
              <a:rPr kumimoji="0" lang="en-US" sz="1200" b="0" i="0" u="none" strike="noStrike" kern="0" cap="none" spc="0" normalizeH="0" baseline="0" noProof="0" dirty="0">
                <a:ln>
                  <a:noFill/>
                </a:ln>
                <a:solidFill>
                  <a:srgbClr val="09357A"/>
                </a:solidFill>
                <a:effectLst/>
                <a:uLnTx/>
                <a:uFillTx/>
                <a:latin typeface="Calibri"/>
                <a:ea typeface="+mn-ea"/>
                <a:cs typeface="Arial" panose="020B0604020202020204" pitchFamily="34" charset="0"/>
              </a:rPr>
              <a:t>Market Drivers</a:t>
            </a:r>
          </a:p>
        </p:txBody>
      </p:sp>
    </p:spTree>
    <p:extLst>
      <p:ext uri="{BB962C8B-B14F-4D97-AF65-F5344CB8AC3E}">
        <p14:creationId xmlns:p14="http://schemas.microsoft.com/office/powerpoint/2010/main" val="2137842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62DBBE1-2196-3683-2F8C-35F931AE46E2}"/>
              </a:ext>
            </a:extLst>
          </p:cNvPr>
          <p:cNvSpPr/>
          <p:nvPr/>
        </p:nvSpPr>
        <p:spPr>
          <a:xfrm>
            <a:off x="4362450" y="0"/>
            <a:ext cx="782955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 name="Title 1">
            <a:extLst>
              <a:ext uri="{FF2B5EF4-FFF2-40B4-BE49-F238E27FC236}">
                <a16:creationId xmlns:a16="http://schemas.microsoft.com/office/drawing/2014/main" id="{EEE06D34-92FD-5E73-661A-920EA7D17899}"/>
              </a:ext>
            </a:extLst>
          </p:cNvPr>
          <p:cNvSpPr txBox="1">
            <a:spLocks/>
          </p:cNvSpPr>
          <p:nvPr/>
        </p:nvSpPr>
        <p:spPr>
          <a:xfrm>
            <a:off x="182880" y="2651760"/>
            <a:ext cx="3840480" cy="1005840"/>
          </a:xfrm>
          <a:prstGeom prst="rect">
            <a:avLst/>
          </a:prstGeom>
        </p:spPr>
        <p:txBody>
          <a:bodyPr vert="horz" lIns="91440" tIns="45720" rIns="91440" bIns="45720" rtlCol="0" anchor="b">
            <a:noAutofit/>
          </a:bodyPr>
          <a:lstStyle>
            <a:lvl1pPr algn="r" defTabSz="914354" rtl="0" eaLnBrk="1" latinLnBrk="0" hangingPunct="1">
              <a:lnSpc>
                <a:spcPct val="90000"/>
              </a:lnSpc>
              <a:spcBef>
                <a:spcPct val="0"/>
              </a:spcBef>
              <a:buNone/>
              <a:defRPr sz="5400" b="0" i="0" kern="1200">
                <a:solidFill>
                  <a:schemeClr val="bg1"/>
                </a:solidFill>
                <a:latin typeface="Saira Condensed Condensed Light" pitchFamily="2" charset="77"/>
                <a:ea typeface="+mj-ea"/>
                <a:cs typeface="+mj-cs"/>
              </a:defRPr>
            </a:lvl1pPr>
          </a:lstStyle>
          <a:p>
            <a:pPr marL="0" marR="0" lvl="0" indent="0" algn="r" defTabSz="914354"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dirty="0">
                <a:ln>
                  <a:noFill/>
                </a:ln>
                <a:solidFill>
                  <a:srgbClr val="363D45"/>
                </a:solidFill>
                <a:effectLst/>
                <a:uLnTx/>
                <a:uFillTx/>
                <a:latin typeface="Arial Nova" panose="020B0504020202020204" pitchFamily="34" charset="0"/>
                <a:ea typeface="+mj-ea"/>
                <a:cs typeface="+mj-cs"/>
              </a:rPr>
              <a:t>Executive Summary</a:t>
            </a:r>
          </a:p>
        </p:txBody>
      </p:sp>
      <p:sp>
        <p:nvSpPr>
          <p:cNvPr id="9" name="TextBox 8">
            <a:extLst>
              <a:ext uri="{FF2B5EF4-FFF2-40B4-BE49-F238E27FC236}">
                <a16:creationId xmlns:a16="http://schemas.microsoft.com/office/drawing/2014/main" id="{215B5CA6-7765-FE20-18FF-12487BCF256C}"/>
              </a:ext>
            </a:extLst>
          </p:cNvPr>
          <p:cNvSpPr txBox="1"/>
          <p:nvPr/>
        </p:nvSpPr>
        <p:spPr>
          <a:xfrm>
            <a:off x="4736673" y="959463"/>
            <a:ext cx="7081103" cy="5175523"/>
          </a:xfrm>
          <a:prstGeom prst="rect">
            <a:avLst/>
          </a:prstGeom>
          <a:ln w="6350">
            <a:noFill/>
            <a:miter lim="800000"/>
          </a:ln>
        </p:spPr>
        <p:txBody>
          <a:bodyPr vert="horz" wrap="square" lIns="0" tIns="0" rIns="0" bIns="0" rtlCol="0" anchor="t">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venir Next LT Pro"/>
                <a:ea typeface="+mn-ea"/>
                <a:cs typeface="+mn-cs"/>
              </a:rPr>
              <a:t>PROBLEM STATEMENT: </a:t>
            </a:r>
          </a:p>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rPr>
              <a:t>Variant brand J2250 was launched to absorb the share of declining leader J1885. Cannibalization has failed. Competitor J3010 is capturing that share, and J2250 is losing ground.</a:t>
            </a:r>
          </a:p>
          <a:p>
            <a:pPr marL="0" marR="0" lvl="0" indent="0" algn="l" defTabSz="914400" rtl="0" eaLnBrk="1" fontAlgn="auto" latinLnBrk="0" hangingPunct="1">
              <a:lnSpc>
                <a:spcPct val="100000"/>
              </a:lnSpc>
              <a:spcBef>
                <a:spcPts val="300"/>
              </a:spcBef>
              <a:spcAft>
                <a:spcPts val="30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300"/>
              </a:spcBef>
              <a:spcAft>
                <a:spcPts val="30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Avenir Next LT Pro"/>
              <a:ea typeface="+mn-ea"/>
              <a:cs typeface="+mn-cs"/>
            </a:endParaRPr>
          </a:p>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venir Next LT Pro"/>
                <a:ea typeface="+mn-ea"/>
                <a:cs typeface="+mn-cs"/>
              </a:rPr>
              <a:t>BUSINESS SOLUTION</a:t>
            </a:r>
          </a:p>
          <a:p>
            <a:pPr marL="0" marR="0" lvl="0" indent="0" algn="l" defTabSz="914377" rtl="0" eaLnBrk="1" fontAlgn="auto" latinLnBrk="0" hangingPunct="1">
              <a:lnSpc>
                <a:spcPct val="100000"/>
              </a:lnSpc>
              <a:spcBef>
                <a:spcPts val="300"/>
              </a:spcBef>
              <a:spcAft>
                <a:spcPts val="30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rPr>
              <a:t>We propose a four-priority strategic reset: fix writer retention, convert Trialists to Rising Stars, declare four emergency territories, and ring fence the Anesthesiology base</a:t>
            </a:r>
            <a:endParaRPr kumimoji="0" lang="en-US" sz="1400" b="1" i="0" u="none" strike="noStrike" kern="1200" cap="none" spc="0" normalizeH="0" baseline="0" noProof="0" dirty="0">
              <a:ln>
                <a:noFill/>
              </a:ln>
              <a:solidFill>
                <a:srgbClr val="FFFFFF"/>
              </a:solidFill>
              <a:effectLst/>
              <a:uLnTx/>
              <a:uFillTx/>
              <a:latin typeface="Arial" panose="020B0604020202020204"/>
              <a:ea typeface="+mn-ea"/>
              <a:cs typeface="Calibri"/>
            </a:endParaRPr>
          </a:p>
          <a:p>
            <a:pPr marL="0" marR="0" lvl="0" indent="0" algn="l"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Avenir Next LT Pro" panose="020B0504020202020204" pitchFamily="34" charset="0"/>
              <a:ea typeface="+mn-ea"/>
              <a:cs typeface="+mn-cs"/>
            </a:endParaRPr>
          </a:p>
          <a:p>
            <a:pPr marL="0" marR="0" lvl="0" indent="0" algn="l"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Avenir Next LT Pro" panose="020B0504020202020204" pitchFamily="34" charset="0"/>
              <a:ea typeface="+mn-ea"/>
              <a:cs typeface="+mn-cs"/>
            </a:endParaRPr>
          </a:p>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venir Next LT Pro"/>
                <a:ea typeface="+mn-ea"/>
                <a:cs typeface="+mn-cs"/>
              </a:rPr>
              <a:t>BUSINESS IMPACT</a:t>
            </a:r>
          </a:p>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rPr>
              <a:t>This solution will </a:t>
            </a:r>
          </a:p>
          <a:p>
            <a:pPr marL="285750" marR="0" lvl="0" indent="-2857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rPr>
              <a:t>Lift J2250 writer retention from 46.4% to 65% in 12 months</a:t>
            </a:r>
          </a:p>
          <a:p>
            <a:pPr marL="285750" marR="0" lvl="0" indent="-2857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rPr>
              <a:t>Recover approximately 150 lost claims annually</a:t>
            </a:r>
          </a:p>
          <a:p>
            <a:pPr marL="285750" marR="0" lvl="0" indent="-2857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rPr>
              <a:t>Equip the field force with named NPI lists, sized targets, and 30/60/90 day plans</a:t>
            </a:r>
          </a:p>
          <a:p>
            <a:pPr marL="285750" marR="0" lvl="0" indent="-2857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rPr>
              <a:t>Reposition J2250 against its true competitive set: J2704 and J3010</a:t>
            </a:r>
          </a:p>
          <a:p>
            <a:pPr marL="285750" marR="0" lvl="0" indent="-2857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endPar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300"/>
              </a:spcBef>
              <a:spcAft>
                <a:spcPts val="30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Avenir Next LT Pro"/>
              <a:ea typeface="+mn-ea"/>
              <a:cs typeface="+mn-cs"/>
            </a:endParaRPr>
          </a:p>
          <a:p>
            <a:pPr marL="0" marR="0" lvl="0" indent="0" algn="l"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Avenir Next LT Pro" panose="020B0504020202020204" pitchFamily="34" charset="0"/>
              <a:ea typeface="+mn-ea"/>
              <a:cs typeface="+mn-cs"/>
            </a:endParaRPr>
          </a:p>
          <a:p>
            <a:pPr marL="0" marR="0" lvl="0" indent="0" algn="l"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Avenir Next LT Pro" panose="020B0504020202020204" pitchFamily="34" charset="0"/>
              <a:ea typeface="+mn-ea"/>
              <a:cs typeface="+mn-cs"/>
            </a:endParaRPr>
          </a:p>
        </p:txBody>
      </p:sp>
    </p:spTree>
    <p:extLst>
      <p:ext uri="{BB962C8B-B14F-4D97-AF65-F5344CB8AC3E}">
        <p14:creationId xmlns:p14="http://schemas.microsoft.com/office/powerpoint/2010/main" val="495287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6400800" cy="274320"/>
          </a:xfrm>
          <a:prstGeom prst="rect">
            <a:avLst/>
          </a:prstGeom>
          <a:noFill/>
        </p:spPr>
        <p:txBody>
          <a:bodyPr wrap="square" lIns="45720" tIns="18288" rIns="45720" bIns="18288" anchor="t">
            <a:spAutoFit/>
          </a:bodyPr>
          <a:lstStyle/>
          <a:p>
            <a:pPr algn="l"/>
            <a:r>
              <a:rPr sz="1100" b="1" i="0">
                <a:solidFill>
                  <a:srgbClr val="9E1B32"/>
                </a:solidFill>
                <a:latin typeface="Calibri"/>
              </a:rPr>
              <a:t>Executive Summary</a:t>
            </a:r>
          </a:p>
        </p:txBody>
      </p:sp>
      <p:sp>
        <p:nvSpPr>
          <p:cNvPr id="3" name="TextBox 2"/>
          <p:cNvSpPr txBox="1"/>
          <p:nvPr/>
        </p:nvSpPr>
        <p:spPr>
          <a:xfrm>
            <a:off x="502920" y="566928"/>
            <a:ext cx="11247120" cy="777240"/>
          </a:xfrm>
          <a:prstGeom prst="rect">
            <a:avLst/>
          </a:prstGeom>
          <a:noFill/>
        </p:spPr>
        <p:txBody>
          <a:bodyPr wrap="square" lIns="45720" tIns="18288" rIns="45720" bIns="18288" anchor="t">
            <a:spAutoFit/>
          </a:bodyPr>
          <a:lstStyle/>
          <a:p>
            <a:pPr algn="l"/>
            <a:r>
              <a:rPr sz="2800" b="1" i="0">
                <a:solidFill>
                  <a:srgbClr val="1B3A6F"/>
                </a:solidFill>
                <a:latin typeface="Calibri"/>
              </a:rPr>
              <a:t>The Cannibalization Play Failed. Here Is Why.</a:t>
            </a:r>
          </a:p>
        </p:txBody>
      </p:sp>
      <p:sp>
        <p:nvSpPr>
          <p:cNvPr id="4" name="Rectangle 3"/>
          <p:cNvSpPr/>
          <p:nvPr/>
        </p:nvSpPr>
        <p:spPr>
          <a:xfrm>
            <a:off x="426720" y="1508760"/>
            <a:ext cx="3657600" cy="21945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09600" y="1645920"/>
            <a:ext cx="3291840" cy="365760"/>
          </a:xfrm>
          <a:prstGeom prst="rect">
            <a:avLst/>
          </a:prstGeom>
          <a:noFill/>
        </p:spPr>
        <p:txBody>
          <a:bodyPr wrap="square" lIns="45720" tIns="18288" rIns="45720" bIns="18288" anchor="t">
            <a:spAutoFit/>
          </a:bodyPr>
          <a:lstStyle/>
          <a:p>
            <a:pPr algn="l"/>
            <a:r>
              <a:rPr sz="1500" b="1" i="0">
                <a:solidFill>
                  <a:srgbClr val="9E1B32"/>
                </a:solidFill>
                <a:latin typeface="Calibri"/>
              </a:rPr>
              <a:t>1. Wrong Substitute</a:t>
            </a:r>
          </a:p>
        </p:txBody>
      </p:sp>
      <p:sp>
        <p:nvSpPr>
          <p:cNvPr id="6" name="TextBox 5"/>
          <p:cNvSpPr txBox="1"/>
          <p:nvPr/>
        </p:nvSpPr>
        <p:spPr>
          <a:xfrm>
            <a:off x="609600" y="2103120"/>
            <a:ext cx="3291840" cy="854529"/>
          </a:xfrm>
          <a:prstGeom prst="rect">
            <a:avLst/>
          </a:prstGeom>
          <a:noFill/>
        </p:spPr>
        <p:txBody>
          <a:bodyPr wrap="square" lIns="45720" tIns="18288" rIns="45720" bIns="18288" anchor="t">
            <a:spAutoFit/>
          </a:bodyPr>
          <a:lstStyle/>
          <a:p>
            <a:pPr algn="l">
              <a:lnSpc>
                <a:spcPct val="130000"/>
              </a:lnSpc>
            </a:pPr>
            <a:r>
              <a:rPr sz="1400" b="0" i="0" dirty="0">
                <a:solidFill>
                  <a:srgbClr val="333333"/>
                </a:solidFill>
                <a:latin typeface="Calibri"/>
              </a:rPr>
              <a:t>Midazolam (J2250) is a sedative. Ketorolac (J1885) is an NSAID for pain. Different drug classes. Never clinically substitutable.</a:t>
            </a:r>
          </a:p>
        </p:txBody>
      </p:sp>
      <p:sp>
        <p:nvSpPr>
          <p:cNvPr id="7" name="Rectangle 6"/>
          <p:cNvSpPr/>
          <p:nvPr/>
        </p:nvSpPr>
        <p:spPr>
          <a:xfrm>
            <a:off x="4267200" y="1508760"/>
            <a:ext cx="3657600" cy="21945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50080" y="1645920"/>
            <a:ext cx="3291840" cy="365760"/>
          </a:xfrm>
          <a:prstGeom prst="rect">
            <a:avLst/>
          </a:prstGeom>
          <a:noFill/>
        </p:spPr>
        <p:txBody>
          <a:bodyPr wrap="square" lIns="45720" tIns="18288" rIns="45720" bIns="18288" anchor="t">
            <a:spAutoFit/>
          </a:bodyPr>
          <a:lstStyle/>
          <a:p>
            <a:pPr algn="l"/>
            <a:r>
              <a:rPr sz="1500" b="1" i="0">
                <a:solidFill>
                  <a:srgbClr val="9E1B32"/>
                </a:solidFill>
                <a:latin typeface="Calibri"/>
              </a:rPr>
              <a:t>2. Retention Crisis</a:t>
            </a:r>
          </a:p>
        </p:txBody>
      </p:sp>
      <p:sp>
        <p:nvSpPr>
          <p:cNvPr id="9" name="TextBox 8"/>
          <p:cNvSpPr txBox="1"/>
          <p:nvPr/>
        </p:nvSpPr>
        <p:spPr>
          <a:xfrm>
            <a:off x="4450080" y="2103120"/>
            <a:ext cx="3291840" cy="1134606"/>
          </a:xfrm>
          <a:prstGeom prst="rect">
            <a:avLst/>
          </a:prstGeom>
          <a:noFill/>
        </p:spPr>
        <p:txBody>
          <a:bodyPr wrap="square" lIns="45720" tIns="18288" rIns="45720" bIns="18288" anchor="t">
            <a:spAutoFit/>
          </a:bodyPr>
          <a:lstStyle/>
          <a:p>
            <a:pPr algn="l">
              <a:lnSpc>
                <a:spcPct val="130000"/>
              </a:lnSpc>
            </a:pPr>
            <a:r>
              <a:rPr sz="1400" b="0" i="0" dirty="0">
                <a:solidFill>
                  <a:srgbClr val="333333"/>
                </a:solidFill>
                <a:latin typeface="Calibri"/>
              </a:rPr>
              <a:t>J2250 loses 54 percent of its writers every year. Zero High Volume prescribers. No acquisition program survives this churn rate.</a:t>
            </a:r>
          </a:p>
        </p:txBody>
      </p:sp>
      <p:sp>
        <p:nvSpPr>
          <p:cNvPr id="10" name="Rectangle 9"/>
          <p:cNvSpPr/>
          <p:nvPr/>
        </p:nvSpPr>
        <p:spPr>
          <a:xfrm>
            <a:off x="8107680" y="1508760"/>
            <a:ext cx="3657600" cy="21945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90560" y="1645920"/>
            <a:ext cx="3291840" cy="365760"/>
          </a:xfrm>
          <a:prstGeom prst="rect">
            <a:avLst/>
          </a:prstGeom>
          <a:noFill/>
        </p:spPr>
        <p:txBody>
          <a:bodyPr wrap="square" lIns="45720" tIns="18288" rIns="45720" bIns="18288" anchor="t">
            <a:spAutoFit/>
          </a:bodyPr>
          <a:lstStyle/>
          <a:p>
            <a:pPr algn="l"/>
            <a:r>
              <a:rPr sz="1500" b="1" i="0">
                <a:solidFill>
                  <a:srgbClr val="9E1B32"/>
                </a:solidFill>
                <a:latin typeface="Calibri"/>
              </a:rPr>
              <a:t>3. Direct Displacement</a:t>
            </a:r>
          </a:p>
        </p:txBody>
      </p:sp>
      <p:sp>
        <p:nvSpPr>
          <p:cNvPr id="12" name="TextBox 11"/>
          <p:cNvSpPr txBox="1"/>
          <p:nvPr/>
        </p:nvSpPr>
        <p:spPr>
          <a:xfrm>
            <a:off x="8290560" y="2103120"/>
            <a:ext cx="3291840" cy="1134606"/>
          </a:xfrm>
          <a:prstGeom prst="rect">
            <a:avLst/>
          </a:prstGeom>
          <a:noFill/>
        </p:spPr>
        <p:txBody>
          <a:bodyPr wrap="square" lIns="45720" tIns="18288" rIns="45720" bIns="18288" anchor="t">
            <a:spAutoFit/>
          </a:bodyPr>
          <a:lstStyle/>
          <a:p>
            <a:pPr algn="l">
              <a:lnSpc>
                <a:spcPct val="130000"/>
              </a:lnSpc>
            </a:pPr>
            <a:r>
              <a:rPr sz="1400" b="0" i="0" dirty="0">
                <a:solidFill>
                  <a:srgbClr val="333333"/>
                </a:solidFill>
                <a:latin typeface="Calibri"/>
              </a:rPr>
              <a:t>58 percent of J2250 patients have also received J3010. The competitor is not just winning new patients. It is treating our patients.</a:t>
            </a:r>
          </a:p>
        </p:txBody>
      </p:sp>
      <p:sp>
        <p:nvSpPr>
          <p:cNvPr id="13" name="Rectangle 12"/>
          <p:cNvSpPr/>
          <p:nvPr/>
        </p:nvSpPr>
        <p:spPr>
          <a:xfrm>
            <a:off x="426720" y="3840480"/>
            <a:ext cx="3657600" cy="16916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26720" y="4114800"/>
            <a:ext cx="3657600" cy="777240"/>
          </a:xfrm>
          <a:prstGeom prst="rect">
            <a:avLst/>
          </a:prstGeom>
          <a:noFill/>
        </p:spPr>
        <p:txBody>
          <a:bodyPr wrap="square" lIns="45720" tIns="18288" rIns="45720" bIns="18288" anchor="ctr">
            <a:spAutoFit/>
          </a:bodyPr>
          <a:lstStyle/>
          <a:p>
            <a:pPr algn="ctr"/>
            <a:r>
              <a:rPr sz="4600" b="1" i="0">
                <a:solidFill>
                  <a:srgbClr val="9E1B32"/>
                </a:solidFill>
                <a:latin typeface="Calibri"/>
              </a:rPr>
              <a:t>minus 30%</a:t>
            </a:r>
          </a:p>
        </p:txBody>
      </p:sp>
      <p:sp>
        <p:nvSpPr>
          <p:cNvPr id="15" name="TextBox 14"/>
          <p:cNvSpPr txBox="1"/>
          <p:nvPr/>
        </p:nvSpPr>
        <p:spPr>
          <a:xfrm>
            <a:off x="426720" y="5029200"/>
            <a:ext cx="3657600" cy="252377"/>
          </a:xfrm>
          <a:prstGeom prst="rect">
            <a:avLst/>
          </a:prstGeom>
          <a:noFill/>
        </p:spPr>
        <p:txBody>
          <a:bodyPr wrap="square" lIns="45720" tIns="18288" rIns="45720" bIns="18288" anchor="t">
            <a:spAutoFit/>
          </a:bodyPr>
          <a:lstStyle/>
          <a:p>
            <a:pPr algn="ctr"/>
            <a:r>
              <a:rPr sz="1400" b="1" i="0" dirty="0">
                <a:solidFill>
                  <a:srgbClr val="333333"/>
                </a:solidFill>
                <a:latin typeface="Calibri"/>
              </a:rPr>
              <a:t>J2250 CLAIM DECLINE 2016 TO 2018</a:t>
            </a:r>
          </a:p>
        </p:txBody>
      </p:sp>
      <p:sp>
        <p:nvSpPr>
          <p:cNvPr id="16" name="Rectangle 15"/>
          <p:cNvSpPr/>
          <p:nvPr/>
        </p:nvSpPr>
        <p:spPr>
          <a:xfrm>
            <a:off x="4267200" y="3840480"/>
            <a:ext cx="3657600" cy="16916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267200" y="4114800"/>
            <a:ext cx="3657600" cy="777240"/>
          </a:xfrm>
          <a:prstGeom prst="rect">
            <a:avLst/>
          </a:prstGeom>
          <a:noFill/>
        </p:spPr>
        <p:txBody>
          <a:bodyPr wrap="square" lIns="45720" tIns="18288" rIns="45720" bIns="18288" anchor="ctr">
            <a:spAutoFit/>
          </a:bodyPr>
          <a:lstStyle/>
          <a:p>
            <a:pPr algn="ctr"/>
            <a:r>
              <a:rPr sz="4600" b="1" i="0">
                <a:solidFill>
                  <a:srgbClr val="9E1B32"/>
                </a:solidFill>
                <a:latin typeface="Calibri"/>
              </a:rPr>
              <a:t>plus 165%</a:t>
            </a:r>
          </a:p>
        </p:txBody>
      </p:sp>
      <p:sp>
        <p:nvSpPr>
          <p:cNvPr id="18" name="TextBox 17"/>
          <p:cNvSpPr txBox="1"/>
          <p:nvPr/>
        </p:nvSpPr>
        <p:spPr>
          <a:xfrm>
            <a:off x="4267200" y="5029200"/>
            <a:ext cx="3657600" cy="252377"/>
          </a:xfrm>
          <a:prstGeom prst="rect">
            <a:avLst/>
          </a:prstGeom>
          <a:noFill/>
        </p:spPr>
        <p:txBody>
          <a:bodyPr wrap="square" lIns="45720" tIns="18288" rIns="45720" bIns="18288" anchor="t">
            <a:spAutoFit/>
          </a:bodyPr>
          <a:lstStyle/>
          <a:p>
            <a:pPr algn="ctr"/>
            <a:r>
              <a:rPr sz="1400" b="1" i="0" dirty="0">
                <a:solidFill>
                  <a:srgbClr val="333333"/>
                </a:solidFill>
                <a:latin typeface="Calibri"/>
              </a:rPr>
              <a:t>J3010 CLAIM GROWTH 2016 TO 2018</a:t>
            </a:r>
          </a:p>
        </p:txBody>
      </p:sp>
      <p:sp>
        <p:nvSpPr>
          <p:cNvPr id="19" name="Rectangle 18"/>
          <p:cNvSpPr/>
          <p:nvPr/>
        </p:nvSpPr>
        <p:spPr>
          <a:xfrm>
            <a:off x="8107680" y="3840480"/>
            <a:ext cx="3657600" cy="16916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107680" y="4114800"/>
            <a:ext cx="3657600" cy="777240"/>
          </a:xfrm>
          <a:prstGeom prst="rect">
            <a:avLst/>
          </a:prstGeom>
          <a:noFill/>
        </p:spPr>
        <p:txBody>
          <a:bodyPr wrap="square" lIns="45720" tIns="18288" rIns="45720" bIns="18288" anchor="ctr">
            <a:spAutoFit/>
          </a:bodyPr>
          <a:lstStyle/>
          <a:p>
            <a:pPr algn="ctr"/>
            <a:r>
              <a:rPr sz="4600" b="1" i="0">
                <a:solidFill>
                  <a:srgbClr val="9E1B32"/>
                </a:solidFill>
                <a:latin typeface="Calibri"/>
              </a:rPr>
              <a:t>46.4%</a:t>
            </a:r>
          </a:p>
        </p:txBody>
      </p:sp>
      <p:sp>
        <p:nvSpPr>
          <p:cNvPr id="21" name="TextBox 20"/>
          <p:cNvSpPr txBox="1"/>
          <p:nvPr/>
        </p:nvSpPr>
        <p:spPr>
          <a:xfrm>
            <a:off x="8107680" y="5029200"/>
            <a:ext cx="3657600" cy="252377"/>
          </a:xfrm>
          <a:prstGeom prst="rect">
            <a:avLst/>
          </a:prstGeom>
          <a:noFill/>
        </p:spPr>
        <p:txBody>
          <a:bodyPr wrap="square" lIns="45720" tIns="18288" rIns="45720" bIns="18288" anchor="t">
            <a:spAutoFit/>
          </a:bodyPr>
          <a:lstStyle/>
          <a:p>
            <a:pPr algn="ctr"/>
            <a:r>
              <a:rPr sz="1400" b="1" i="0" dirty="0">
                <a:solidFill>
                  <a:srgbClr val="333333"/>
                </a:solidFill>
                <a:latin typeface="Calibri"/>
              </a:rPr>
              <a:t>J2250 WRITER RETENTION 2017 TO 2018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6400800" cy="274320"/>
          </a:xfrm>
          <a:prstGeom prst="rect">
            <a:avLst/>
          </a:prstGeom>
          <a:noFill/>
        </p:spPr>
        <p:txBody>
          <a:bodyPr wrap="square" lIns="45720" tIns="18288" rIns="45720" bIns="18288" anchor="t">
            <a:spAutoFit/>
          </a:bodyPr>
          <a:lstStyle/>
          <a:p>
            <a:pPr algn="l"/>
            <a:r>
              <a:rPr sz="1100" b="1" i="0">
                <a:solidFill>
                  <a:srgbClr val="9E1B32"/>
                </a:solidFill>
                <a:latin typeface="Calibri"/>
              </a:rPr>
              <a:t>The Pharmacological Reframe</a:t>
            </a:r>
          </a:p>
        </p:txBody>
      </p:sp>
      <p:sp>
        <p:nvSpPr>
          <p:cNvPr id="3" name="TextBox 2"/>
          <p:cNvSpPr txBox="1"/>
          <p:nvPr/>
        </p:nvSpPr>
        <p:spPr>
          <a:xfrm>
            <a:off x="502920" y="566928"/>
            <a:ext cx="11247120" cy="777240"/>
          </a:xfrm>
          <a:prstGeom prst="rect">
            <a:avLst/>
          </a:prstGeom>
          <a:noFill/>
        </p:spPr>
        <p:txBody>
          <a:bodyPr wrap="square" lIns="45720" tIns="18288" rIns="45720" bIns="18288" anchor="t">
            <a:spAutoFit/>
          </a:bodyPr>
          <a:lstStyle/>
          <a:p>
            <a:pPr algn="l"/>
            <a:r>
              <a:rPr sz="2800" b="1" i="0">
                <a:solidFill>
                  <a:srgbClr val="1B3A6F"/>
                </a:solidFill>
                <a:latin typeface="Calibri"/>
              </a:rPr>
              <a:t>Why Cannibalization Was Always Going to Fail</a:t>
            </a:r>
          </a:p>
        </p:txBody>
      </p:sp>
      <p:sp>
        <p:nvSpPr>
          <p:cNvPr id="4" name="TextBox 3"/>
          <p:cNvSpPr txBox="1"/>
          <p:nvPr/>
        </p:nvSpPr>
        <p:spPr>
          <a:xfrm>
            <a:off x="502920" y="1463040"/>
            <a:ext cx="5486400" cy="365760"/>
          </a:xfrm>
          <a:prstGeom prst="rect">
            <a:avLst/>
          </a:prstGeom>
          <a:noFill/>
        </p:spPr>
        <p:txBody>
          <a:bodyPr wrap="square" lIns="45720" tIns="18288" rIns="45720" bIns="18288" anchor="t">
            <a:spAutoFit/>
          </a:bodyPr>
          <a:lstStyle/>
          <a:p>
            <a:pPr algn="l"/>
            <a:r>
              <a:rPr sz="1400" b="1" i="0">
                <a:solidFill>
                  <a:srgbClr val="9E1B32"/>
                </a:solidFill>
                <a:latin typeface="Calibri"/>
              </a:rPr>
              <a:t>WHAT WAS ASSUMED</a:t>
            </a:r>
          </a:p>
        </p:txBody>
      </p:sp>
      <p:sp>
        <p:nvSpPr>
          <p:cNvPr id="5" name="TextBox 4"/>
          <p:cNvSpPr txBox="1"/>
          <p:nvPr/>
        </p:nvSpPr>
        <p:spPr>
          <a:xfrm>
            <a:off x="502920" y="1828800"/>
            <a:ext cx="5486400" cy="574453"/>
          </a:xfrm>
          <a:prstGeom prst="rect">
            <a:avLst/>
          </a:prstGeom>
          <a:noFill/>
        </p:spPr>
        <p:txBody>
          <a:bodyPr wrap="square" lIns="45720" tIns="18288" rIns="45720" bIns="18288" anchor="t">
            <a:spAutoFit/>
          </a:bodyPr>
          <a:lstStyle/>
          <a:p>
            <a:pPr algn="l">
              <a:lnSpc>
                <a:spcPct val="130000"/>
              </a:lnSpc>
            </a:pPr>
            <a:r>
              <a:rPr sz="1400" b="0" i="0" dirty="0">
                <a:solidFill>
                  <a:srgbClr val="333333"/>
                </a:solidFill>
                <a:latin typeface="Calibri"/>
              </a:rPr>
              <a:t>J2250 (midazolam) would absorb patients dropping from J1885 (ketorolac).</a:t>
            </a:r>
          </a:p>
        </p:txBody>
      </p:sp>
      <p:sp>
        <p:nvSpPr>
          <p:cNvPr id="6" name="TextBox 5"/>
          <p:cNvSpPr txBox="1"/>
          <p:nvPr/>
        </p:nvSpPr>
        <p:spPr>
          <a:xfrm>
            <a:off x="6492240" y="1463040"/>
            <a:ext cx="5486400" cy="365760"/>
          </a:xfrm>
          <a:prstGeom prst="rect">
            <a:avLst/>
          </a:prstGeom>
          <a:noFill/>
        </p:spPr>
        <p:txBody>
          <a:bodyPr wrap="square" lIns="45720" tIns="18288" rIns="45720" bIns="18288" anchor="t">
            <a:spAutoFit/>
          </a:bodyPr>
          <a:lstStyle/>
          <a:p>
            <a:pPr algn="l"/>
            <a:r>
              <a:rPr sz="1400" b="1" i="0">
                <a:solidFill>
                  <a:srgbClr val="9E1B32"/>
                </a:solidFill>
                <a:latin typeface="Calibri"/>
              </a:rPr>
              <a:t>WHAT THE DATA SHOWS</a:t>
            </a:r>
          </a:p>
        </p:txBody>
      </p:sp>
      <p:sp>
        <p:nvSpPr>
          <p:cNvPr id="7" name="TextBox 6"/>
          <p:cNvSpPr txBox="1"/>
          <p:nvPr/>
        </p:nvSpPr>
        <p:spPr>
          <a:xfrm>
            <a:off x="6492240" y="1828800"/>
            <a:ext cx="5486400" cy="574453"/>
          </a:xfrm>
          <a:prstGeom prst="rect">
            <a:avLst/>
          </a:prstGeom>
          <a:noFill/>
        </p:spPr>
        <p:txBody>
          <a:bodyPr wrap="square" lIns="45720" tIns="18288" rIns="45720" bIns="18288" anchor="t">
            <a:spAutoFit/>
          </a:bodyPr>
          <a:lstStyle/>
          <a:p>
            <a:pPr algn="l">
              <a:lnSpc>
                <a:spcPct val="130000"/>
              </a:lnSpc>
            </a:pPr>
            <a:r>
              <a:rPr sz="1400" b="0" i="0" dirty="0">
                <a:solidFill>
                  <a:srgbClr val="333333"/>
                </a:solidFill>
                <a:latin typeface="Calibri"/>
              </a:rPr>
              <a:t>J2250 and J1885 are different drug classes. Real competitive set: J2704 (propofol) and J3010 (fentanyl).</a:t>
            </a:r>
          </a:p>
        </p:txBody>
      </p:sp>
      <p:graphicFrame>
        <p:nvGraphicFramePr>
          <p:cNvPr id="8" name="Table 7"/>
          <p:cNvGraphicFramePr>
            <a:graphicFrameLocks noGrp="1"/>
          </p:cNvGraphicFramePr>
          <p:nvPr>
            <p:extLst>
              <p:ext uri="{D42A27DB-BD31-4B8C-83A1-F6EECF244321}">
                <p14:modId xmlns:p14="http://schemas.microsoft.com/office/powerpoint/2010/main" val="1277674128"/>
              </p:ext>
            </p:extLst>
          </p:nvPr>
        </p:nvGraphicFramePr>
        <p:xfrm>
          <a:off x="502920" y="2743200"/>
          <a:ext cx="11247120" cy="237744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4846320">
                  <a:extLst>
                    <a:ext uri="{9D8B030D-6E8A-4147-A177-3AD203B41FA5}">
                      <a16:colId xmlns:a16="http://schemas.microsoft.com/office/drawing/2014/main" val="20003"/>
                    </a:ext>
                  </a:extLst>
                </a:gridCol>
              </a:tblGrid>
              <a:tr h="475488">
                <a:tc>
                  <a:txBody>
                    <a:bodyPr/>
                    <a:lstStyle/>
                    <a:p>
                      <a:r>
                        <a:rPr sz="1600" b="1">
                          <a:solidFill>
                            <a:srgbClr val="FFFFFF"/>
                          </a:solidFill>
                          <a:latin typeface="Calibri"/>
                        </a:rPr>
                        <a:t>HCPCS</a:t>
                      </a:r>
                    </a:p>
                  </a:txBody>
                  <a:tcPr>
                    <a:solidFill>
                      <a:srgbClr val="142A52"/>
                    </a:solidFill>
                  </a:tcPr>
                </a:tc>
                <a:tc>
                  <a:txBody>
                    <a:bodyPr/>
                    <a:lstStyle/>
                    <a:p>
                      <a:r>
                        <a:rPr sz="1600" b="1">
                          <a:solidFill>
                            <a:srgbClr val="FFFFFF"/>
                          </a:solidFill>
                          <a:latin typeface="Calibri"/>
                        </a:rPr>
                        <a:t>Generic Name</a:t>
                      </a:r>
                    </a:p>
                  </a:txBody>
                  <a:tcPr>
                    <a:solidFill>
                      <a:srgbClr val="142A52"/>
                    </a:solidFill>
                  </a:tcPr>
                </a:tc>
                <a:tc>
                  <a:txBody>
                    <a:bodyPr/>
                    <a:lstStyle/>
                    <a:p>
                      <a:r>
                        <a:rPr sz="1600" b="1">
                          <a:solidFill>
                            <a:srgbClr val="FFFFFF"/>
                          </a:solidFill>
                          <a:latin typeface="Calibri"/>
                        </a:rPr>
                        <a:t>Drug Class</a:t>
                      </a:r>
                    </a:p>
                  </a:txBody>
                  <a:tcPr>
                    <a:solidFill>
                      <a:srgbClr val="142A52"/>
                    </a:solidFill>
                  </a:tcPr>
                </a:tc>
                <a:tc>
                  <a:txBody>
                    <a:bodyPr/>
                    <a:lstStyle/>
                    <a:p>
                      <a:r>
                        <a:rPr sz="1600" b="1">
                          <a:solidFill>
                            <a:srgbClr val="FFFFFF"/>
                          </a:solidFill>
                          <a:latin typeface="Calibri"/>
                        </a:rPr>
                        <a:t>Clinical Role</a:t>
                      </a:r>
                    </a:p>
                  </a:txBody>
                  <a:tcPr>
                    <a:solidFill>
                      <a:srgbClr val="142A52"/>
                    </a:solidFill>
                  </a:tcPr>
                </a:tc>
                <a:extLst>
                  <a:ext uri="{0D108BD9-81ED-4DB2-BD59-A6C34878D82A}">
                    <a16:rowId xmlns:a16="http://schemas.microsoft.com/office/drawing/2014/main" val="10000"/>
                  </a:ext>
                </a:extLst>
              </a:tr>
              <a:tr h="475488">
                <a:tc>
                  <a:txBody>
                    <a:bodyPr/>
                    <a:lstStyle/>
                    <a:p>
                      <a:r>
                        <a:rPr sz="1600">
                          <a:solidFill>
                            <a:srgbClr val="333333"/>
                          </a:solidFill>
                          <a:latin typeface="Calibri"/>
                        </a:rPr>
                        <a:t>J1885</a:t>
                      </a:r>
                    </a:p>
                  </a:txBody>
                  <a:tcPr>
                    <a:solidFill>
                      <a:srgbClr val="FFFFFF"/>
                    </a:solidFill>
                  </a:tcPr>
                </a:tc>
                <a:tc>
                  <a:txBody>
                    <a:bodyPr/>
                    <a:lstStyle/>
                    <a:p>
                      <a:r>
                        <a:rPr sz="1600">
                          <a:solidFill>
                            <a:srgbClr val="333333"/>
                          </a:solidFill>
                          <a:latin typeface="Calibri"/>
                        </a:rPr>
                        <a:t>Ketorolac</a:t>
                      </a:r>
                    </a:p>
                  </a:txBody>
                  <a:tcPr>
                    <a:solidFill>
                      <a:srgbClr val="FFFFFF"/>
                    </a:solidFill>
                  </a:tcPr>
                </a:tc>
                <a:tc>
                  <a:txBody>
                    <a:bodyPr/>
                    <a:lstStyle/>
                    <a:p>
                      <a:r>
                        <a:rPr sz="1600">
                          <a:solidFill>
                            <a:srgbClr val="333333"/>
                          </a:solidFill>
                          <a:latin typeface="Calibri"/>
                        </a:rPr>
                        <a:t>NSAID</a:t>
                      </a:r>
                    </a:p>
                  </a:txBody>
                  <a:tcPr>
                    <a:solidFill>
                      <a:srgbClr val="FFFFFF"/>
                    </a:solidFill>
                  </a:tcPr>
                </a:tc>
                <a:tc>
                  <a:txBody>
                    <a:bodyPr/>
                    <a:lstStyle/>
                    <a:p>
                      <a:r>
                        <a:rPr sz="1600">
                          <a:solidFill>
                            <a:srgbClr val="333333"/>
                          </a:solidFill>
                          <a:latin typeface="Calibri"/>
                        </a:rPr>
                        <a:t>Post operative pain relief (analgesic)</a:t>
                      </a:r>
                    </a:p>
                  </a:txBody>
                  <a:tcPr>
                    <a:solidFill>
                      <a:srgbClr val="FFFFFF"/>
                    </a:solidFill>
                  </a:tcPr>
                </a:tc>
                <a:extLst>
                  <a:ext uri="{0D108BD9-81ED-4DB2-BD59-A6C34878D82A}">
                    <a16:rowId xmlns:a16="http://schemas.microsoft.com/office/drawing/2014/main" val="10001"/>
                  </a:ext>
                </a:extLst>
              </a:tr>
              <a:tr h="475488">
                <a:tc>
                  <a:txBody>
                    <a:bodyPr/>
                    <a:lstStyle/>
                    <a:p>
                      <a:r>
                        <a:rPr sz="1600" b="1">
                          <a:solidFill>
                            <a:srgbClr val="9E1B32"/>
                          </a:solidFill>
                          <a:latin typeface="Calibri"/>
                        </a:rPr>
                        <a:t>J2250</a:t>
                      </a:r>
                    </a:p>
                  </a:txBody>
                  <a:tcPr>
                    <a:solidFill>
                      <a:srgbClr val="FFF3CD"/>
                    </a:solidFill>
                  </a:tcPr>
                </a:tc>
                <a:tc>
                  <a:txBody>
                    <a:bodyPr/>
                    <a:lstStyle/>
                    <a:p>
                      <a:r>
                        <a:rPr sz="1600" b="1">
                          <a:solidFill>
                            <a:srgbClr val="9E1B32"/>
                          </a:solidFill>
                          <a:latin typeface="Calibri"/>
                        </a:rPr>
                        <a:t>Midazolam</a:t>
                      </a:r>
                    </a:p>
                  </a:txBody>
                  <a:tcPr>
                    <a:solidFill>
                      <a:srgbClr val="FFF3CD"/>
                    </a:solidFill>
                  </a:tcPr>
                </a:tc>
                <a:tc>
                  <a:txBody>
                    <a:bodyPr/>
                    <a:lstStyle/>
                    <a:p>
                      <a:r>
                        <a:rPr sz="1600" b="1">
                          <a:solidFill>
                            <a:srgbClr val="9E1B32"/>
                          </a:solidFill>
                          <a:latin typeface="Calibri"/>
                        </a:rPr>
                        <a:t>Benzodiazepine</a:t>
                      </a:r>
                    </a:p>
                  </a:txBody>
                  <a:tcPr>
                    <a:solidFill>
                      <a:srgbClr val="FFF3CD"/>
                    </a:solidFill>
                  </a:tcPr>
                </a:tc>
                <a:tc>
                  <a:txBody>
                    <a:bodyPr/>
                    <a:lstStyle/>
                    <a:p>
                      <a:r>
                        <a:rPr sz="1600" b="1">
                          <a:solidFill>
                            <a:srgbClr val="9E1B32"/>
                          </a:solidFill>
                          <a:latin typeface="Calibri"/>
                        </a:rPr>
                        <a:t>Sedation and induction of anesthesia</a:t>
                      </a:r>
                    </a:p>
                  </a:txBody>
                  <a:tcPr>
                    <a:solidFill>
                      <a:srgbClr val="FFF3CD"/>
                    </a:solidFill>
                  </a:tcPr>
                </a:tc>
                <a:extLst>
                  <a:ext uri="{0D108BD9-81ED-4DB2-BD59-A6C34878D82A}">
                    <a16:rowId xmlns:a16="http://schemas.microsoft.com/office/drawing/2014/main" val="10002"/>
                  </a:ext>
                </a:extLst>
              </a:tr>
              <a:tr h="475488">
                <a:tc>
                  <a:txBody>
                    <a:bodyPr/>
                    <a:lstStyle/>
                    <a:p>
                      <a:r>
                        <a:rPr sz="1600">
                          <a:solidFill>
                            <a:srgbClr val="333333"/>
                          </a:solidFill>
                          <a:latin typeface="Calibri"/>
                        </a:rPr>
                        <a:t>J3010</a:t>
                      </a:r>
                    </a:p>
                  </a:txBody>
                  <a:tcPr>
                    <a:solidFill>
                      <a:srgbClr val="FFFFFF"/>
                    </a:solidFill>
                  </a:tcPr>
                </a:tc>
                <a:tc>
                  <a:txBody>
                    <a:bodyPr/>
                    <a:lstStyle/>
                    <a:p>
                      <a:r>
                        <a:rPr sz="1600">
                          <a:solidFill>
                            <a:srgbClr val="333333"/>
                          </a:solidFill>
                          <a:latin typeface="Calibri"/>
                        </a:rPr>
                        <a:t>Fentanyl</a:t>
                      </a:r>
                    </a:p>
                  </a:txBody>
                  <a:tcPr>
                    <a:solidFill>
                      <a:srgbClr val="FFFFFF"/>
                    </a:solidFill>
                  </a:tcPr>
                </a:tc>
                <a:tc>
                  <a:txBody>
                    <a:bodyPr/>
                    <a:lstStyle/>
                    <a:p>
                      <a:r>
                        <a:rPr sz="1600">
                          <a:solidFill>
                            <a:srgbClr val="333333"/>
                          </a:solidFill>
                          <a:latin typeface="Calibri"/>
                        </a:rPr>
                        <a:t>Synthetic opioid</a:t>
                      </a:r>
                    </a:p>
                  </a:txBody>
                  <a:tcPr>
                    <a:solidFill>
                      <a:srgbClr val="FFFFFF"/>
                    </a:solidFill>
                  </a:tcPr>
                </a:tc>
                <a:tc>
                  <a:txBody>
                    <a:bodyPr/>
                    <a:lstStyle/>
                    <a:p>
                      <a:r>
                        <a:rPr sz="1600">
                          <a:solidFill>
                            <a:srgbClr val="333333"/>
                          </a:solidFill>
                          <a:latin typeface="Calibri"/>
                        </a:rPr>
                        <a:t>Analgesia during anesthesia</a:t>
                      </a:r>
                    </a:p>
                  </a:txBody>
                  <a:tcPr>
                    <a:solidFill>
                      <a:srgbClr val="FFFFFF"/>
                    </a:solidFill>
                  </a:tcPr>
                </a:tc>
                <a:extLst>
                  <a:ext uri="{0D108BD9-81ED-4DB2-BD59-A6C34878D82A}">
                    <a16:rowId xmlns:a16="http://schemas.microsoft.com/office/drawing/2014/main" val="10003"/>
                  </a:ext>
                </a:extLst>
              </a:tr>
              <a:tr h="475488">
                <a:tc>
                  <a:txBody>
                    <a:bodyPr/>
                    <a:lstStyle/>
                    <a:p>
                      <a:r>
                        <a:rPr sz="1600">
                          <a:solidFill>
                            <a:srgbClr val="333333"/>
                          </a:solidFill>
                          <a:latin typeface="Calibri"/>
                        </a:rPr>
                        <a:t>J2704</a:t>
                      </a:r>
                    </a:p>
                  </a:txBody>
                  <a:tcPr>
                    <a:solidFill>
                      <a:srgbClr val="F2F4F7"/>
                    </a:solidFill>
                  </a:tcPr>
                </a:tc>
                <a:tc>
                  <a:txBody>
                    <a:bodyPr/>
                    <a:lstStyle/>
                    <a:p>
                      <a:r>
                        <a:rPr sz="1600">
                          <a:solidFill>
                            <a:srgbClr val="333333"/>
                          </a:solidFill>
                          <a:latin typeface="Calibri"/>
                        </a:rPr>
                        <a:t>Propofol</a:t>
                      </a:r>
                    </a:p>
                  </a:txBody>
                  <a:tcPr>
                    <a:solidFill>
                      <a:srgbClr val="F2F4F7"/>
                    </a:solidFill>
                  </a:tcPr>
                </a:tc>
                <a:tc>
                  <a:txBody>
                    <a:bodyPr/>
                    <a:lstStyle/>
                    <a:p>
                      <a:r>
                        <a:rPr sz="1600">
                          <a:solidFill>
                            <a:srgbClr val="333333"/>
                          </a:solidFill>
                          <a:latin typeface="Calibri"/>
                        </a:rPr>
                        <a:t>IV anesthetic</a:t>
                      </a:r>
                    </a:p>
                  </a:txBody>
                  <a:tcPr>
                    <a:solidFill>
                      <a:srgbClr val="F2F4F7"/>
                    </a:solidFill>
                  </a:tcPr>
                </a:tc>
                <a:tc>
                  <a:txBody>
                    <a:bodyPr/>
                    <a:lstStyle/>
                    <a:p>
                      <a:r>
                        <a:rPr sz="1600" dirty="0">
                          <a:solidFill>
                            <a:srgbClr val="333333"/>
                          </a:solidFill>
                          <a:latin typeface="Calibri"/>
                        </a:rPr>
                        <a:t>Sedation and induction</a:t>
                      </a:r>
                    </a:p>
                  </a:txBody>
                  <a:tcPr>
                    <a:solidFill>
                      <a:srgbClr val="F2F4F7"/>
                    </a:solidFill>
                  </a:tcPr>
                </a:tc>
                <a:extLst>
                  <a:ext uri="{0D108BD9-81ED-4DB2-BD59-A6C34878D82A}">
                    <a16:rowId xmlns:a16="http://schemas.microsoft.com/office/drawing/2014/main" val="10004"/>
                  </a:ext>
                </a:extLst>
              </a:tr>
            </a:tbl>
          </a:graphicData>
        </a:graphic>
      </p:graphicFrame>
      <p:sp>
        <p:nvSpPr>
          <p:cNvPr id="9" name="Rectangle 8"/>
          <p:cNvSpPr/>
          <p:nvPr/>
        </p:nvSpPr>
        <p:spPr>
          <a:xfrm>
            <a:off x="502920" y="5577840"/>
            <a:ext cx="11247120" cy="685800"/>
          </a:xfrm>
          <a:prstGeom prst="rect">
            <a:avLst/>
          </a:prstGeom>
          <a:solidFill>
            <a:srgbClr val="7F1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5669280"/>
            <a:ext cx="10972800" cy="502920"/>
          </a:xfrm>
          <a:prstGeom prst="rect">
            <a:avLst/>
          </a:prstGeom>
          <a:noFill/>
        </p:spPr>
        <p:txBody>
          <a:bodyPr wrap="square" lIns="45720" tIns="18288" rIns="45720" bIns="18288" anchor="ctr">
            <a:spAutoFit/>
          </a:bodyPr>
          <a:lstStyle/>
          <a:p>
            <a:pPr algn="l"/>
            <a:r>
              <a:rPr sz="1500" b="1" i="0">
                <a:solidFill>
                  <a:srgbClr val="FFFFFF"/>
                </a:solidFill>
                <a:latin typeface="Calibri"/>
              </a:rPr>
              <a:t>Strategic Reset: J2250 must compete against J3010 and J2704. Not against J1885.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6400800" cy="274320"/>
          </a:xfrm>
          <a:prstGeom prst="rect">
            <a:avLst/>
          </a:prstGeom>
          <a:noFill/>
        </p:spPr>
        <p:txBody>
          <a:bodyPr wrap="square" lIns="45720" tIns="18288" rIns="45720" bIns="18288" anchor="t">
            <a:spAutoFit/>
          </a:bodyPr>
          <a:lstStyle/>
          <a:p>
            <a:pPr algn="l"/>
            <a:r>
              <a:rPr sz="1100" b="1" i="0">
                <a:solidFill>
                  <a:srgbClr val="9E1B32"/>
                </a:solidFill>
                <a:latin typeface="Calibri"/>
              </a:rPr>
              <a:t>Methodology</a:t>
            </a:r>
          </a:p>
        </p:txBody>
      </p:sp>
      <p:sp>
        <p:nvSpPr>
          <p:cNvPr id="3" name="TextBox 2"/>
          <p:cNvSpPr txBox="1"/>
          <p:nvPr/>
        </p:nvSpPr>
        <p:spPr>
          <a:xfrm>
            <a:off x="502920" y="566928"/>
            <a:ext cx="11247120" cy="777240"/>
          </a:xfrm>
          <a:prstGeom prst="rect">
            <a:avLst/>
          </a:prstGeom>
          <a:noFill/>
        </p:spPr>
        <p:txBody>
          <a:bodyPr wrap="square" lIns="45720" tIns="18288" rIns="45720" bIns="18288" anchor="t">
            <a:spAutoFit/>
          </a:bodyPr>
          <a:lstStyle/>
          <a:p>
            <a:pPr algn="l"/>
            <a:r>
              <a:rPr sz="2800" b="1" i="0">
                <a:solidFill>
                  <a:srgbClr val="1B3A6F"/>
                </a:solidFill>
                <a:latin typeface="Calibri"/>
              </a:rPr>
              <a:t>How We Built the Analysis Ready Dataset</a:t>
            </a:r>
          </a:p>
        </p:txBody>
      </p:sp>
      <p:sp>
        <p:nvSpPr>
          <p:cNvPr id="4" name="Rectangle 3"/>
          <p:cNvSpPr/>
          <p:nvPr/>
        </p:nvSpPr>
        <p:spPr>
          <a:xfrm>
            <a:off x="381000" y="1508760"/>
            <a:ext cx="3657600" cy="2468880"/>
          </a:xfrm>
          <a:prstGeom prst="rect">
            <a:avLst/>
          </a:prstGeom>
          <a:solidFill>
            <a:srgbClr val="F2F4F7"/>
          </a:solidFill>
          <a:ln w="9525">
            <a:solidFill>
              <a:srgbClr val="142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81000" y="1508760"/>
            <a:ext cx="3657600" cy="502920"/>
          </a:xfrm>
          <a:prstGeom prst="rect">
            <a:avLst/>
          </a:prstGeom>
          <a:solidFill>
            <a:srgbClr val="14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3880" y="1600200"/>
            <a:ext cx="3383280" cy="329184"/>
          </a:xfrm>
          <a:prstGeom prst="rect">
            <a:avLst/>
          </a:prstGeom>
          <a:noFill/>
        </p:spPr>
        <p:txBody>
          <a:bodyPr wrap="square" lIns="45720" tIns="18288" rIns="45720" bIns="18288" anchor="t">
            <a:spAutoFit/>
          </a:bodyPr>
          <a:lstStyle/>
          <a:p>
            <a:pPr algn="l"/>
            <a:r>
              <a:rPr sz="1300" b="1" i="0">
                <a:solidFill>
                  <a:srgbClr val="FFFFFF"/>
                </a:solidFill>
                <a:latin typeface="Calibri"/>
              </a:rPr>
              <a:t>RAW INPUT</a:t>
            </a:r>
          </a:p>
        </p:txBody>
      </p:sp>
      <p:sp>
        <p:nvSpPr>
          <p:cNvPr id="7" name="TextBox 6"/>
          <p:cNvSpPr txBox="1"/>
          <p:nvPr/>
        </p:nvSpPr>
        <p:spPr>
          <a:xfrm>
            <a:off x="563880" y="2148840"/>
            <a:ext cx="3291840" cy="1694759"/>
          </a:xfrm>
          <a:prstGeom prst="rect">
            <a:avLst/>
          </a:prstGeom>
          <a:noFill/>
        </p:spPr>
        <p:txBody>
          <a:bodyPr wrap="square" lIns="45720" tIns="18288" rIns="45720" bIns="18288" anchor="t">
            <a:spAutoFit/>
          </a:bodyPr>
          <a:lstStyle/>
          <a:p>
            <a:pPr algn="l">
              <a:lnSpc>
                <a:spcPct val="130000"/>
              </a:lnSpc>
            </a:pPr>
            <a:r>
              <a:rPr sz="1400" b="0" i="0" dirty="0">
                <a:solidFill>
                  <a:srgbClr val="333333"/>
                </a:solidFill>
                <a:latin typeface="Calibri"/>
              </a:rPr>
              <a:t>Five compressed Medicare CCLF claim parts.
HCP demographics file.
Patient demographics file.
ZIP to territory mapping.
ICD 10 specialty mapping.</a:t>
            </a:r>
            <a:endParaRPr lang="en-US" sz="1400" b="0" i="0" dirty="0">
              <a:solidFill>
                <a:srgbClr val="333333"/>
              </a:solidFill>
              <a:latin typeface="Calibri"/>
            </a:endParaRPr>
          </a:p>
          <a:p>
            <a:pPr algn="l">
              <a:lnSpc>
                <a:spcPct val="130000"/>
              </a:lnSpc>
            </a:pPr>
            <a:r>
              <a:rPr lang="en-US" sz="1400" b="0" i="0" dirty="0">
                <a:solidFill>
                  <a:srgbClr val="333333"/>
                </a:solidFill>
                <a:latin typeface="Calibri"/>
              </a:rPr>
              <a:t>Procedure </a:t>
            </a:r>
            <a:r>
              <a:rPr lang="en-US" sz="1400" dirty="0">
                <a:solidFill>
                  <a:srgbClr val="333333"/>
                </a:solidFill>
                <a:latin typeface="Calibri"/>
              </a:rPr>
              <a:t>code mapping.</a:t>
            </a:r>
            <a:endParaRPr sz="1400" b="0" i="0" dirty="0">
              <a:solidFill>
                <a:srgbClr val="333333"/>
              </a:solidFill>
              <a:latin typeface="Calibri"/>
            </a:endParaRPr>
          </a:p>
        </p:txBody>
      </p:sp>
      <p:sp>
        <p:nvSpPr>
          <p:cNvPr id="8" name="Rectangle 7"/>
          <p:cNvSpPr/>
          <p:nvPr/>
        </p:nvSpPr>
        <p:spPr>
          <a:xfrm>
            <a:off x="4267200" y="1508760"/>
            <a:ext cx="3657600" cy="2468880"/>
          </a:xfrm>
          <a:prstGeom prst="rect">
            <a:avLst/>
          </a:prstGeom>
          <a:solidFill>
            <a:srgbClr val="F2F4F7"/>
          </a:solidFill>
          <a:ln w="9525">
            <a:solidFill>
              <a:srgbClr val="142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267200" y="1508760"/>
            <a:ext cx="3657600" cy="502920"/>
          </a:xfrm>
          <a:prstGeom prst="rect">
            <a:avLst/>
          </a:prstGeom>
          <a:solidFill>
            <a:srgbClr val="14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50080" y="1600200"/>
            <a:ext cx="3383280" cy="329184"/>
          </a:xfrm>
          <a:prstGeom prst="rect">
            <a:avLst/>
          </a:prstGeom>
          <a:noFill/>
        </p:spPr>
        <p:txBody>
          <a:bodyPr wrap="square" lIns="45720" tIns="18288" rIns="45720" bIns="18288" anchor="t">
            <a:spAutoFit/>
          </a:bodyPr>
          <a:lstStyle/>
          <a:p>
            <a:pPr algn="l"/>
            <a:r>
              <a:rPr sz="1300" b="1" i="0">
                <a:solidFill>
                  <a:srgbClr val="FFFFFF"/>
                </a:solidFill>
                <a:latin typeface="Calibri"/>
              </a:rPr>
              <a:t>FILTER AND MERGE</a:t>
            </a:r>
          </a:p>
        </p:txBody>
      </p:sp>
      <p:sp>
        <p:nvSpPr>
          <p:cNvPr id="11" name="TextBox 10"/>
          <p:cNvSpPr txBox="1"/>
          <p:nvPr/>
        </p:nvSpPr>
        <p:spPr>
          <a:xfrm>
            <a:off x="4450080" y="2148840"/>
            <a:ext cx="3291840" cy="1414683"/>
          </a:xfrm>
          <a:prstGeom prst="rect">
            <a:avLst/>
          </a:prstGeom>
          <a:noFill/>
        </p:spPr>
        <p:txBody>
          <a:bodyPr wrap="square" lIns="45720" tIns="18288" rIns="45720" bIns="18288" anchor="t">
            <a:spAutoFit/>
          </a:bodyPr>
          <a:lstStyle/>
          <a:p>
            <a:pPr algn="l">
              <a:lnSpc>
                <a:spcPct val="130000"/>
              </a:lnSpc>
            </a:pPr>
            <a:r>
              <a:rPr sz="1400" b="0" i="0" dirty="0">
                <a:solidFill>
                  <a:srgbClr val="333333"/>
                </a:solidFill>
                <a:latin typeface="Calibri"/>
              </a:rPr>
              <a:t>Brand basket: J1885, J2250, J2704, J3010.
Window: 2016 to 2018 (drops 17 records from 2015).
ZIP cast to 5 digit zero padded.
Date formats normalized.</a:t>
            </a:r>
          </a:p>
        </p:txBody>
      </p:sp>
      <p:sp>
        <p:nvSpPr>
          <p:cNvPr id="12" name="Rectangle 11"/>
          <p:cNvSpPr/>
          <p:nvPr/>
        </p:nvSpPr>
        <p:spPr>
          <a:xfrm>
            <a:off x="8153400" y="1508760"/>
            <a:ext cx="3657600" cy="2468880"/>
          </a:xfrm>
          <a:prstGeom prst="rect">
            <a:avLst/>
          </a:prstGeom>
          <a:solidFill>
            <a:srgbClr val="F2F4F7"/>
          </a:solidFill>
          <a:ln w="9525">
            <a:solidFill>
              <a:srgbClr val="142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153400" y="1508760"/>
            <a:ext cx="3657600" cy="502920"/>
          </a:xfrm>
          <a:prstGeom prst="rect">
            <a:avLst/>
          </a:prstGeom>
          <a:solidFill>
            <a:srgbClr val="14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36280" y="1600200"/>
            <a:ext cx="3383280" cy="329184"/>
          </a:xfrm>
          <a:prstGeom prst="rect">
            <a:avLst/>
          </a:prstGeom>
          <a:noFill/>
        </p:spPr>
        <p:txBody>
          <a:bodyPr wrap="square" lIns="45720" tIns="18288" rIns="45720" bIns="18288" anchor="t">
            <a:spAutoFit/>
          </a:bodyPr>
          <a:lstStyle/>
          <a:p>
            <a:pPr algn="l"/>
            <a:r>
              <a:rPr sz="1300" b="1" i="0">
                <a:solidFill>
                  <a:srgbClr val="FFFFFF"/>
                </a:solidFill>
                <a:latin typeface="Calibri"/>
              </a:rPr>
              <a:t>ANALYSIS READY</a:t>
            </a:r>
          </a:p>
        </p:txBody>
      </p:sp>
      <p:sp>
        <p:nvSpPr>
          <p:cNvPr id="15" name="TextBox 14"/>
          <p:cNvSpPr txBox="1"/>
          <p:nvPr/>
        </p:nvSpPr>
        <p:spPr>
          <a:xfrm>
            <a:off x="8336280" y="2148840"/>
            <a:ext cx="3291840" cy="1737360"/>
          </a:xfrm>
          <a:prstGeom prst="rect">
            <a:avLst/>
          </a:prstGeom>
          <a:noFill/>
        </p:spPr>
        <p:txBody>
          <a:bodyPr wrap="square" lIns="45720" tIns="18288" rIns="45720" bIns="18288" anchor="t">
            <a:spAutoFit/>
          </a:bodyPr>
          <a:lstStyle/>
          <a:p>
            <a:pPr algn="l">
              <a:lnSpc>
                <a:spcPct val="130000"/>
              </a:lnSpc>
            </a:pPr>
            <a:r>
              <a:rPr sz="1400" b="0" i="0" dirty="0">
                <a:solidFill>
                  <a:srgbClr val="333333"/>
                </a:solidFill>
                <a:latin typeface="Calibri"/>
              </a:rPr>
              <a:t>28,368 line items in scope.
15,262 brand line items.
15,139 unique claim IDs.
22 territories, 4 regions.
3,396 J1885, 982 J2250, 636 J2704, 2,079 J3010 patients.</a:t>
            </a:r>
          </a:p>
        </p:txBody>
      </p:sp>
      <p:sp>
        <p:nvSpPr>
          <p:cNvPr id="16" name="TextBox 15"/>
          <p:cNvSpPr txBox="1"/>
          <p:nvPr/>
        </p:nvSpPr>
        <p:spPr>
          <a:xfrm>
            <a:off x="502920" y="4251960"/>
            <a:ext cx="11247120" cy="320040"/>
          </a:xfrm>
          <a:prstGeom prst="rect">
            <a:avLst/>
          </a:prstGeom>
          <a:noFill/>
        </p:spPr>
        <p:txBody>
          <a:bodyPr wrap="square" lIns="45720" tIns="18288" rIns="45720" bIns="18288" anchor="t">
            <a:spAutoFit/>
          </a:bodyPr>
          <a:lstStyle/>
          <a:p>
            <a:pPr algn="l"/>
            <a:r>
              <a:rPr sz="1300" b="1" i="0">
                <a:solidFill>
                  <a:srgbClr val="9E1B32"/>
                </a:solidFill>
                <a:latin typeface="Calibri"/>
              </a:rPr>
              <a:t>QUALITY CHECKS VERIFIED AT RUNTIME</a:t>
            </a:r>
          </a:p>
        </p:txBody>
      </p:sp>
      <p:sp>
        <p:nvSpPr>
          <p:cNvPr id="17" name="TextBox 16"/>
          <p:cNvSpPr txBox="1"/>
          <p:nvPr/>
        </p:nvSpPr>
        <p:spPr>
          <a:xfrm>
            <a:off x="502920" y="4617720"/>
            <a:ext cx="11247120" cy="1418915"/>
          </a:xfrm>
          <a:prstGeom prst="rect">
            <a:avLst/>
          </a:prstGeom>
          <a:noFill/>
        </p:spPr>
        <p:txBody>
          <a:bodyPr wrap="square" lIns="45720" rIns="45720">
            <a:spAutoFit/>
          </a:bodyPr>
          <a:lstStyle/>
          <a:p>
            <a:pPr algn="l">
              <a:lnSpc>
                <a:spcPct val="125000"/>
              </a:lnSpc>
            </a:pPr>
            <a:r>
              <a:rPr sz="1400" b="1" dirty="0">
                <a:solidFill>
                  <a:srgbClr val="333333"/>
                </a:solidFill>
                <a:latin typeface="Calibri"/>
              </a:rPr>
              <a:t>•   </a:t>
            </a:r>
            <a:r>
              <a:rPr sz="1400" dirty="0">
                <a:solidFill>
                  <a:srgbClr val="333333"/>
                </a:solidFill>
                <a:latin typeface="Calibri"/>
              </a:rPr>
              <a:t>Total dataset: 28,36</a:t>
            </a:r>
            <a:r>
              <a:rPr lang="en-US" sz="1400" dirty="0">
                <a:solidFill>
                  <a:srgbClr val="333333"/>
                </a:solidFill>
                <a:latin typeface="Calibri"/>
              </a:rPr>
              <a:t>9</a:t>
            </a:r>
            <a:r>
              <a:rPr sz="1400" dirty="0">
                <a:solidFill>
                  <a:srgbClr val="333333"/>
                </a:solidFill>
                <a:latin typeface="Calibri"/>
              </a:rPr>
              <a:t> rows verified via assertion</a:t>
            </a:r>
          </a:p>
          <a:p>
            <a:pPr algn="l">
              <a:lnSpc>
                <a:spcPct val="125000"/>
              </a:lnSpc>
            </a:pPr>
            <a:r>
              <a:rPr sz="1400" b="1" dirty="0">
                <a:solidFill>
                  <a:srgbClr val="333333"/>
                </a:solidFill>
                <a:latin typeface="Calibri"/>
              </a:rPr>
              <a:t>•   </a:t>
            </a:r>
            <a:r>
              <a:rPr sz="1400" dirty="0">
                <a:solidFill>
                  <a:srgbClr val="333333"/>
                </a:solidFill>
                <a:latin typeface="Calibri"/>
              </a:rPr>
              <a:t>Records excluded: 17 from 2015 (out of analysis window)</a:t>
            </a:r>
          </a:p>
          <a:p>
            <a:pPr algn="l">
              <a:lnSpc>
                <a:spcPct val="125000"/>
              </a:lnSpc>
            </a:pPr>
            <a:r>
              <a:rPr sz="1400" b="1" dirty="0">
                <a:solidFill>
                  <a:srgbClr val="333333"/>
                </a:solidFill>
                <a:latin typeface="Calibri"/>
              </a:rPr>
              <a:t>•   </a:t>
            </a:r>
            <a:r>
              <a:rPr sz="1400" dirty="0">
                <a:solidFill>
                  <a:srgbClr val="333333"/>
                </a:solidFill>
                <a:latin typeface="Calibri"/>
              </a:rPr>
              <a:t>Brand line items in scope: 15,262 across 15,139 unique claim IDs</a:t>
            </a:r>
          </a:p>
          <a:p>
            <a:pPr algn="l">
              <a:lnSpc>
                <a:spcPct val="125000"/>
              </a:lnSpc>
            </a:pPr>
            <a:r>
              <a:rPr sz="1400" b="1" dirty="0">
                <a:solidFill>
                  <a:srgbClr val="333333"/>
                </a:solidFill>
                <a:latin typeface="Calibri"/>
              </a:rPr>
              <a:t>•   </a:t>
            </a:r>
            <a:r>
              <a:rPr sz="1400" dirty="0">
                <a:solidFill>
                  <a:srgbClr val="333333"/>
                </a:solidFill>
                <a:latin typeface="Calibri"/>
              </a:rPr>
              <a:t>Share columns sum to 100 percent per year within float tolerance</a:t>
            </a:r>
          </a:p>
          <a:p>
            <a:pPr algn="l">
              <a:lnSpc>
                <a:spcPct val="125000"/>
              </a:lnSpc>
            </a:pPr>
            <a:r>
              <a:rPr sz="1400" b="1" dirty="0">
                <a:solidFill>
                  <a:srgbClr val="333333"/>
                </a:solidFill>
                <a:latin typeface="Calibri"/>
              </a:rPr>
              <a:t>•   </a:t>
            </a:r>
            <a:r>
              <a:rPr sz="1400" dirty="0">
                <a:solidFill>
                  <a:srgbClr val="333333"/>
                </a:solidFill>
                <a:latin typeface="Calibri"/>
              </a:rPr>
              <a:t>Date format inconsistencies in </a:t>
            </a:r>
            <a:r>
              <a:rPr sz="1400" dirty="0" err="1">
                <a:solidFill>
                  <a:srgbClr val="333333"/>
                </a:solidFill>
                <a:latin typeface="Calibri"/>
              </a:rPr>
              <a:t>clm_thru_dt</a:t>
            </a:r>
            <a:r>
              <a:rPr sz="1400" dirty="0">
                <a:solidFill>
                  <a:srgbClr val="333333"/>
                </a:solidFill>
                <a:latin typeface="Calibri"/>
              </a:rPr>
              <a:t> resolved during preparation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9E1B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822960" y="914400"/>
            <a:ext cx="3200400" cy="2286000"/>
          </a:xfrm>
          <a:prstGeom prst="rect">
            <a:avLst/>
          </a:prstGeom>
          <a:noFill/>
        </p:spPr>
        <p:txBody>
          <a:bodyPr wrap="square" lIns="45720" tIns="18288" rIns="45720" bIns="18288" anchor="t">
            <a:spAutoFit/>
          </a:bodyPr>
          <a:lstStyle/>
          <a:p>
            <a:pPr algn="l"/>
            <a:r>
              <a:rPr sz="16000" b="1" i="0">
                <a:solidFill>
                  <a:srgbClr val="FFFFFF"/>
                </a:solidFill>
                <a:latin typeface="Calibri"/>
              </a:rPr>
              <a:t>01</a:t>
            </a:r>
          </a:p>
        </p:txBody>
      </p:sp>
      <p:sp>
        <p:nvSpPr>
          <p:cNvPr id="4" name="Rectangle 3"/>
          <p:cNvSpPr/>
          <p:nvPr/>
        </p:nvSpPr>
        <p:spPr>
          <a:xfrm>
            <a:off x="4297680" y="1463040"/>
            <a:ext cx="45720"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0" y="1463040"/>
            <a:ext cx="7315200" cy="548640"/>
          </a:xfrm>
          <a:prstGeom prst="rect">
            <a:avLst/>
          </a:prstGeom>
          <a:noFill/>
        </p:spPr>
        <p:txBody>
          <a:bodyPr wrap="square" lIns="45720" tIns="18288" rIns="45720" bIns="18288" anchor="t">
            <a:spAutoFit/>
          </a:bodyPr>
          <a:lstStyle/>
          <a:p>
            <a:pPr algn="l"/>
            <a:r>
              <a:rPr sz="1400" b="1" i="0" dirty="0">
                <a:solidFill>
                  <a:srgbClr val="FFFFFF"/>
                </a:solidFill>
                <a:latin typeface="Calibri"/>
              </a:rPr>
              <a:t>SECTION 1</a:t>
            </a:r>
          </a:p>
        </p:txBody>
      </p:sp>
      <p:sp>
        <p:nvSpPr>
          <p:cNvPr id="6" name="TextBox 5"/>
          <p:cNvSpPr txBox="1"/>
          <p:nvPr/>
        </p:nvSpPr>
        <p:spPr>
          <a:xfrm>
            <a:off x="4572000" y="1874519"/>
            <a:ext cx="7315200" cy="1463040"/>
          </a:xfrm>
          <a:prstGeom prst="rect">
            <a:avLst/>
          </a:prstGeom>
          <a:noFill/>
        </p:spPr>
        <p:txBody>
          <a:bodyPr wrap="square" lIns="45720" tIns="18288" rIns="45720" bIns="18288" anchor="t">
            <a:spAutoFit/>
          </a:bodyPr>
          <a:lstStyle/>
          <a:p>
            <a:pPr algn="l">
              <a:lnSpc>
                <a:spcPct val="100000"/>
              </a:lnSpc>
            </a:pPr>
            <a:r>
              <a:rPr sz="3600" b="1" i="0">
                <a:solidFill>
                  <a:srgbClr val="FFFFFF"/>
                </a:solidFill>
                <a:latin typeface="Calibri"/>
              </a:rPr>
              <a:t>Q1 Market Dynamics</a:t>
            </a:r>
          </a:p>
        </p:txBody>
      </p:sp>
      <p:sp>
        <p:nvSpPr>
          <p:cNvPr id="7" name="TextBox 6"/>
          <p:cNvSpPr txBox="1"/>
          <p:nvPr/>
        </p:nvSpPr>
        <p:spPr>
          <a:xfrm>
            <a:off x="4572000" y="2606040"/>
            <a:ext cx="7315200" cy="1463040"/>
          </a:xfrm>
          <a:prstGeom prst="rect">
            <a:avLst/>
          </a:prstGeom>
          <a:noFill/>
        </p:spPr>
        <p:txBody>
          <a:bodyPr wrap="square" lIns="45720" tIns="18288" rIns="45720" bIns="18288" anchor="t">
            <a:spAutoFit/>
          </a:bodyPr>
          <a:lstStyle/>
          <a:p>
            <a:pPr algn="l">
              <a:lnSpc>
                <a:spcPct val="100000"/>
              </a:lnSpc>
            </a:pPr>
            <a:r>
              <a:rPr sz="3600" b="1" i="0">
                <a:solidFill>
                  <a:srgbClr val="FFFFFF"/>
                </a:solidFill>
                <a:latin typeface="Calibri"/>
              </a:rPr>
              <a:t>How the Four Brands Are Trending</a:t>
            </a:r>
          </a:p>
        </p:txBody>
      </p:sp>
      <p:sp>
        <p:nvSpPr>
          <p:cNvPr id="11" name="TextBox 10">
            <a:extLst>
              <a:ext uri="{FF2B5EF4-FFF2-40B4-BE49-F238E27FC236}">
                <a16:creationId xmlns:a16="http://schemas.microsoft.com/office/drawing/2014/main" id="{36D1D5F2-FA27-ACB7-B295-B8679BC5523B}"/>
              </a:ext>
            </a:extLst>
          </p:cNvPr>
          <p:cNvSpPr txBox="1"/>
          <p:nvPr/>
        </p:nvSpPr>
        <p:spPr>
          <a:xfrm>
            <a:off x="4650377" y="5738949"/>
            <a:ext cx="7315200" cy="252377"/>
          </a:xfrm>
          <a:prstGeom prst="rect">
            <a:avLst/>
          </a:prstGeom>
          <a:noFill/>
        </p:spPr>
        <p:txBody>
          <a:bodyPr wrap="square" lIns="45720" tIns="18288" rIns="45720" bIns="18288" anchor="t">
            <a:spAutoFit/>
          </a:bodyPr>
          <a:lstStyle/>
          <a:p>
            <a:pPr lvl="4" algn="r"/>
            <a:r>
              <a:rPr lang="en-US" sz="1400" b="1" i="0" dirty="0">
                <a:solidFill>
                  <a:srgbClr val="FFFFFF"/>
                </a:solidFill>
                <a:latin typeface="Calibri"/>
              </a:rPr>
              <a:t>Aditya Patel</a:t>
            </a:r>
            <a:endParaRPr sz="1400" b="1" i="0" dirty="0">
              <a:solidFill>
                <a:srgbClr val="FFFFFF"/>
              </a:solidFill>
              <a:latin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6400800" cy="274320"/>
          </a:xfrm>
          <a:prstGeom prst="rect">
            <a:avLst/>
          </a:prstGeom>
          <a:noFill/>
        </p:spPr>
        <p:txBody>
          <a:bodyPr wrap="square" lIns="45720" tIns="18288" rIns="45720" bIns="18288" anchor="t">
            <a:spAutoFit/>
          </a:bodyPr>
          <a:lstStyle/>
          <a:p>
            <a:pPr algn="l"/>
            <a:r>
              <a:rPr sz="1100" b="1" i="0">
                <a:solidFill>
                  <a:srgbClr val="9E1B32"/>
                </a:solidFill>
                <a:latin typeface="Calibri"/>
              </a:rPr>
              <a:t>Q1 Market Dynamics</a:t>
            </a:r>
          </a:p>
        </p:txBody>
      </p:sp>
      <p:sp>
        <p:nvSpPr>
          <p:cNvPr id="3" name="TextBox 2"/>
          <p:cNvSpPr txBox="1"/>
          <p:nvPr/>
        </p:nvSpPr>
        <p:spPr>
          <a:xfrm>
            <a:off x="502920" y="566928"/>
            <a:ext cx="11247120" cy="777240"/>
          </a:xfrm>
          <a:prstGeom prst="rect">
            <a:avLst/>
          </a:prstGeom>
          <a:noFill/>
        </p:spPr>
        <p:txBody>
          <a:bodyPr wrap="square" lIns="45720" tIns="18288" rIns="45720" bIns="18288" anchor="t">
            <a:spAutoFit/>
          </a:bodyPr>
          <a:lstStyle/>
          <a:p>
            <a:pPr algn="l"/>
            <a:r>
              <a:rPr sz="2800" b="1" i="0">
                <a:solidFill>
                  <a:srgbClr val="1B3A6F"/>
                </a:solidFill>
                <a:latin typeface="Calibri"/>
              </a:rPr>
              <a:t>Product 3 Is Capturing What Product 1 Loses</a:t>
            </a:r>
          </a:p>
        </p:txBody>
      </p:sp>
      <p:pic>
        <p:nvPicPr>
          <p:cNvPr id="4" name="Picture 3" descr="chart1_claims_share.png"/>
          <p:cNvPicPr>
            <a:picLocks noChangeAspect="1"/>
          </p:cNvPicPr>
          <p:nvPr/>
        </p:nvPicPr>
        <p:blipFill>
          <a:blip r:embed="rId2"/>
          <a:stretch>
            <a:fillRect/>
          </a:stretch>
        </p:blipFill>
        <p:spPr>
          <a:xfrm>
            <a:off x="2667000" y="1417320"/>
            <a:ext cx="6858000" cy="4204496"/>
          </a:xfrm>
          <a:prstGeom prst="rect">
            <a:avLst/>
          </a:prstGeom>
        </p:spPr>
      </p:pic>
      <p:sp>
        <p:nvSpPr>
          <p:cNvPr id="5" name="Rectangle 4"/>
          <p:cNvSpPr/>
          <p:nvPr/>
        </p:nvSpPr>
        <p:spPr>
          <a:xfrm>
            <a:off x="502920" y="5631170"/>
            <a:ext cx="11247120" cy="685800"/>
          </a:xfrm>
          <a:prstGeom prst="rect">
            <a:avLst/>
          </a:prstGeom>
          <a:solidFill>
            <a:srgbClr val="7F1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5632438"/>
            <a:ext cx="10881360" cy="683264"/>
          </a:xfrm>
          <a:prstGeom prst="rect">
            <a:avLst/>
          </a:prstGeom>
          <a:noFill/>
        </p:spPr>
        <p:txBody>
          <a:bodyPr wrap="square" lIns="45720" tIns="18288" rIns="45720" bIns="18288" anchor="ctr">
            <a:spAutoFit/>
          </a:bodyPr>
          <a:lstStyle/>
          <a:p>
            <a:pPr algn="l"/>
            <a:r>
              <a:rPr sz="1400" b="1" i="0" dirty="0">
                <a:solidFill>
                  <a:srgbClr val="FFFFFF"/>
                </a:solidFill>
                <a:latin typeface="Calibri"/>
              </a:rPr>
              <a:t>Insight: </a:t>
            </a:r>
          </a:p>
          <a:p>
            <a:pPr algn="l"/>
            <a:r>
              <a:rPr sz="1400" b="0" i="0" dirty="0">
                <a:solidFill>
                  <a:srgbClr val="FFFFFF"/>
                </a:solidFill>
                <a:latin typeface="Calibri"/>
              </a:rPr>
              <a:t>Every share point Product 1 lost went to Product 3, not to our variant. P1 fell 73.8% to 58.9%. P3 grew 14.3% to 28.8%. P2 fell 10.0% to 5.4%. Cannibalization has failed.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6400800" cy="274320"/>
          </a:xfrm>
          <a:prstGeom prst="rect">
            <a:avLst/>
          </a:prstGeom>
          <a:noFill/>
        </p:spPr>
        <p:txBody>
          <a:bodyPr wrap="square" lIns="45720" tIns="18288" rIns="45720" bIns="18288" anchor="t">
            <a:spAutoFit/>
          </a:bodyPr>
          <a:lstStyle/>
          <a:p>
            <a:pPr algn="l"/>
            <a:r>
              <a:rPr sz="1100" b="1" i="0">
                <a:solidFill>
                  <a:srgbClr val="9E1B32"/>
                </a:solidFill>
                <a:latin typeface="Calibri"/>
              </a:rPr>
              <a:t>Q1 Market Dynamics</a:t>
            </a:r>
          </a:p>
        </p:txBody>
      </p:sp>
      <p:sp>
        <p:nvSpPr>
          <p:cNvPr id="3" name="TextBox 2"/>
          <p:cNvSpPr txBox="1"/>
          <p:nvPr/>
        </p:nvSpPr>
        <p:spPr>
          <a:xfrm>
            <a:off x="502920" y="566928"/>
            <a:ext cx="11247120" cy="777240"/>
          </a:xfrm>
          <a:prstGeom prst="rect">
            <a:avLst/>
          </a:prstGeom>
          <a:noFill/>
        </p:spPr>
        <p:txBody>
          <a:bodyPr wrap="square" lIns="45720" tIns="18288" rIns="45720" bIns="18288" anchor="t">
            <a:spAutoFit/>
          </a:bodyPr>
          <a:lstStyle/>
          <a:p>
            <a:pPr algn="l"/>
            <a:r>
              <a:rPr sz="2800" b="1" i="0">
                <a:solidFill>
                  <a:srgbClr val="1B3A6F"/>
                </a:solidFill>
                <a:latin typeface="Calibri"/>
              </a:rPr>
              <a:t>Patient Share Is Slipping Faster Than Claims</a:t>
            </a:r>
          </a:p>
        </p:txBody>
      </p:sp>
      <p:pic>
        <p:nvPicPr>
          <p:cNvPr id="4" name="Picture 3" descr="chart2_patient_share.png"/>
          <p:cNvPicPr>
            <a:picLocks noChangeAspect="1"/>
          </p:cNvPicPr>
          <p:nvPr/>
        </p:nvPicPr>
        <p:blipFill>
          <a:blip r:embed="rId2"/>
          <a:stretch>
            <a:fillRect/>
          </a:stretch>
        </p:blipFill>
        <p:spPr>
          <a:xfrm>
            <a:off x="2667000" y="1417320"/>
            <a:ext cx="6858000" cy="4204496"/>
          </a:xfrm>
          <a:prstGeom prst="rect">
            <a:avLst/>
          </a:prstGeom>
        </p:spPr>
      </p:pic>
      <p:sp>
        <p:nvSpPr>
          <p:cNvPr id="5" name="Rectangle 4"/>
          <p:cNvSpPr/>
          <p:nvPr/>
        </p:nvSpPr>
        <p:spPr>
          <a:xfrm>
            <a:off x="502920" y="5664813"/>
            <a:ext cx="11247120" cy="685800"/>
          </a:xfrm>
          <a:prstGeom prst="rect">
            <a:avLst/>
          </a:prstGeom>
          <a:solidFill>
            <a:srgbClr val="7F1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5773803"/>
            <a:ext cx="10881360" cy="467820"/>
          </a:xfrm>
          <a:prstGeom prst="rect">
            <a:avLst/>
          </a:prstGeom>
          <a:noFill/>
        </p:spPr>
        <p:txBody>
          <a:bodyPr wrap="square" lIns="45720" tIns="18288" rIns="45720" bIns="18288" anchor="ctr">
            <a:spAutoFit/>
          </a:bodyPr>
          <a:lstStyle/>
          <a:p>
            <a:pPr algn="l"/>
            <a:r>
              <a:rPr sz="1400" b="1" i="0" dirty="0">
                <a:solidFill>
                  <a:srgbClr val="FFFFFF"/>
                </a:solidFill>
                <a:latin typeface="Calibri"/>
              </a:rPr>
              <a:t>Insight: </a:t>
            </a:r>
          </a:p>
          <a:p>
            <a:pPr algn="l"/>
            <a:r>
              <a:rPr sz="1400" b="0" i="0" dirty="0">
                <a:solidFill>
                  <a:srgbClr val="FFFFFF"/>
                </a:solidFill>
                <a:latin typeface="Calibri"/>
              </a:rPr>
              <a:t>P1 patient share fell 66.4% to 51.3%. P3 grew 17.9% to 32.2%. At current rate, P3 will surpass P1 in patient share within 1 to 2 years.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6400800" cy="274320"/>
          </a:xfrm>
          <a:prstGeom prst="rect">
            <a:avLst/>
          </a:prstGeom>
          <a:noFill/>
        </p:spPr>
        <p:txBody>
          <a:bodyPr wrap="square" lIns="45720" tIns="18288" rIns="45720" bIns="18288" anchor="t">
            <a:spAutoFit/>
          </a:bodyPr>
          <a:lstStyle/>
          <a:p>
            <a:pPr algn="l"/>
            <a:r>
              <a:rPr sz="1100" b="1" i="0">
                <a:solidFill>
                  <a:srgbClr val="9E1B32"/>
                </a:solidFill>
                <a:latin typeface="Calibri"/>
              </a:rPr>
              <a:t>Q1 Market Dynamics</a:t>
            </a:r>
          </a:p>
        </p:txBody>
      </p:sp>
      <p:sp>
        <p:nvSpPr>
          <p:cNvPr id="3" name="TextBox 2"/>
          <p:cNvSpPr txBox="1"/>
          <p:nvPr/>
        </p:nvSpPr>
        <p:spPr>
          <a:xfrm>
            <a:off x="502920" y="566928"/>
            <a:ext cx="11247120" cy="777240"/>
          </a:xfrm>
          <a:prstGeom prst="rect">
            <a:avLst/>
          </a:prstGeom>
          <a:noFill/>
        </p:spPr>
        <p:txBody>
          <a:bodyPr wrap="square" lIns="45720" tIns="18288" rIns="45720" bIns="18288" anchor="t">
            <a:spAutoFit/>
          </a:bodyPr>
          <a:lstStyle/>
          <a:p>
            <a:pPr algn="l"/>
            <a:r>
              <a:rPr sz="2800" b="1" i="0">
                <a:solidFill>
                  <a:srgbClr val="1B3A6F"/>
                </a:solidFill>
                <a:latin typeface="Calibri"/>
              </a:rPr>
              <a:t>The Writer Base Is Collapsing. A Leading Indicator.</a:t>
            </a:r>
          </a:p>
        </p:txBody>
      </p:sp>
      <p:pic>
        <p:nvPicPr>
          <p:cNvPr id="4" name="Picture 3" descr="chart3_hcp_share.png"/>
          <p:cNvPicPr>
            <a:picLocks noChangeAspect="1"/>
          </p:cNvPicPr>
          <p:nvPr/>
        </p:nvPicPr>
        <p:blipFill>
          <a:blip r:embed="rId2"/>
          <a:stretch>
            <a:fillRect/>
          </a:stretch>
        </p:blipFill>
        <p:spPr>
          <a:xfrm>
            <a:off x="2667000" y="1417320"/>
            <a:ext cx="6858000" cy="4204496"/>
          </a:xfrm>
          <a:prstGeom prst="rect">
            <a:avLst/>
          </a:prstGeom>
        </p:spPr>
      </p:pic>
      <p:sp>
        <p:nvSpPr>
          <p:cNvPr id="5" name="Rectangle 4"/>
          <p:cNvSpPr/>
          <p:nvPr/>
        </p:nvSpPr>
        <p:spPr>
          <a:xfrm>
            <a:off x="502920" y="5643547"/>
            <a:ext cx="11247120" cy="685800"/>
          </a:xfrm>
          <a:prstGeom prst="rect">
            <a:avLst/>
          </a:prstGeom>
          <a:solidFill>
            <a:srgbClr val="7F1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5752537"/>
            <a:ext cx="10881360" cy="467820"/>
          </a:xfrm>
          <a:prstGeom prst="rect">
            <a:avLst/>
          </a:prstGeom>
          <a:noFill/>
        </p:spPr>
        <p:txBody>
          <a:bodyPr wrap="square" lIns="45720" tIns="18288" rIns="45720" bIns="18288" anchor="ctr">
            <a:spAutoFit/>
          </a:bodyPr>
          <a:lstStyle/>
          <a:p>
            <a:pPr algn="l"/>
            <a:r>
              <a:rPr sz="1400" b="1" i="0" dirty="0">
                <a:solidFill>
                  <a:srgbClr val="FFFFFF"/>
                </a:solidFill>
                <a:latin typeface="Calibri"/>
              </a:rPr>
              <a:t>Insight: </a:t>
            </a:r>
          </a:p>
          <a:p>
            <a:pPr algn="l"/>
            <a:r>
              <a:rPr sz="1400" b="0" i="0" dirty="0">
                <a:solidFill>
                  <a:srgbClr val="FFFFFF"/>
                </a:solidFill>
                <a:latin typeface="Calibri"/>
              </a:rPr>
              <a:t>J2250 writer share fell 23.9% to 15.5%. We are losing HCPs faster than patients. When doctors stop writing a brand, patients follow shortly after.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6400800" cy="274320"/>
          </a:xfrm>
          <a:prstGeom prst="rect">
            <a:avLst/>
          </a:prstGeom>
          <a:noFill/>
        </p:spPr>
        <p:txBody>
          <a:bodyPr wrap="square" lIns="45720" tIns="18288" rIns="45720" bIns="18288" anchor="t">
            <a:spAutoFit/>
          </a:bodyPr>
          <a:lstStyle/>
          <a:p>
            <a:pPr algn="l"/>
            <a:r>
              <a:rPr sz="1100" b="1" i="0">
                <a:solidFill>
                  <a:srgbClr val="9E1B32"/>
                </a:solidFill>
                <a:latin typeface="Calibri"/>
              </a:rPr>
              <a:t>Q1 Market Dynamics</a:t>
            </a:r>
          </a:p>
        </p:txBody>
      </p:sp>
      <p:sp>
        <p:nvSpPr>
          <p:cNvPr id="3" name="TextBox 2"/>
          <p:cNvSpPr txBox="1"/>
          <p:nvPr/>
        </p:nvSpPr>
        <p:spPr>
          <a:xfrm>
            <a:off x="502920" y="566928"/>
            <a:ext cx="11247120" cy="777240"/>
          </a:xfrm>
          <a:prstGeom prst="rect">
            <a:avLst/>
          </a:prstGeom>
          <a:noFill/>
        </p:spPr>
        <p:txBody>
          <a:bodyPr wrap="square" lIns="45720" tIns="18288" rIns="45720" bIns="18288" anchor="t">
            <a:spAutoFit/>
          </a:bodyPr>
          <a:lstStyle/>
          <a:p>
            <a:pPr algn="l"/>
            <a:r>
              <a:rPr sz="2800" b="1" i="0">
                <a:solidFill>
                  <a:srgbClr val="1B3A6F"/>
                </a:solidFill>
                <a:latin typeface="Calibri"/>
              </a:rPr>
              <a:t>P3 Writers Are Now 2.3x More Productive Than Ours</a:t>
            </a:r>
          </a:p>
        </p:txBody>
      </p:sp>
      <p:pic>
        <p:nvPicPr>
          <p:cNvPr id="4" name="Picture 3" descr="chart4_claims_per_hcp.png"/>
          <p:cNvPicPr>
            <a:picLocks noChangeAspect="1"/>
          </p:cNvPicPr>
          <p:nvPr/>
        </p:nvPicPr>
        <p:blipFill>
          <a:blip r:embed="rId2"/>
          <a:stretch>
            <a:fillRect/>
          </a:stretch>
        </p:blipFill>
        <p:spPr>
          <a:xfrm>
            <a:off x="2438400" y="1045165"/>
            <a:ext cx="7315200" cy="4606344"/>
          </a:xfrm>
          <a:prstGeom prst="rect">
            <a:avLst/>
          </a:prstGeom>
        </p:spPr>
      </p:pic>
      <p:sp>
        <p:nvSpPr>
          <p:cNvPr id="5" name="Rectangle 4"/>
          <p:cNvSpPr/>
          <p:nvPr/>
        </p:nvSpPr>
        <p:spPr>
          <a:xfrm>
            <a:off x="502920" y="5664813"/>
            <a:ext cx="11247120" cy="685800"/>
          </a:xfrm>
          <a:prstGeom prst="rect">
            <a:avLst/>
          </a:prstGeom>
          <a:solidFill>
            <a:srgbClr val="7F1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5773803"/>
            <a:ext cx="10881360" cy="467820"/>
          </a:xfrm>
          <a:prstGeom prst="rect">
            <a:avLst/>
          </a:prstGeom>
          <a:noFill/>
        </p:spPr>
        <p:txBody>
          <a:bodyPr wrap="square" lIns="45720" tIns="18288" rIns="45720" bIns="18288" anchor="ctr">
            <a:spAutoFit/>
          </a:bodyPr>
          <a:lstStyle/>
          <a:p>
            <a:pPr algn="l"/>
            <a:r>
              <a:rPr sz="1400" b="1" i="0" dirty="0">
                <a:solidFill>
                  <a:srgbClr val="FFFFFF"/>
                </a:solidFill>
                <a:latin typeface="Calibri"/>
              </a:rPr>
              <a:t>Insight: </a:t>
            </a:r>
          </a:p>
          <a:p>
            <a:pPr algn="l"/>
            <a:r>
              <a:rPr sz="1400" b="0" i="0" dirty="0">
                <a:solidFill>
                  <a:srgbClr val="FFFFFF"/>
                </a:solidFill>
                <a:latin typeface="Calibri"/>
              </a:rPr>
              <a:t>P3 climbed 1.77 to 3.45 claims per HCP. P2 stuck at about 1.4. P2 writers try once and stop. P3 writers are deepening clinical adoption.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6400800" cy="274320"/>
          </a:xfrm>
          <a:prstGeom prst="rect">
            <a:avLst/>
          </a:prstGeom>
          <a:noFill/>
        </p:spPr>
        <p:txBody>
          <a:bodyPr wrap="square" lIns="45720" tIns="18288" rIns="45720" bIns="18288" anchor="t">
            <a:spAutoFit/>
          </a:bodyPr>
          <a:lstStyle/>
          <a:p>
            <a:pPr algn="l"/>
            <a:r>
              <a:rPr sz="1100" b="1" i="0">
                <a:solidFill>
                  <a:srgbClr val="9E1B32"/>
                </a:solidFill>
                <a:latin typeface="Calibri"/>
              </a:rPr>
              <a:t>Q1 Market Dynamics</a:t>
            </a:r>
          </a:p>
        </p:txBody>
      </p:sp>
      <p:sp>
        <p:nvSpPr>
          <p:cNvPr id="3" name="TextBox 2"/>
          <p:cNvSpPr txBox="1"/>
          <p:nvPr/>
        </p:nvSpPr>
        <p:spPr>
          <a:xfrm>
            <a:off x="502920" y="566928"/>
            <a:ext cx="11247120" cy="777240"/>
          </a:xfrm>
          <a:prstGeom prst="rect">
            <a:avLst/>
          </a:prstGeom>
          <a:noFill/>
        </p:spPr>
        <p:txBody>
          <a:bodyPr wrap="square" lIns="45720" tIns="18288" rIns="45720" bIns="18288" anchor="t">
            <a:spAutoFit/>
          </a:bodyPr>
          <a:lstStyle/>
          <a:p>
            <a:pPr algn="l"/>
            <a:r>
              <a:rPr sz="2800" b="1" i="0">
                <a:solidFill>
                  <a:srgbClr val="1B3A6F"/>
                </a:solidFill>
                <a:latin typeface="Calibri"/>
              </a:rPr>
              <a:t>P3 Doctors Build Patient Panels. P2 Doctors Do Not.</a:t>
            </a:r>
          </a:p>
        </p:txBody>
      </p:sp>
      <p:pic>
        <p:nvPicPr>
          <p:cNvPr id="4" name="Picture 3" descr="chart5_patients_per_hcp.png"/>
          <p:cNvPicPr>
            <a:picLocks noChangeAspect="1"/>
          </p:cNvPicPr>
          <p:nvPr/>
        </p:nvPicPr>
        <p:blipFill>
          <a:blip r:embed="rId2"/>
          <a:stretch>
            <a:fillRect/>
          </a:stretch>
        </p:blipFill>
        <p:spPr>
          <a:xfrm>
            <a:off x="2468880" y="955548"/>
            <a:ext cx="7315200" cy="4606344"/>
          </a:xfrm>
          <a:prstGeom prst="rect">
            <a:avLst/>
          </a:prstGeom>
        </p:spPr>
      </p:pic>
      <p:sp>
        <p:nvSpPr>
          <p:cNvPr id="5" name="Rectangle 4"/>
          <p:cNvSpPr/>
          <p:nvPr/>
        </p:nvSpPr>
        <p:spPr>
          <a:xfrm>
            <a:off x="502920" y="5603354"/>
            <a:ext cx="11247120" cy="685800"/>
          </a:xfrm>
          <a:prstGeom prst="rect">
            <a:avLst/>
          </a:prstGeom>
          <a:solidFill>
            <a:srgbClr val="7F1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5712344"/>
            <a:ext cx="10881360" cy="467820"/>
          </a:xfrm>
          <a:prstGeom prst="rect">
            <a:avLst/>
          </a:prstGeom>
          <a:noFill/>
        </p:spPr>
        <p:txBody>
          <a:bodyPr wrap="square" lIns="45720" tIns="18288" rIns="45720" bIns="18288" anchor="ctr">
            <a:spAutoFit/>
          </a:bodyPr>
          <a:lstStyle/>
          <a:p>
            <a:pPr algn="l"/>
            <a:r>
              <a:rPr sz="1400" b="1" i="0" dirty="0">
                <a:solidFill>
                  <a:srgbClr val="FFFFFF"/>
                </a:solidFill>
                <a:latin typeface="Calibri"/>
              </a:rPr>
              <a:t>Insight: </a:t>
            </a:r>
          </a:p>
          <a:p>
            <a:pPr algn="l"/>
            <a:r>
              <a:rPr sz="1400" b="0" i="0" dirty="0">
                <a:solidFill>
                  <a:srgbClr val="FFFFFF"/>
                </a:solidFill>
                <a:latin typeface="Calibri"/>
              </a:rPr>
              <a:t>P3 patients per HCP grew 1.58 to 2.71. P2 stuck at 1.22 and falling. Multi patient panels embed a brand into clinical routine.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6400800" cy="274320"/>
          </a:xfrm>
          <a:prstGeom prst="rect">
            <a:avLst/>
          </a:prstGeom>
          <a:noFill/>
        </p:spPr>
        <p:txBody>
          <a:bodyPr wrap="square" lIns="45720" tIns="18288" rIns="45720" bIns="18288" anchor="t">
            <a:spAutoFit/>
          </a:bodyPr>
          <a:lstStyle/>
          <a:p>
            <a:pPr algn="l"/>
            <a:r>
              <a:rPr sz="1100" b="1" i="0">
                <a:solidFill>
                  <a:srgbClr val="9E1B32"/>
                </a:solidFill>
                <a:latin typeface="Calibri"/>
              </a:rPr>
              <a:t>Q1 Market Dynamics</a:t>
            </a:r>
          </a:p>
        </p:txBody>
      </p:sp>
      <p:sp>
        <p:nvSpPr>
          <p:cNvPr id="3" name="TextBox 2"/>
          <p:cNvSpPr txBox="1"/>
          <p:nvPr/>
        </p:nvSpPr>
        <p:spPr>
          <a:xfrm>
            <a:off x="502920" y="566928"/>
            <a:ext cx="11247120" cy="777240"/>
          </a:xfrm>
          <a:prstGeom prst="rect">
            <a:avLst/>
          </a:prstGeom>
          <a:noFill/>
        </p:spPr>
        <p:txBody>
          <a:bodyPr wrap="square" lIns="45720" tIns="18288" rIns="45720" bIns="18288" anchor="t">
            <a:spAutoFit/>
          </a:bodyPr>
          <a:lstStyle/>
          <a:p>
            <a:pPr algn="l"/>
            <a:r>
              <a:rPr sz="2800" b="1" i="0">
                <a:solidFill>
                  <a:srgbClr val="1B3A6F"/>
                </a:solidFill>
                <a:latin typeface="Calibri"/>
              </a:rPr>
              <a:t>Five Territories Lost Over Half Their J2250 Volume in One Year</a:t>
            </a:r>
          </a:p>
        </p:txBody>
      </p:sp>
      <p:pic>
        <p:nvPicPr>
          <p:cNvPr id="4" name="Picture 3" descr="chart6_j2250_top5.png"/>
          <p:cNvPicPr>
            <a:picLocks noChangeAspect="1"/>
          </p:cNvPicPr>
          <p:nvPr/>
        </p:nvPicPr>
        <p:blipFill>
          <a:blip r:embed="rId2"/>
          <a:stretch>
            <a:fillRect/>
          </a:stretch>
        </p:blipFill>
        <p:spPr>
          <a:xfrm>
            <a:off x="2051832" y="1321837"/>
            <a:ext cx="8088336" cy="4214326"/>
          </a:xfrm>
          <a:prstGeom prst="rect">
            <a:avLst/>
          </a:prstGeom>
        </p:spPr>
      </p:pic>
      <p:sp>
        <p:nvSpPr>
          <p:cNvPr id="5" name="Rectangle 4"/>
          <p:cNvSpPr/>
          <p:nvPr/>
        </p:nvSpPr>
        <p:spPr>
          <a:xfrm>
            <a:off x="502920" y="5632914"/>
            <a:ext cx="11247120" cy="685800"/>
          </a:xfrm>
          <a:prstGeom prst="rect">
            <a:avLst/>
          </a:prstGeom>
          <a:solidFill>
            <a:srgbClr val="7F1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5634182"/>
            <a:ext cx="10881360" cy="683264"/>
          </a:xfrm>
          <a:prstGeom prst="rect">
            <a:avLst/>
          </a:prstGeom>
          <a:noFill/>
        </p:spPr>
        <p:txBody>
          <a:bodyPr wrap="square" lIns="45720" tIns="18288" rIns="45720" bIns="18288" anchor="ctr">
            <a:spAutoFit/>
          </a:bodyPr>
          <a:lstStyle/>
          <a:p>
            <a:pPr algn="l"/>
            <a:r>
              <a:rPr sz="1400" b="1" i="0" dirty="0">
                <a:solidFill>
                  <a:srgbClr val="FFFFFF"/>
                </a:solidFill>
                <a:latin typeface="Calibri"/>
              </a:rPr>
              <a:t>Insight: </a:t>
            </a:r>
          </a:p>
          <a:p>
            <a:pPr algn="l"/>
            <a:r>
              <a:rPr sz="1400" b="0" i="0" dirty="0">
                <a:solidFill>
                  <a:srgbClr val="FFFFFF"/>
                </a:solidFill>
                <a:latin typeface="Calibri"/>
              </a:rPr>
              <a:t>St. Louis (minus 72.7%), Phoenix (minus 70%), LA San Diego (minus 57.9%), New York (minus 57.5%), Minneapolis (minus 53.3%). All collapsed in 2017 to 2018.</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6400800" cy="274320"/>
          </a:xfrm>
          <a:prstGeom prst="rect">
            <a:avLst/>
          </a:prstGeom>
          <a:noFill/>
        </p:spPr>
        <p:txBody>
          <a:bodyPr wrap="square" lIns="45720" tIns="18288" rIns="45720" bIns="18288" anchor="t">
            <a:spAutoFit/>
          </a:bodyPr>
          <a:lstStyle/>
          <a:p>
            <a:pPr algn="l"/>
            <a:r>
              <a:rPr sz="1100" b="1" i="0">
                <a:solidFill>
                  <a:srgbClr val="9E1B32"/>
                </a:solidFill>
                <a:latin typeface="Calibri"/>
              </a:rPr>
              <a:t>Q1 Market Dynamics</a:t>
            </a:r>
          </a:p>
        </p:txBody>
      </p:sp>
      <p:sp>
        <p:nvSpPr>
          <p:cNvPr id="3" name="TextBox 2"/>
          <p:cNvSpPr txBox="1"/>
          <p:nvPr/>
        </p:nvSpPr>
        <p:spPr>
          <a:xfrm>
            <a:off x="502920" y="566928"/>
            <a:ext cx="11247120" cy="777240"/>
          </a:xfrm>
          <a:prstGeom prst="rect">
            <a:avLst/>
          </a:prstGeom>
          <a:noFill/>
        </p:spPr>
        <p:txBody>
          <a:bodyPr wrap="square" lIns="45720" tIns="18288" rIns="45720" bIns="18288" anchor="t">
            <a:spAutoFit/>
          </a:bodyPr>
          <a:lstStyle/>
          <a:p>
            <a:pPr algn="l"/>
            <a:r>
              <a:rPr sz="2800" b="1" i="0">
                <a:solidFill>
                  <a:srgbClr val="1B3A6F"/>
                </a:solidFill>
                <a:latin typeface="Calibri"/>
              </a:rPr>
              <a:t>J3010 Grew in Every Single One of Those Territories</a:t>
            </a:r>
          </a:p>
        </p:txBody>
      </p:sp>
      <p:pic>
        <p:nvPicPr>
          <p:cNvPr id="4" name="Picture 3" descr="chart7_j3010_top5.png"/>
          <p:cNvPicPr>
            <a:picLocks noChangeAspect="1"/>
          </p:cNvPicPr>
          <p:nvPr/>
        </p:nvPicPr>
        <p:blipFill>
          <a:blip r:embed="rId2"/>
          <a:stretch>
            <a:fillRect/>
          </a:stretch>
        </p:blipFill>
        <p:spPr>
          <a:xfrm>
            <a:off x="2154110" y="1344168"/>
            <a:ext cx="7883780" cy="4117237"/>
          </a:xfrm>
          <a:prstGeom prst="rect">
            <a:avLst/>
          </a:prstGeom>
        </p:spPr>
      </p:pic>
      <p:sp>
        <p:nvSpPr>
          <p:cNvPr id="5" name="Rectangle 4"/>
          <p:cNvSpPr/>
          <p:nvPr/>
        </p:nvSpPr>
        <p:spPr>
          <a:xfrm>
            <a:off x="502920" y="5643547"/>
            <a:ext cx="11247120" cy="685800"/>
          </a:xfrm>
          <a:prstGeom prst="rect">
            <a:avLst/>
          </a:prstGeom>
          <a:solidFill>
            <a:srgbClr val="7F1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5752537"/>
            <a:ext cx="10881360" cy="467820"/>
          </a:xfrm>
          <a:prstGeom prst="rect">
            <a:avLst/>
          </a:prstGeom>
          <a:noFill/>
        </p:spPr>
        <p:txBody>
          <a:bodyPr wrap="square" lIns="45720" tIns="18288" rIns="45720" bIns="18288" anchor="ctr">
            <a:spAutoFit/>
          </a:bodyPr>
          <a:lstStyle/>
          <a:p>
            <a:pPr algn="l"/>
            <a:r>
              <a:rPr sz="1400" b="1" i="0" dirty="0">
                <a:solidFill>
                  <a:srgbClr val="FFFFFF"/>
                </a:solidFill>
                <a:latin typeface="Calibri"/>
              </a:rPr>
              <a:t>Insight: </a:t>
            </a:r>
          </a:p>
          <a:p>
            <a:pPr algn="l"/>
            <a:r>
              <a:rPr sz="1400" b="0" i="0" dirty="0">
                <a:solidFill>
                  <a:srgbClr val="FFFFFF"/>
                </a:solidFill>
                <a:latin typeface="Calibri"/>
              </a:rPr>
              <a:t>New York: 33 to 153 claims (plus 364%). LA San Diego: 55 to 99 (plus 80%). Direct competitive capture, not market shrinkage.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6400800" cy="274320"/>
          </a:xfrm>
          <a:prstGeom prst="rect">
            <a:avLst/>
          </a:prstGeom>
          <a:noFill/>
        </p:spPr>
        <p:txBody>
          <a:bodyPr wrap="square" lIns="45720" tIns="18288" rIns="45720" bIns="18288" anchor="t">
            <a:spAutoFit/>
          </a:bodyPr>
          <a:lstStyle/>
          <a:p>
            <a:pPr algn="l"/>
            <a:r>
              <a:rPr sz="1100" b="1" i="0">
                <a:solidFill>
                  <a:srgbClr val="9E1B32"/>
                </a:solidFill>
                <a:latin typeface="Calibri"/>
              </a:rPr>
              <a:t>Q1 Market Dynamics</a:t>
            </a:r>
          </a:p>
        </p:txBody>
      </p:sp>
      <p:sp>
        <p:nvSpPr>
          <p:cNvPr id="3" name="TextBox 2"/>
          <p:cNvSpPr txBox="1"/>
          <p:nvPr/>
        </p:nvSpPr>
        <p:spPr>
          <a:xfrm>
            <a:off x="502920" y="566928"/>
            <a:ext cx="11247120" cy="777240"/>
          </a:xfrm>
          <a:prstGeom prst="rect">
            <a:avLst/>
          </a:prstGeom>
          <a:noFill/>
        </p:spPr>
        <p:txBody>
          <a:bodyPr wrap="square" lIns="45720" tIns="18288" rIns="45720" bIns="18288" anchor="t">
            <a:spAutoFit/>
          </a:bodyPr>
          <a:lstStyle/>
          <a:p>
            <a:pPr algn="l"/>
            <a:r>
              <a:rPr sz="2800" b="1" i="0">
                <a:solidFill>
                  <a:srgbClr val="1B3A6F"/>
                </a:solidFill>
                <a:latin typeface="Calibri"/>
              </a:rPr>
              <a:t>Direct Competitive Displacement, Proven Territory by Territory</a:t>
            </a:r>
          </a:p>
        </p:txBody>
      </p:sp>
      <p:pic>
        <p:nvPicPr>
          <p:cNvPr id="4" name="Picture 3" descr="chart_mirror.png"/>
          <p:cNvPicPr>
            <a:picLocks noChangeAspect="1"/>
          </p:cNvPicPr>
          <p:nvPr/>
        </p:nvPicPr>
        <p:blipFill>
          <a:blip r:embed="rId2"/>
          <a:stretch>
            <a:fillRect/>
          </a:stretch>
        </p:blipFill>
        <p:spPr>
          <a:xfrm>
            <a:off x="1939058" y="1137684"/>
            <a:ext cx="8313883" cy="4293509"/>
          </a:xfrm>
          <a:prstGeom prst="rect">
            <a:avLst/>
          </a:prstGeom>
        </p:spPr>
      </p:pic>
      <p:sp>
        <p:nvSpPr>
          <p:cNvPr id="5" name="Rectangle 4"/>
          <p:cNvSpPr/>
          <p:nvPr/>
        </p:nvSpPr>
        <p:spPr>
          <a:xfrm>
            <a:off x="502920" y="5643547"/>
            <a:ext cx="11247120" cy="685800"/>
          </a:xfrm>
          <a:prstGeom prst="rect">
            <a:avLst/>
          </a:prstGeom>
          <a:solidFill>
            <a:srgbClr val="7F1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5644815"/>
            <a:ext cx="10881360" cy="683264"/>
          </a:xfrm>
          <a:prstGeom prst="rect">
            <a:avLst/>
          </a:prstGeom>
          <a:noFill/>
        </p:spPr>
        <p:txBody>
          <a:bodyPr wrap="square" lIns="45720" tIns="18288" rIns="45720" bIns="18288" anchor="ctr">
            <a:spAutoFit/>
          </a:bodyPr>
          <a:lstStyle/>
          <a:p>
            <a:pPr algn="l"/>
            <a:r>
              <a:rPr sz="1400" b="1" i="0" dirty="0">
                <a:solidFill>
                  <a:srgbClr val="FFFFFF"/>
                </a:solidFill>
                <a:latin typeface="Calibri"/>
              </a:rPr>
              <a:t>Insight: </a:t>
            </a:r>
          </a:p>
          <a:p>
            <a:pPr algn="l"/>
            <a:r>
              <a:rPr sz="1400" b="0" i="0" dirty="0">
                <a:solidFill>
                  <a:srgbClr val="FFFFFF"/>
                </a:solidFill>
                <a:latin typeface="Calibri"/>
              </a:rPr>
              <a:t>J2250 lost 76 claims across the five territories in 2017 to 2018. J3010 gained 121 in the same markets. The transfer is direct, asymmetric, and accelerating.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9E1B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914400"/>
            <a:ext cx="3200400" cy="2286000"/>
          </a:xfrm>
          <a:prstGeom prst="rect">
            <a:avLst/>
          </a:prstGeom>
          <a:noFill/>
        </p:spPr>
        <p:txBody>
          <a:bodyPr wrap="square" lIns="45720" tIns="18288" rIns="45720" bIns="18288" anchor="t">
            <a:spAutoFit/>
          </a:bodyPr>
          <a:lstStyle/>
          <a:p>
            <a:pPr algn="l"/>
            <a:r>
              <a:rPr sz="16000" b="1" i="0">
                <a:solidFill>
                  <a:srgbClr val="FFFFFF"/>
                </a:solidFill>
                <a:latin typeface="Calibri"/>
              </a:rPr>
              <a:t>02</a:t>
            </a:r>
          </a:p>
        </p:txBody>
      </p:sp>
      <p:sp>
        <p:nvSpPr>
          <p:cNvPr id="4" name="Rectangle 3"/>
          <p:cNvSpPr/>
          <p:nvPr/>
        </p:nvSpPr>
        <p:spPr>
          <a:xfrm>
            <a:off x="4297680" y="1463040"/>
            <a:ext cx="45720"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0" y="1463040"/>
            <a:ext cx="7315200" cy="548640"/>
          </a:xfrm>
          <a:prstGeom prst="rect">
            <a:avLst/>
          </a:prstGeom>
          <a:noFill/>
        </p:spPr>
        <p:txBody>
          <a:bodyPr wrap="square" lIns="45720" tIns="18288" rIns="45720" bIns="18288" anchor="t">
            <a:spAutoFit/>
          </a:bodyPr>
          <a:lstStyle/>
          <a:p>
            <a:pPr algn="l"/>
            <a:r>
              <a:rPr sz="1400" b="1" i="0" dirty="0">
                <a:solidFill>
                  <a:srgbClr val="FFFFFF"/>
                </a:solidFill>
                <a:latin typeface="Calibri"/>
              </a:rPr>
              <a:t>SECTION 2</a:t>
            </a:r>
          </a:p>
        </p:txBody>
      </p:sp>
      <p:sp>
        <p:nvSpPr>
          <p:cNvPr id="6" name="TextBox 5"/>
          <p:cNvSpPr txBox="1"/>
          <p:nvPr/>
        </p:nvSpPr>
        <p:spPr>
          <a:xfrm>
            <a:off x="4572000" y="1874519"/>
            <a:ext cx="7315200" cy="1463040"/>
          </a:xfrm>
          <a:prstGeom prst="rect">
            <a:avLst/>
          </a:prstGeom>
          <a:noFill/>
        </p:spPr>
        <p:txBody>
          <a:bodyPr wrap="square" lIns="45720" tIns="18288" rIns="45720" bIns="18288" anchor="t">
            <a:spAutoFit/>
          </a:bodyPr>
          <a:lstStyle/>
          <a:p>
            <a:pPr algn="l">
              <a:lnSpc>
                <a:spcPct val="100000"/>
              </a:lnSpc>
            </a:pPr>
            <a:r>
              <a:rPr sz="3600" b="1" i="0">
                <a:solidFill>
                  <a:srgbClr val="FFFFFF"/>
                </a:solidFill>
                <a:latin typeface="Calibri"/>
              </a:rPr>
              <a:t>Q2 Market Drivers</a:t>
            </a:r>
          </a:p>
        </p:txBody>
      </p:sp>
      <p:sp>
        <p:nvSpPr>
          <p:cNvPr id="7" name="TextBox 6"/>
          <p:cNvSpPr txBox="1"/>
          <p:nvPr/>
        </p:nvSpPr>
        <p:spPr>
          <a:xfrm>
            <a:off x="4572000" y="2606040"/>
            <a:ext cx="7315200" cy="1463040"/>
          </a:xfrm>
          <a:prstGeom prst="rect">
            <a:avLst/>
          </a:prstGeom>
          <a:noFill/>
        </p:spPr>
        <p:txBody>
          <a:bodyPr wrap="square" lIns="45720" tIns="18288" rIns="45720" bIns="18288" anchor="t">
            <a:spAutoFit/>
          </a:bodyPr>
          <a:lstStyle/>
          <a:p>
            <a:pPr algn="l">
              <a:lnSpc>
                <a:spcPct val="100000"/>
              </a:lnSpc>
            </a:pPr>
            <a:r>
              <a:rPr sz="3600" b="1" i="0">
                <a:solidFill>
                  <a:srgbClr val="FFFFFF"/>
                </a:solidFill>
                <a:latin typeface="Calibri"/>
              </a:rPr>
              <a:t>What Is Pulling the Market</a:t>
            </a:r>
          </a:p>
        </p:txBody>
      </p:sp>
      <p:sp>
        <p:nvSpPr>
          <p:cNvPr id="10" name="TextBox 9">
            <a:extLst>
              <a:ext uri="{FF2B5EF4-FFF2-40B4-BE49-F238E27FC236}">
                <a16:creationId xmlns:a16="http://schemas.microsoft.com/office/drawing/2014/main" id="{08676B5D-53A0-9DCB-4D60-C487EC02FFD2}"/>
              </a:ext>
            </a:extLst>
          </p:cNvPr>
          <p:cNvSpPr txBox="1"/>
          <p:nvPr/>
        </p:nvSpPr>
        <p:spPr>
          <a:xfrm>
            <a:off x="4650377" y="5738949"/>
            <a:ext cx="7315200" cy="252377"/>
          </a:xfrm>
          <a:prstGeom prst="rect">
            <a:avLst/>
          </a:prstGeom>
          <a:noFill/>
        </p:spPr>
        <p:txBody>
          <a:bodyPr wrap="square" lIns="45720" tIns="18288" rIns="45720" bIns="18288" anchor="t">
            <a:spAutoFit/>
          </a:bodyPr>
          <a:lstStyle/>
          <a:p>
            <a:pPr lvl="4" algn="r"/>
            <a:r>
              <a:rPr lang="en-US" sz="1400" b="1" i="0" dirty="0">
                <a:solidFill>
                  <a:srgbClr val="FFFFFF"/>
                </a:solidFill>
                <a:latin typeface="Calibri"/>
              </a:rPr>
              <a:t>William </a:t>
            </a:r>
            <a:r>
              <a:rPr lang="en-US" sz="1400" b="1" i="0" dirty="0" err="1">
                <a:solidFill>
                  <a:srgbClr val="FFFFFF"/>
                </a:solidFill>
                <a:latin typeface="Calibri"/>
              </a:rPr>
              <a:t>Reccoppa</a:t>
            </a:r>
            <a:endParaRPr sz="1400" b="1" i="0" dirty="0">
              <a:solidFill>
                <a:srgbClr val="FFFFFF"/>
              </a:solidFill>
              <a:latin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6400800" cy="274320"/>
          </a:xfrm>
          <a:prstGeom prst="rect">
            <a:avLst/>
          </a:prstGeom>
          <a:noFill/>
        </p:spPr>
        <p:txBody>
          <a:bodyPr wrap="square" lIns="45720" tIns="18288" rIns="45720" bIns="18288" anchor="t">
            <a:spAutoFit/>
          </a:bodyPr>
          <a:lstStyle/>
          <a:p>
            <a:pPr algn="l"/>
            <a:r>
              <a:rPr sz="1100" b="1" i="0">
                <a:solidFill>
                  <a:srgbClr val="9E1B32"/>
                </a:solidFill>
                <a:latin typeface="Calibri"/>
              </a:rPr>
              <a:t>Q2 Market Drivers</a:t>
            </a:r>
          </a:p>
        </p:txBody>
      </p:sp>
      <p:sp>
        <p:nvSpPr>
          <p:cNvPr id="3" name="TextBox 2"/>
          <p:cNvSpPr txBox="1"/>
          <p:nvPr/>
        </p:nvSpPr>
        <p:spPr>
          <a:xfrm>
            <a:off x="502920" y="566928"/>
            <a:ext cx="11247120" cy="777240"/>
          </a:xfrm>
          <a:prstGeom prst="rect">
            <a:avLst/>
          </a:prstGeom>
          <a:noFill/>
        </p:spPr>
        <p:txBody>
          <a:bodyPr wrap="square" lIns="45720" tIns="18288" rIns="45720" bIns="18288" anchor="t">
            <a:spAutoFit/>
          </a:bodyPr>
          <a:lstStyle/>
          <a:p>
            <a:pPr algn="l"/>
            <a:r>
              <a:rPr sz="2800" b="1" i="0">
                <a:solidFill>
                  <a:srgbClr val="1B3A6F"/>
                </a:solidFill>
                <a:latin typeface="Calibri"/>
              </a:rPr>
              <a:t>48% of Claims Are Tied to Circulatory Diagnoses</a:t>
            </a:r>
          </a:p>
        </p:txBody>
      </p:sp>
      <p:sp>
        <p:nvSpPr>
          <p:cNvPr id="5" name="Rectangle 4"/>
          <p:cNvSpPr/>
          <p:nvPr/>
        </p:nvSpPr>
        <p:spPr>
          <a:xfrm>
            <a:off x="502920" y="5571455"/>
            <a:ext cx="11247120" cy="685800"/>
          </a:xfrm>
          <a:prstGeom prst="rect">
            <a:avLst/>
          </a:prstGeom>
          <a:solidFill>
            <a:srgbClr val="7F1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5572723"/>
            <a:ext cx="10881360" cy="683264"/>
          </a:xfrm>
          <a:prstGeom prst="rect">
            <a:avLst/>
          </a:prstGeom>
          <a:noFill/>
        </p:spPr>
        <p:txBody>
          <a:bodyPr wrap="square" lIns="45720" tIns="18288" rIns="45720" bIns="18288" anchor="ctr">
            <a:spAutoFit/>
          </a:bodyPr>
          <a:lstStyle/>
          <a:p>
            <a:pPr algn="l"/>
            <a:r>
              <a:rPr sz="1400" b="1" i="0" dirty="0">
                <a:solidFill>
                  <a:srgbClr val="FFFFFF"/>
                </a:solidFill>
                <a:latin typeface="Calibri"/>
              </a:rPr>
              <a:t>Insight: </a:t>
            </a:r>
          </a:p>
          <a:p>
            <a:pPr algn="l"/>
            <a:r>
              <a:rPr sz="1400" b="0" i="0" dirty="0">
                <a:solidFill>
                  <a:srgbClr val="FFFFFF"/>
                </a:solidFill>
                <a:latin typeface="Calibri"/>
              </a:rPr>
              <a:t>This is a cardiovascular dominant market. Anchor every clinical detail aid for J2250 in cardiovascular outcomes. If differentiated CV evidence is missing, generate it.</a:t>
            </a:r>
          </a:p>
        </p:txBody>
      </p:sp>
      <p:pic>
        <p:nvPicPr>
          <p:cNvPr id="7" name="Picture 6">
            <a:extLst>
              <a:ext uri="{FF2B5EF4-FFF2-40B4-BE49-F238E27FC236}">
                <a16:creationId xmlns:a16="http://schemas.microsoft.com/office/drawing/2014/main" id="{E0B54E42-6BCD-A8EC-1F66-10798E174CCA}"/>
              </a:ext>
            </a:extLst>
          </p:cNvPr>
          <p:cNvPicPr>
            <a:picLocks noChangeAspect="1"/>
          </p:cNvPicPr>
          <p:nvPr/>
        </p:nvPicPr>
        <p:blipFill>
          <a:blip r:embed="rId2"/>
          <a:stretch>
            <a:fillRect/>
          </a:stretch>
        </p:blipFill>
        <p:spPr>
          <a:xfrm>
            <a:off x="967943" y="1259108"/>
            <a:ext cx="10256113" cy="409970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6400800" cy="274320"/>
          </a:xfrm>
          <a:prstGeom prst="rect">
            <a:avLst/>
          </a:prstGeom>
          <a:noFill/>
        </p:spPr>
        <p:txBody>
          <a:bodyPr wrap="square" lIns="45720" tIns="18288" rIns="45720" bIns="18288" anchor="t">
            <a:spAutoFit/>
          </a:bodyPr>
          <a:lstStyle/>
          <a:p>
            <a:pPr algn="l"/>
            <a:r>
              <a:rPr sz="1100" b="1" i="0">
                <a:solidFill>
                  <a:srgbClr val="9E1B32"/>
                </a:solidFill>
                <a:latin typeface="Calibri"/>
              </a:rPr>
              <a:t>Q2 Market Drivers</a:t>
            </a:r>
          </a:p>
        </p:txBody>
      </p:sp>
      <p:sp>
        <p:nvSpPr>
          <p:cNvPr id="3" name="TextBox 2"/>
          <p:cNvSpPr txBox="1"/>
          <p:nvPr/>
        </p:nvSpPr>
        <p:spPr>
          <a:xfrm>
            <a:off x="502920" y="566928"/>
            <a:ext cx="11247120" cy="777240"/>
          </a:xfrm>
          <a:prstGeom prst="rect">
            <a:avLst/>
          </a:prstGeom>
          <a:noFill/>
        </p:spPr>
        <p:txBody>
          <a:bodyPr wrap="square" lIns="45720" tIns="18288" rIns="45720" bIns="18288" anchor="t">
            <a:spAutoFit/>
          </a:bodyPr>
          <a:lstStyle/>
          <a:p>
            <a:pPr algn="l"/>
            <a:r>
              <a:rPr sz="2800" b="1" i="0">
                <a:solidFill>
                  <a:srgbClr val="1B3A6F"/>
                </a:solidFill>
                <a:latin typeface="Calibri"/>
              </a:rPr>
              <a:t>Anesthesiologists Are 2.5x the Next Specialty. A Must Win Segment.</a:t>
            </a:r>
          </a:p>
        </p:txBody>
      </p:sp>
      <p:pic>
        <p:nvPicPr>
          <p:cNvPr id="4" name="Picture 3" descr="chart9_hcp_specialty.png"/>
          <p:cNvPicPr>
            <a:picLocks noChangeAspect="1"/>
          </p:cNvPicPr>
          <p:nvPr/>
        </p:nvPicPr>
        <p:blipFill>
          <a:blip r:embed="rId2"/>
          <a:stretch>
            <a:fillRect/>
          </a:stretch>
        </p:blipFill>
        <p:spPr>
          <a:xfrm>
            <a:off x="1561570" y="1344168"/>
            <a:ext cx="9068859" cy="4100010"/>
          </a:xfrm>
          <a:prstGeom prst="rect">
            <a:avLst/>
          </a:prstGeom>
        </p:spPr>
      </p:pic>
      <p:sp>
        <p:nvSpPr>
          <p:cNvPr id="5" name="Rectangle 4"/>
          <p:cNvSpPr/>
          <p:nvPr/>
        </p:nvSpPr>
        <p:spPr>
          <a:xfrm>
            <a:off x="502920" y="5571456"/>
            <a:ext cx="11247120" cy="685800"/>
          </a:xfrm>
          <a:prstGeom prst="rect">
            <a:avLst/>
          </a:prstGeom>
          <a:solidFill>
            <a:srgbClr val="7F1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 name="TextBox 5"/>
          <p:cNvSpPr txBox="1"/>
          <p:nvPr/>
        </p:nvSpPr>
        <p:spPr>
          <a:xfrm>
            <a:off x="685800" y="5680446"/>
            <a:ext cx="10881360" cy="467820"/>
          </a:xfrm>
          <a:prstGeom prst="rect">
            <a:avLst/>
          </a:prstGeom>
          <a:noFill/>
        </p:spPr>
        <p:txBody>
          <a:bodyPr wrap="square" lIns="45720" tIns="18288" rIns="45720" bIns="18288" anchor="ctr">
            <a:spAutoFit/>
          </a:bodyPr>
          <a:lstStyle/>
          <a:p>
            <a:pPr algn="l"/>
            <a:r>
              <a:rPr sz="1400" b="1" i="0">
                <a:solidFill>
                  <a:srgbClr val="FFFFFF"/>
                </a:solidFill>
                <a:latin typeface="Calibri"/>
              </a:rPr>
              <a:t>Insight: </a:t>
            </a:r>
          </a:p>
          <a:p>
            <a:pPr algn="l"/>
            <a:r>
              <a:rPr sz="1400" b="0" i="0">
                <a:solidFill>
                  <a:srgbClr val="FFFFFF"/>
                </a:solidFill>
                <a:latin typeface="Calibri"/>
              </a:rPr>
              <a:t>228 anesthesiologists versus 86 cardiologists, 64 orthopedics, 63 GI, 58 neurology. Losing one anesthesiology group can move whole brand volume.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6400800" cy="274320"/>
          </a:xfrm>
          <a:prstGeom prst="rect">
            <a:avLst/>
          </a:prstGeom>
          <a:noFill/>
        </p:spPr>
        <p:txBody>
          <a:bodyPr wrap="square" lIns="45720" tIns="18288" rIns="45720" bIns="18288" anchor="t">
            <a:spAutoFit/>
          </a:bodyPr>
          <a:lstStyle/>
          <a:p>
            <a:pPr algn="l"/>
            <a:r>
              <a:rPr sz="1100" b="1" i="0">
                <a:solidFill>
                  <a:srgbClr val="9E1B32"/>
                </a:solidFill>
                <a:latin typeface="Calibri"/>
              </a:rPr>
              <a:t>Q2 Market Drivers</a:t>
            </a:r>
          </a:p>
        </p:txBody>
      </p:sp>
      <p:sp>
        <p:nvSpPr>
          <p:cNvPr id="3" name="TextBox 2"/>
          <p:cNvSpPr txBox="1"/>
          <p:nvPr/>
        </p:nvSpPr>
        <p:spPr>
          <a:xfrm>
            <a:off x="502920" y="566928"/>
            <a:ext cx="11247120" cy="777240"/>
          </a:xfrm>
          <a:prstGeom prst="rect">
            <a:avLst/>
          </a:prstGeom>
          <a:noFill/>
        </p:spPr>
        <p:txBody>
          <a:bodyPr wrap="square" lIns="45720" tIns="18288" rIns="45720" bIns="18288" anchor="t">
            <a:spAutoFit/>
          </a:bodyPr>
          <a:lstStyle/>
          <a:p>
            <a:pPr algn="l"/>
            <a:r>
              <a:rPr sz="2800" b="1" i="0">
                <a:solidFill>
                  <a:srgbClr val="1B3A6F"/>
                </a:solidFill>
                <a:latin typeface="Calibri"/>
              </a:rPr>
              <a:t>The Core Patient Is 61 to 70. Design Everything Around Them.</a:t>
            </a:r>
          </a:p>
        </p:txBody>
      </p:sp>
      <p:pic>
        <p:nvPicPr>
          <p:cNvPr id="4" name="Picture 3" descr="chart10_11_age.png"/>
          <p:cNvPicPr>
            <a:picLocks noChangeAspect="1"/>
          </p:cNvPicPr>
          <p:nvPr/>
        </p:nvPicPr>
        <p:blipFill>
          <a:blip r:embed="rId2"/>
          <a:stretch>
            <a:fillRect/>
          </a:stretch>
        </p:blipFill>
        <p:spPr>
          <a:xfrm>
            <a:off x="2640419" y="1081329"/>
            <a:ext cx="6911162" cy="4446354"/>
          </a:xfrm>
          <a:prstGeom prst="rect">
            <a:avLst/>
          </a:prstGeom>
        </p:spPr>
      </p:pic>
      <p:sp>
        <p:nvSpPr>
          <p:cNvPr id="5" name="Rectangle 4"/>
          <p:cNvSpPr/>
          <p:nvPr/>
        </p:nvSpPr>
        <p:spPr>
          <a:xfrm>
            <a:off x="502920" y="5645881"/>
            <a:ext cx="11247120" cy="685800"/>
          </a:xfrm>
          <a:prstGeom prst="rect">
            <a:avLst/>
          </a:prstGeom>
          <a:solidFill>
            <a:srgbClr val="7F1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 name="TextBox 5"/>
          <p:cNvSpPr txBox="1"/>
          <p:nvPr/>
        </p:nvSpPr>
        <p:spPr>
          <a:xfrm>
            <a:off x="685800" y="5647149"/>
            <a:ext cx="10881360" cy="683264"/>
          </a:xfrm>
          <a:prstGeom prst="rect">
            <a:avLst/>
          </a:prstGeom>
          <a:noFill/>
        </p:spPr>
        <p:txBody>
          <a:bodyPr wrap="square" lIns="45720" tIns="18288" rIns="45720" bIns="18288" anchor="ctr">
            <a:spAutoFit/>
          </a:bodyPr>
          <a:lstStyle/>
          <a:p>
            <a:pPr algn="l"/>
            <a:r>
              <a:rPr sz="1400" b="1" i="0" dirty="0">
                <a:solidFill>
                  <a:srgbClr val="FFFFFF"/>
                </a:solidFill>
                <a:latin typeface="Calibri"/>
              </a:rPr>
              <a:t>Insight: </a:t>
            </a:r>
          </a:p>
          <a:p>
            <a:pPr algn="l"/>
            <a:r>
              <a:rPr sz="1400" b="0" i="0" dirty="0">
                <a:solidFill>
                  <a:srgbClr val="FFFFFF"/>
                </a:solidFill>
                <a:latin typeface="Calibri"/>
              </a:rPr>
              <a:t>61 to 70 age group: 778 unique patients, 21.2% of all claims. Patients 61 plus generate 54% of total claims. Target older adults first. They generate the most treatment volume.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6400800" cy="274320"/>
          </a:xfrm>
          <a:prstGeom prst="rect">
            <a:avLst/>
          </a:prstGeom>
          <a:noFill/>
        </p:spPr>
        <p:txBody>
          <a:bodyPr wrap="square" lIns="45720" tIns="18288" rIns="45720" bIns="18288" anchor="t">
            <a:spAutoFit/>
          </a:bodyPr>
          <a:lstStyle/>
          <a:p>
            <a:pPr algn="l"/>
            <a:r>
              <a:rPr sz="1100" b="1" i="0">
                <a:solidFill>
                  <a:srgbClr val="9E1B32"/>
                </a:solidFill>
                <a:latin typeface="Calibri"/>
              </a:rPr>
              <a:t>Q2 Market Drivers</a:t>
            </a:r>
          </a:p>
        </p:txBody>
      </p:sp>
      <p:sp>
        <p:nvSpPr>
          <p:cNvPr id="3" name="TextBox 2"/>
          <p:cNvSpPr txBox="1"/>
          <p:nvPr/>
        </p:nvSpPr>
        <p:spPr>
          <a:xfrm>
            <a:off x="502920" y="566928"/>
            <a:ext cx="11247120" cy="777240"/>
          </a:xfrm>
          <a:prstGeom prst="rect">
            <a:avLst/>
          </a:prstGeom>
          <a:noFill/>
        </p:spPr>
        <p:txBody>
          <a:bodyPr wrap="square" lIns="45720" tIns="18288" rIns="45720" bIns="18288" anchor="t">
            <a:spAutoFit/>
          </a:bodyPr>
          <a:lstStyle/>
          <a:p>
            <a:pPr algn="l"/>
            <a:r>
              <a:rPr sz="2800" b="1" i="0">
                <a:solidFill>
                  <a:srgbClr val="1B3A6F"/>
                </a:solidFill>
                <a:latin typeface="Calibri"/>
              </a:rPr>
              <a:t>J2250's New Writer Pipeline Has Nearly Collapsed</a:t>
            </a:r>
          </a:p>
        </p:txBody>
      </p:sp>
      <p:pic>
        <p:nvPicPr>
          <p:cNvPr id="4" name="Picture 3" descr="chart12_new_writers.png"/>
          <p:cNvPicPr>
            <a:picLocks noChangeAspect="1"/>
          </p:cNvPicPr>
          <p:nvPr/>
        </p:nvPicPr>
        <p:blipFill>
          <a:blip r:embed="rId2"/>
          <a:stretch>
            <a:fillRect/>
          </a:stretch>
        </p:blipFill>
        <p:spPr>
          <a:xfrm>
            <a:off x="1909361" y="1344168"/>
            <a:ext cx="8373278" cy="4066410"/>
          </a:xfrm>
          <a:prstGeom prst="rect">
            <a:avLst/>
          </a:prstGeom>
        </p:spPr>
      </p:pic>
      <p:sp>
        <p:nvSpPr>
          <p:cNvPr id="5" name="Rectangle 4"/>
          <p:cNvSpPr/>
          <p:nvPr/>
        </p:nvSpPr>
        <p:spPr>
          <a:xfrm>
            <a:off x="502920" y="5592720"/>
            <a:ext cx="11247120" cy="685800"/>
          </a:xfrm>
          <a:prstGeom prst="rect">
            <a:avLst/>
          </a:prstGeom>
          <a:solidFill>
            <a:srgbClr val="7F1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 name="TextBox 5"/>
          <p:cNvSpPr txBox="1"/>
          <p:nvPr/>
        </p:nvSpPr>
        <p:spPr>
          <a:xfrm>
            <a:off x="685800" y="5701710"/>
            <a:ext cx="10881360" cy="467820"/>
          </a:xfrm>
          <a:prstGeom prst="rect">
            <a:avLst/>
          </a:prstGeom>
          <a:noFill/>
        </p:spPr>
        <p:txBody>
          <a:bodyPr wrap="square" lIns="45720" tIns="18288" rIns="45720" bIns="18288" anchor="ctr">
            <a:spAutoFit/>
          </a:bodyPr>
          <a:lstStyle/>
          <a:p>
            <a:pPr algn="l"/>
            <a:r>
              <a:rPr sz="1400" b="1" i="0">
                <a:solidFill>
                  <a:srgbClr val="FFFFFF"/>
                </a:solidFill>
                <a:latin typeface="Calibri"/>
              </a:rPr>
              <a:t>Insight: </a:t>
            </a:r>
          </a:p>
          <a:p>
            <a:pPr algn="l"/>
            <a:r>
              <a:rPr sz="1400" b="0" i="0">
                <a:solidFill>
                  <a:srgbClr val="FFFFFF"/>
                </a:solidFill>
                <a:latin typeface="Calibri"/>
              </a:rPr>
              <a:t>New writers per year: 285 to 111 to 34. One year from zero acquisitions. Read 2017 and 2018 only. 2016 reflects a data window boundary effect.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6400800" cy="274320"/>
          </a:xfrm>
          <a:prstGeom prst="rect">
            <a:avLst/>
          </a:prstGeom>
          <a:noFill/>
        </p:spPr>
        <p:txBody>
          <a:bodyPr wrap="square" lIns="45720" tIns="18288" rIns="45720" bIns="18288" anchor="t">
            <a:spAutoFit/>
          </a:bodyPr>
          <a:lstStyle/>
          <a:p>
            <a:pPr algn="l"/>
            <a:r>
              <a:rPr sz="1100" b="1" i="0">
                <a:solidFill>
                  <a:srgbClr val="9E1B32"/>
                </a:solidFill>
                <a:latin typeface="Calibri"/>
              </a:rPr>
              <a:t>Q2 Market Drivers</a:t>
            </a:r>
          </a:p>
        </p:txBody>
      </p:sp>
      <p:sp>
        <p:nvSpPr>
          <p:cNvPr id="3" name="TextBox 2"/>
          <p:cNvSpPr txBox="1"/>
          <p:nvPr/>
        </p:nvSpPr>
        <p:spPr>
          <a:xfrm>
            <a:off x="502920" y="566928"/>
            <a:ext cx="11247120" cy="777240"/>
          </a:xfrm>
          <a:prstGeom prst="rect">
            <a:avLst/>
          </a:prstGeom>
          <a:noFill/>
        </p:spPr>
        <p:txBody>
          <a:bodyPr wrap="square" lIns="45720" tIns="18288" rIns="45720" bIns="18288" anchor="t">
            <a:spAutoFit/>
          </a:bodyPr>
          <a:lstStyle/>
          <a:p>
            <a:pPr algn="l"/>
            <a:r>
              <a:rPr sz="2800" b="1" i="0">
                <a:solidFill>
                  <a:srgbClr val="1B3A6F"/>
                </a:solidFill>
                <a:latin typeface="Calibri"/>
              </a:rPr>
              <a:t>Continuing Writers: J3010 Up 32%. J2250 Down 22%.</a:t>
            </a:r>
          </a:p>
        </p:txBody>
      </p:sp>
      <p:pic>
        <p:nvPicPr>
          <p:cNvPr id="4" name="Picture 3" descr="chart13_continuing_writers.png"/>
          <p:cNvPicPr>
            <a:picLocks noChangeAspect="1"/>
          </p:cNvPicPr>
          <p:nvPr/>
        </p:nvPicPr>
        <p:blipFill>
          <a:blip r:embed="rId3"/>
          <a:stretch>
            <a:fillRect/>
          </a:stretch>
        </p:blipFill>
        <p:spPr>
          <a:xfrm>
            <a:off x="2128800" y="1362456"/>
            <a:ext cx="7934399" cy="3803266"/>
          </a:xfrm>
          <a:prstGeom prst="rect">
            <a:avLst/>
          </a:prstGeom>
        </p:spPr>
      </p:pic>
      <p:sp>
        <p:nvSpPr>
          <p:cNvPr id="5" name="Rectangle 4"/>
          <p:cNvSpPr/>
          <p:nvPr/>
        </p:nvSpPr>
        <p:spPr>
          <a:xfrm>
            <a:off x="502920" y="5592719"/>
            <a:ext cx="11247120" cy="685800"/>
          </a:xfrm>
          <a:prstGeom prst="rect">
            <a:avLst/>
          </a:prstGeom>
          <a:solidFill>
            <a:srgbClr val="7F1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 name="TextBox 5"/>
          <p:cNvSpPr txBox="1"/>
          <p:nvPr/>
        </p:nvSpPr>
        <p:spPr>
          <a:xfrm>
            <a:off x="685800" y="5701709"/>
            <a:ext cx="10881360" cy="467820"/>
          </a:xfrm>
          <a:prstGeom prst="rect">
            <a:avLst/>
          </a:prstGeom>
          <a:noFill/>
        </p:spPr>
        <p:txBody>
          <a:bodyPr wrap="square" lIns="45720" tIns="18288" rIns="45720" bIns="18288" anchor="ctr">
            <a:spAutoFit/>
          </a:bodyPr>
          <a:lstStyle/>
          <a:p>
            <a:pPr algn="l"/>
            <a:r>
              <a:rPr sz="1400" b="1" i="0" dirty="0">
                <a:solidFill>
                  <a:srgbClr val="FFFFFF"/>
                </a:solidFill>
                <a:latin typeface="Calibri"/>
              </a:rPr>
              <a:t>Insight: </a:t>
            </a:r>
          </a:p>
          <a:p>
            <a:pPr algn="l"/>
            <a:r>
              <a:rPr sz="1400" b="0" i="0" dirty="0">
                <a:solidFill>
                  <a:srgbClr val="FFFFFF"/>
                </a:solidFill>
                <a:latin typeface="Calibri"/>
              </a:rPr>
              <a:t>J2250 is bleeding writers from both ends. Fewer joining and more leaving. </a:t>
            </a:r>
            <a:r>
              <a:rPr lang="en-US" sz="1400" dirty="0">
                <a:solidFill>
                  <a:srgbClr val="FFFFFF"/>
                </a:solidFill>
                <a:latin typeface="Calibri"/>
              </a:rPr>
              <a:t>R</a:t>
            </a:r>
            <a:r>
              <a:rPr sz="1400" b="0" i="0" dirty="0">
                <a:solidFill>
                  <a:srgbClr val="FFFFFF"/>
                </a:solidFill>
                <a:latin typeface="Calibri"/>
              </a:rPr>
              <a:t>e</a:t>
            </a:r>
            <a:r>
              <a:rPr lang="en-US" sz="1400" b="0" i="0" dirty="0">
                <a:solidFill>
                  <a:srgbClr val="FFFFFF"/>
                </a:solidFill>
                <a:latin typeface="Calibri"/>
              </a:rPr>
              <a:t>-</a:t>
            </a:r>
            <a:r>
              <a:rPr sz="1400" b="0" i="0" dirty="0">
                <a:solidFill>
                  <a:srgbClr val="FFFFFF"/>
                </a:solidFill>
                <a:latin typeface="Calibri"/>
              </a:rPr>
              <a:t>engage the 37 writers who left in 2017 to 2018.</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9E1B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914400"/>
            <a:ext cx="3200400" cy="2286000"/>
          </a:xfrm>
          <a:prstGeom prst="rect">
            <a:avLst/>
          </a:prstGeom>
          <a:noFill/>
        </p:spPr>
        <p:txBody>
          <a:bodyPr wrap="square" lIns="45720" tIns="18288" rIns="45720" bIns="18288" anchor="t">
            <a:spAutoFit/>
          </a:bodyPr>
          <a:lstStyle/>
          <a:p>
            <a:pPr algn="l"/>
            <a:r>
              <a:rPr sz="16000" b="1" i="0">
                <a:solidFill>
                  <a:srgbClr val="FFFFFF"/>
                </a:solidFill>
                <a:latin typeface="Calibri"/>
              </a:rPr>
              <a:t>03</a:t>
            </a:r>
          </a:p>
        </p:txBody>
      </p:sp>
      <p:sp>
        <p:nvSpPr>
          <p:cNvPr id="4" name="Rectangle 3"/>
          <p:cNvSpPr/>
          <p:nvPr/>
        </p:nvSpPr>
        <p:spPr>
          <a:xfrm>
            <a:off x="4297680" y="1463040"/>
            <a:ext cx="45720"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0" y="1463040"/>
            <a:ext cx="7315200" cy="548640"/>
          </a:xfrm>
          <a:prstGeom prst="rect">
            <a:avLst/>
          </a:prstGeom>
          <a:noFill/>
        </p:spPr>
        <p:txBody>
          <a:bodyPr wrap="square" lIns="45720" tIns="18288" rIns="45720" bIns="18288" anchor="t">
            <a:spAutoFit/>
          </a:bodyPr>
          <a:lstStyle/>
          <a:p>
            <a:pPr algn="l"/>
            <a:r>
              <a:rPr sz="1400" b="1" i="0">
                <a:solidFill>
                  <a:srgbClr val="FFFFFF"/>
                </a:solidFill>
                <a:latin typeface="Calibri"/>
              </a:rPr>
              <a:t>SECTION 3</a:t>
            </a:r>
          </a:p>
        </p:txBody>
      </p:sp>
      <p:sp>
        <p:nvSpPr>
          <p:cNvPr id="6" name="TextBox 5"/>
          <p:cNvSpPr txBox="1"/>
          <p:nvPr/>
        </p:nvSpPr>
        <p:spPr>
          <a:xfrm>
            <a:off x="4572000" y="1874519"/>
            <a:ext cx="7315200" cy="590931"/>
          </a:xfrm>
          <a:prstGeom prst="rect">
            <a:avLst/>
          </a:prstGeom>
          <a:noFill/>
        </p:spPr>
        <p:txBody>
          <a:bodyPr wrap="square" lIns="45720" tIns="18288" rIns="45720" bIns="18288" anchor="t">
            <a:spAutoFit/>
          </a:bodyPr>
          <a:lstStyle/>
          <a:p>
            <a:pPr algn="l">
              <a:lnSpc>
                <a:spcPct val="100000"/>
              </a:lnSpc>
            </a:pPr>
            <a:r>
              <a:rPr lang="en-US" sz="3600" b="1" i="0" dirty="0">
                <a:solidFill>
                  <a:srgbClr val="FFFFFF"/>
                </a:solidFill>
                <a:latin typeface="Calibri"/>
              </a:rPr>
              <a:t>Extended </a:t>
            </a:r>
            <a:r>
              <a:rPr sz="3600" b="1" i="0" dirty="0">
                <a:solidFill>
                  <a:srgbClr val="FFFFFF"/>
                </a:solidFill>
                <a:latin typeface="Calibri"/>
              </a:rPr>
              <a:t>Strategic Analytics</a:t>
            </a:r>
          </a:p>
        </p:txBody>
      </p:sp>
      <p:sp>
        <p:nvSpPr>
          <p:cNvPr id="8" name="TextBox 7">
            <a:extLst>
              <a:ext uri="{FF2B5EF4-FFF2-40B4-BE49-F238E27FC236}">
                <a16:creationId xmlns:a16="http://schemas.microsoft.com/office/drawing/2014/main" id="{DCFFADE6-C631-E133-0FF5-8589F87FE421}"/>
              </a:ext>
            </a:extLst>
          </p:cNvPr>
          <p:cNvSpPr txBox="1"/>
          <p:nvPr/>
        </p:nvSpPr>
        <p:spPr>
          <a:xfrm>
            <a:off x="4650377" y="5738949"/>
            <a:ext cx="7315200" cy="252377"/>
          </a:xfrm>
          <a:prstGeom prst="rect">
            <a:avLst/>
          </a:prstGeom>
          <a:noFill/>
        </p:spPr>
        <p:txBody>
          <a:bodyPr wrap="square" lIns="45720" tIns="18288" rIns="45720" bIns="18288" anchor="t">
            <a:spAutoFit/>
          </a:bodyPr>
          <a:lstStyle/>
          <a:p>
            <a:pPr lvl="4" algn="r"/>
            <a:r>
              <a:rPr lang="en-US" sz="1400" b="1" dirty="0">
                <a:solidFill>
                  <a:srgbClr val="FFFFFF"/>
                </a:solidFill>
                <a:latin typeface="Calibri"/>
              </a:rPr>
              <a:t>Nikhil Sonawane</a:t>
            </a:r>
            <a:endParaRPr sz="1400" b="1" i="0" dirty="0">
              <a:solidFill>
                <a:srgbClr val="FFFFFF"/>
              </a:solidFill>
              <a:latin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6400800" cy="274320"/>
          </a:xfrm>
          <a:prstGeom prst="rect">
            <a:avLst/>
          </a:prstGeom>
          <a:noFill/>
        </p:spPr>
        <p:txBody>
          <a:bodyPr wrap="square" lIns="45720" tIns="18288" rIns="45720" bIns="18288" anchor="t">
            <a:spAutoFit/>
          </a:bodyPr>
          <a:lstStyle/>
          <a:p>
            <a:pPr algn="l"/>
            <a:r>
              <a:rPr sz="1100" b="1" i="0">
                <a:solidFill>
                  <a:srgbClr val="9E1B32"/>
                </a:solidFill>
                <a:latin typeface="Calibri"/>
              </a:rPr>
              <a:t>Strategic Analytics</a:t>
            </a:r>
          </a:p>
        </p:txBody>
      </p:sp>
      <p:sp>
        <p:nvSpPr>
          <p:cNvPr id="3" name="TextBox 2"/>
          <p:cNvSpPr txBox="1"/>
          <p:nvPr/>
        </p:nvSpPr>
        <p:spPr>
          <a:xfrm>
            <a:off x="502920" y="566928"/>
            <a:ext cx="11247120" cy="777240"/>
          </a:xfrm>
          <a:prstGeom prst="rect">
            <a:avLst/>
          </a:prstGeom>
          <a:noFill/>
        </p:spPr>
        <p:txBody>
          <a:bodyPr wrap="square" lIns="45720" tIns="18288" rIns="45720" bIns="18288" anchor="t">
            <a:spAutoFit/>
          </a:bodyPr>
          <a:lstStyle/>
          <a:p>
            <a:pPr algn="l"/>
            <a:r>
              <a:rPr sz="2800" b="1" i="0">
                <a:solidFill>
                  <a:srgbClr val="1B3A6F"/>
                </a:solidFill>
                <a:latin typeface="Calibri"/>
              </a:rPr>
              <a:t>J2250 Has Zero High Volume Writers. J3010 Has 96.</a:t>
            </a:r>
          </a:p>
        </p:txBody>
      </p:sp>
      <p:pic>
        <p:nvPicPr>
          <p:cNvPr id="4" name="Picture 3" descr="chart_c_segmentation.png"/>
          <p:cNvPicPr>
            <a:picLocks noChangeAspect="1"/>
          </p:cNvPicPr>
          <p:nvPr/>
        </p:nvPicPr>
        <p:blipFill>
          <a:blip r:embed="rId2"/>
          <a:stretch>
            <a:fillRect/>
          </a:stretch>
        </p:blipFill>
        <p:spPr>
          <a:xfrm>
            <a:off x="923231" y="1140079"/>
            <a:ext cx="10345537" cy="3963550"/>
          </a:xfrm>
          <a:prstGeom prst="rect">
            <a:avLst/>
          </a:prstGeom>
        </p:spPr>
      </p:pic>
      <p:sp>
        <p:nvSpPr>
          <p:cNvPr id="5" name="Rectangle 4"/>
          <p:cNvSpPr/>
          <p:nvPr/>
        </p:nvSpPr>
        <p:spPr>
          <a:xfrm>
            <a:off x="502920" y="5528926"/>
            <a:ext cx="11247120" cy="685800"/>
          </a:xfrm>
          <a:prstGeom prst="rect">
            <a:avLst/>
          </a:prstGeom>
          <a:solidFill>
            <a:srgbClr val="7F1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 name="TextBox 5"/>
          <p:cNvSpPr txBox="1"/>
          <p:nvPr/>
        </p:nvSpPr>
        <p:spPr>
          <a:xfrm>
            <a:off x="685800" y="5637916"/>
            <a:ext cx="10881360" cy="467820"/>
          </a:xfrm>
          <a:prstGeom prst="rect">
            <a:avLst/>
          </a:prstGeom>
          <a:noFill/>
        </p:spPr>
        <p:txBody>
          <a:bodyPr wrap="square" lIns="45720" tIns="18288" rIns="45720" bIns="18288" anchor="ctr">
            <a:spAutoFit/>
          </a:bodyPr>
          <a:lstStyle/>
          <a:p>
            <a:pPr algn="l"/>
            <a:r>
              <a:rPr sz="1400" b="1" i="0">
                <a:solidFill>
                  <a:srgbClr val="FFFFFF"/>
                </a:solidFill>
                <a:latin typeface="Calibri"/>
              </a:rPr>
              <a:t>Insight: </a:t>
            </a:r>
          </a:p>
          <a:p>
            <a:pPr algn="l"/>
            <a:r>
              <a:rPr sz="1400" b="0" i="0">
                <a:solidFill>
                  <a:srgbClr val="FFFFFF"/>
                </a:solidFill>
                <a:latin typeface="Calibri"/>
              </a:rPr>
              <a:t>The Prize: Convert 20% of J2250's 284 Trialists into Rising Stars. Plus 170 incremental claims per year at zero acquisition cost.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6400800" cy="274320"/>
          </a:xfrm>
          <a:prstGeom prst="rect">
            <a:avLst/>
          </a:prstGeom>
          <a:noFill/>
        </p:spPr>
        <p:txBody>
          <a:bodyPr wrap="square" lIns="45720" tIns="18288" rIns="45720" bIns="18288" anchor="t">
            <a:spAutoFit/>
          </a:bodyPr>
          <a:lstStyle/>
          <a:p>
            <a:pPr algn="l"/>
            <a:r>
              <a:rPr sz="1100" b="1" i="0">
                <a:solidFill>
                  <a:srgbClr val="9E1B32"/>
                </a:solidFill>
                <a:latin typeface="Calibri"/>
              </a:rPr>
              <a:t>Strategic Analytics</a:t>
            </a:r>
          </a:p>
        </p:txBody>
      </p:sp>
      <p:sp>
        <p:nvSpPr>
          <p:cNvPr id="3" name="TextBox 2"/>
          <p:cNvSpPr txBox="1"/>
          <p:nvPr/>
        </p:nvSpPr>
        <p:spPr>
          <a:xfrm>
            <a:off x="502920" y="566928"/>
            <a:ext cx="11247120" cy="777240"/>
          </a:xfrm>
          <a:prstGeom prst="rect">
            <a:avLst/>
          </a:prstGeom>
          <a:noFill/>
        </p:spPr>
        <p:txBody>
          <a:bodyPr wrap="square" lIns="45720" tIns="18288" rIns="45720" bIns="18288" anchor="t">
            <a:spAutoFit/>
          </a:bodyPr>
          <a:lstStyle/>
          <a:p>
            <a:pPr algn="l"/>
            <a:r>
              <a:rPr sz="2800" b="1" i="0">
                <a:solidFill>
                  <a:srgbClr val="1B3A6F"/>
                </a:solidFill>
                <a:latin typeface="Calibri"/>
              </a:rPr>
              <a:t>Less Than Half of J2250 Writers Continue Year to Year</a:t>
            </a:r>
          </a:p>
        </p:txBody>
      </p:sp>
      <p:pic>
        <p:nvPicPr>
          <p:cNvPr id="4" name="Picture 3" descr="chart_d_retention.png"/>
          <p:cNvPicPr>
            <a:picLocks noChangeAspect="1"/>
          </p:cNvPicPr>
          <p:nvPr/>
        </p:nvPicPr>
        <p:blipFill>
          <a:blip r:embed="rId2"/>
          <a:stretch>
            <a:fillRect/>
          </a:stretch>
        </p:blipFill>
        <p:spPr>
          <a:xfrm>
            <a:off x="2037671" y="1344168"/>
            <a:ext cx="8116658" cy="3978430"/>
          </a:xfrm>
          <a:prstGeom prst="rect">
            <a:avLst/>
          </a:prstGeom>
        </p:spPr>
      </p:pic>
      <p:sp>
        <p:nvSpPr>
          <p:cNvPr id="5" name="Rectangle 4"/>
          <p:cNvSpPr/>
          <p:nvPr/>
        </p:nvSpPr>
        <p:spPr>
          <a:xfrm>
            <a:off x="502920" y="5497027"/>
            <a:ext cx="11247120" cy="685800"/>
          </a:xfrm>
          <a:prstGeom prst="rect">
            <a:avLst/>
          </a:prstGeom>
          <a:solidFill>
            <a:srgbClr val="7F1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 name="TextBox 5"/>
          <p:cNvSpPr txBox="1"/>
          <p:nvPr/>
        </p:nvSpPr>
        <p:spPr>
          <a:xfrm>
            <a:off x="685800" y="5498295"/>
            <a:ext cx="10881360" cy="683264"/>
          </a:xfrm>
          <a:prstGeom prst="rect">
            <a:avLst/>
          </a:prstGeom>
          <a:noFill/>
        </p:spPr>
        <p:txBody>
          <a:bodyPr wrap="square" lIns="45720" tIns="18288" rIns="45720" bIns="18288" anchor="ctr">
            <a:spAutoFit/>
          </a:bodyPr>
          <a:lstStyle/>
          <a:p>
            <a:pPr algn="l"/>
            <a:r>
              <a:rPr sz="1400" b="1" i="0" dirty="0">
                <a:solidFill>
                  <a:srgbClr val="FFFFFF"/>
                </a:solidFill>
                <a:latin typeface="Calibri"/>
              </a:rPr>
              <a:t>Insight: </a:t>
            </a:r>
          </a:p>
          <a:p>
            <a:pPr algn="l"/>
            <a:r>
              <a:rPr sz="1400" b="0" i="0" dirty="0">
                <a:solidFill>
                  <a:srgbClr val="FFFFFF"/>
                </a:solidFill>
                <a:latin typeface="Calibri"/>
              </a:rPr>
              <a:t>Critical Finding: J2250 retention 57.9% to 46.4%. J3010 at 94.5% is building compounding loyalty. Set 70% retention as a non</a:t>
            </a:r>
            <a:r>
              <a:rPr lang="en-US" sz="1400" b="0" i="0" dirty="0">
                <a:solidFill>
                  <a:srgbClr val="FFFFFF"/>
                </a:solidFill>
                <a:latin typeface="Calibri"/>
              </a:rPr>
              <a:t>-</a:t>
            </a:r>
            <a:r>
              <a:rPr sz="1400" b="0" i="0" dirty="0">
                <a:solidFill>
                  <a:srgbClr val="FFFFFF"/>
                </a:solidFill>
                <a:latin typeface="Calibri"/>
              </a:rPr>
              <a:t>negotiable KPI tied to leadership compensation.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6400800" cy="274320"/>
          </a:xfrm>
          <a:prstGeom prst="rect">
            <a:avLst/>
          </a:prstGeom>
          <a:noFill/>
        </p:spPr>
        <p:txBody>
          <a:bodyPr wrap="square" lIns="45720" tIns="18288" rIns="45720" bIns="18288" anchor="t">
            <a:spAutoFit/>
          </a:bodyPr>
          <a:lstStyle/>
          <a:p>
            <a:pPr algn="l"/>
            <a:r>
              <a:rPr sz="1100" b="1" i="0">
                <a:solidFill>
                  <a:srgbClr val="9E1B32"/>
                </a:solidFill>
                <a:latin typeface="Calibri"/>
              </a:rPr>
              <a:t>Strategic Analytics</a:t>
            </a:r>
          </a:p>
        </p:txBody>
      </p:sp>
      <p:sp>
        <p:nvSpPr>
          <p:cNvPr id="3" name="TextBox 2"/>
          <p:cNvSpPr txBox="1"/>
          <p:nvPr/>
        </p:nvSpPr>
        <p:spPr>
          <a:xfrm>
            <a:off x="502920" y="566928"/>
            <a:ext cx="11247120" cy="777240"/>
          </a:xfrm>
          <a:prstGeom prst="rect">
            <a:avLst/>
          </a:prstGeom>
          <a:noFill/>
        </p:spPr>
        <p:txBody>
          <a:bodyPr wrap="square" lIns="45720" tIns="18288" rIns="45720" bIns="18288" anchor="t">
            <a:spAutoFit/>
          </a:bodyPr>
          <a:lstStyle/>
          <a:p>
            <a:pPr algn="l"/>
            <a:r>
              <a:rPr sz="2800" b="1" i="0">
                <a:solidFill>
                  <a:srgbClr val="1B3A6F"/>
                </a:solidFill>
                <a:latin typeface="Calibri"/>
              </a:rPr>
              <a:t>58% of J2250 Patients Are Already Shared With J3010</a:t>
            </a:r>
          </a:p>
        </p:txBody>
      </p:sp>
      <p:pic>
        <p:nvPicPr>
          <p:cNvPr id="4" name="Picture 3" descr="chart_e_overlap.png"/>
          <p:cNvPicPr>
            <a:picLocks noChangeAspect="1"/>
          </p:cNvPicPr>
          <p:nvPr/>
        </p:nvPicPr>
        <p:blipFill>
          <a:blip r:embed="rId2"/>
          <a:stretch>
            <a:fillRect/>
          </a:stretch>
        </p:blipFill>
        <p:spPr>
          <a:xfrm>
            <a:off x="1162525" y="1344168"/>
            <a:ext cx="9866949" cy="3941489"/>
          </a:xfrm>
          <a:prstGeom prst="rect">
            <a:avLst/>
          </a:prstGeom>
        </p:spPr>
      </p:pic>
      <p:sp>
        <p:nvSpPr>
          <p:cNvPr id="5" name="Rectangle 4"/>
          <p:cNvSpPr/>
          <p:nvPr/>
        </p:nvSpPr>
        <p:spPr>
          <a:xfrm>
            <a:off x="502920" y="5550192"/>
            <a:ext cx="11247120" cy="685800"/>
          </a:xfrm>
          <a:prstGeom prst="rect">
            <a:avLst/>
          </a:prstGeom>
          <a:solidFill>
            <a:srgbClr val="7F1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 name="TextBox 5"/>
          <p:cNvSpPr txBox="1"/>
          <p:nvPr/>
        </p:nvSpPr>
        <p:spPr>
          <a:xfrm>
            <a:off x="685800" y="5551460"/>
            <a:ext cx="10881360" cy="683264"/>
          </a:xfrm>
          <a:prstGeom prst="rect">
            <a:avLst/>
          </a:prstGeom>
          <a:noFill/>
        </p:spPr>
        <p:txBody>
          <a:bodyPr wrap="square" lIns="45720" tIns="18288" rIns="45720" bIns="18288" anchor="ctr">
            <a:spAutoFit/>
          </a:bodyPr>
          <a:lstStyle/>
          <a:p>
            <a:pPr algn="l"/>
            <a:r>
              <a:rPr sz="1400" b="1" i="0" dirty="0">
                <a:solidFill>
                  <a:srgbClr val="FFFFFF"/>
                </a:solidFill>
                <a:latin typeface="Calibri"/>
              </a:rPr>
              <a:t>Insight: </a:t>
            </a:r>
          </a:p>
          <a:p>
            <a:pPr algn="l"/>
            <a:r>
              <a:rPr sz="1400" b="0" i="0" dirty="0">
                <a:solidFill>
                  <a:srgbClr val="FFFFFF"/>
                </a:solidFill>
                <a:latin typeface="Calibri"/>
              </a:rPr>
              <a:t>570 of 982 J2250 patients also receive J3010. The HCPs treating these shared patients are the highest single conversion lever. These doctors have not made a clinical preference yet.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6400800" cy="274320"/>
          </a:xfrm>
          <a:prstGeom prst="rect">
            <a:avLst/>
          </a:prstGeom>
          <a:noFill/>
        </p:spPr>
        <p:txBody>
          <a:bodyPr wrap="square" lIns="45720" tIns="18288" rIns="45720" bIns="18288" anchor="t">
            <a:spAutoFit/>
          </a:bodyPr>
          <a:lstStyle/>
          <a:p>
            <a:pPr algn="l"/>
            <a:r>
              <a:rPr sz="1100" b="1" i="0">
                <a:solidFill>
                  <a:srgbClr val="9E1B32"/>
                </a:solidFill>
                <a:latin typeface="Calibri"/>
              </a:rPr>
              <a:t>Strategic Analytics</a:t>
            </a:r>
          </a:p>
        </p:txBody>
      </p:sp>
      <p:sp>
        <p:nvSpPr>
          <p:cNvPr id="3" name="TextBox 2"/>
          <p:cNvSpPr txBox="1"/>
          <p:nvPr/>
        </p:nvSpPr>
        <p:spPr>
          <a:xfrm>
            <a:off x="502920" y="566928"/>
            <a:ext cx="11247120" cy="777240"/>
          </a:xfrm>
          <a:prstGeom prst="rect">
            <a:avLst/>
          </a:prstGeom>
          <a:noFill/>
        </p:spPr>
        <p:txBody>
          <a:bodyPr wrap="square" lIns="45720" tIns="18288" rIns="45720" bIns="18288" anchor="t">
            <a:spAutoFit/>
          </a:bodyPr>
          <a:lstStyle/>
          <a:p>
            <a:pPr algn="l"/>
            <a:r>
              <a:rPr sz="2800" b="1" i="0">
                <a:solidFill>
                  <a:srgbClr val="1B3A6F"/>
                </a:solidFill>
                <a:latin typeface="Calibri"/>
              </a:rPr>
              <a:t>J3010 Is the Destination Brand for J1885 Patients (Not J2250)</a:t>
            </a:r>
          </a:p>
        </p:txBody>
      </p:sp>
      <p:pic>
        <p:nvPicPr>
          <p:cNvPr id="4" name="Picture 3" descr="chart_f_switcher.png"/>
          <p:cNvPicPr>
            <a:picLocks noChangeAspect="1"/>
          </p:cNvPicPr>
          <p:nvPr/>
        </p:nvPicPr>
        <p:blipFill>
          <a:blip r:embed="rId2"/>
          <a:stretch>
            <a:fillRect/>
          </a:stretch>
        </p:blipFill>
        <p:spPr>
          <a:xfrm>
            <a:off x="353919" y="1435608"/>
            <a:ext cx="11484161" cy="3010077"/>
          </a:xfrm>
          <a:prstGeom prst="rect">
            <a:avLst/>
          </a:prstGeom>
        </p:spPr>
      </p:pic>
      <p:sp>
        <p:nvSpPr>
          <p:cNvPr id="5" name="Rectangle 4"/>
          <p:cNvSpPr/>
          <p:nvPr/>
        </p:nvSpPr>
        <p:spPr>
          <a:xfrm>
            <a:off x="502920" y="5550190"/>
            <a:ext cx="11247120" cy="685800"/>
          </a:xfrm>
          <a:prstGeom prst="rect">
            <a:avLst/>
          </a:prstGeom>
          <a:solidFill>
            <a:srgbClr val="7F1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 name="TextBox 5"/>
          <p:cNvSpPr txBox="1"/>
          <p:nvPr/>
        </p:nvSpPr>
        <p:spPr>
          <a:xfrm>
            <a:off x="685800" y="5551458"/>
            <a:ext cx="10881360" cy="683264"/>
          </a:xfrm>
          <a:prstGeom prst="rect">
            <a:avLst/>
          </a:prstGeom>
          <a:noFill/>
        </p:spPr>
        <p:txBody>
          <a:bodyPr wrap="square" lIns="45720" tIns="18288" rIns="45720" bIns="18288" anchor="ctr">
            <a:spAutoFit/>
          </a:bodyPr>
          <a:lstStyle/>
          <a:p>
            <a:pPr algn="l"/>
            <a:r>
              <a:rPr sz="1400" b="1" i="0" dirty="0">
                <a:solidFill>
                  <a:srgbClr val="FFFFFF"/>
                </a:solidFill>
                <a:latin typeface="Calibri"/>
              </a:rPr>
              <a:t>Insight: </a:t>
            </a:r>
          </a:p>
          <a:p>
            <a:pPr algn="l"/>
            <a:r>
              <a:rPr sz="1400" b="0" i="0" dirty="0">
                <a:solidFill>
                  <a:srgbClr val="FFFFFF"/>
                </a:solidFill>
                <a:latin typeface="Calibri"/>
              </a:rPr>
              <a:t>Of 2,017 J1885 patients in 2016, only 6% had moved to J2250 by 2018. About 34% had moved to J3010. Cannibalization failed at the patient flow level, not just the share level.</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6400800" cy="274320"/>
          </a:xfrm>
          <a:prstGeom prst="rect">
            <a:avLst/>
          </a:prstGeom>
          <a:noFill/>
        </p:spPr>
        <p:txBody>
          <a:bodyPr wrap="square" lIns="45720" tIns="18288" rIns="45720" bIns="18288" anchor="t">
            <a:spAutoFit/>
          </a:bodyPr>
          <a:lstStyle/>
          <a:p>
            <a:pPr algn="l"/>
            <a:r>
              <a:rPr sz="1100" b="1" i="0">
                <a:solidFill>
                  <a:srgbClr val="9E1B32"/>
                </a:solidFill>
                <a:latin typeface="Calibri"/>
              </a:rPr>
              <a:t>Strategic Analytics</a:t>
            </a:r>
          </a:p>
        </p:txBody>
      </p:sp>
      <p:sp>
        <p:nvSpPr>
          <p:cNvPr id="3" name="TextBox 2"/>
          <p:cNvSpPr txBox="1"/>
          <p:nvPr/>
        </p:nvSpPr>
        <p:spPr>
          <a:xfrm>
            <a:off x="502920" y="566928"/>
            <a:ext cx="11247120" cy="777240"/>
          </a:xfrm>
          <a:prstGeom prst="rect">
            <a:avLst/>
          </a:prstGeom>
          <a:noFill/>
        </p:spPr>
        <p:txBody>
          <a:bodyPr wrap="square" lIns="45720" tIns="18288" rIns="45720" bIns="18288" anchor="t">
            <a:spAutoFit/>
          </a:bodyPr>
          <a:lstStyle/>
          <a:p>
            <a:pPr algn="l"/>
            <a:r>
              <a:rPr sz="2800" b="1" i="0">
                <a:solidFill>
                  <a:srgbClr val="1B3A6F"/>
                </a:solidFill>
                <a:latin typeface="Calibri"/>
              </a:rPr>
              <a:t>The Competitive Event Window: Q3 2017 to Q1 2018</a:t>
            </a:r>
          </a:p>
        </p:txBody>
      </p:sp>
      <p:pic>
        <p:nvPicPr>
          <p:cNvPr id="4" name="Picture 3" descr="chart_g_quarterly.png"/>
          <p:cNvPicPr>
            <a:picLocks noChangeAspect="1"/>
          </p:cNvPicPr>
          <p:nvPr/>
        </p:nvPicPr>
        <p:blipFill>
          <a:blip r:embed="rId2"/>
          <a:stretch>
            <a:fillRect/>
          </a:stretch>
        </p:blipFill>
        <p:spPr>
          <a:xfrm>
            <a:off x="655021" y="1293452"/>
            <a:ext cx="10881958" cy="4271096"/>
          </a:xfrm>
          <a:prstGeom prst="rect">
            <a:avLst/>
          </a:prstGeom>
        </p:spPr>
      </p:pic>
      <p:sp>
        <p:nvSpPr>
          <p:cNvPr id="5" name="Rectangle 4"/>
          <p:cNvSpPr/>
          <p:nvPr/>
        </p:nvSpPr>
        <p:spPr>
          <a:xfrm>
            <a:off x="502920" y="5635251"/>
            <a:ext cx="11247120" cy="685800"/>
          </a:xfrm>
          <a:prstGeom prst="rect">
            <a:avLst/>
          </a:prstGeom>
          <a:solidFill>
            <a:srgbClr val="7F1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 name="TextBox 5"/>
          <p:cNvSpPr txBox="1"/>
          <p:nvPr/>
        </p:nvSpPr>
        <p:spPr>
          <a:xfrm>
            <a:off x="685800" y="5636519"/>
            <a:ext cx="10881360" cy="683264"/>
          </a:xfrm>
          <a:prstGeom prst="rect">
            <a:avLst/>
          </a:prstGeom>
          <a:noFill/>
        </p:spPr>
        <p:txBody>
          <a:bodyPr wrap="square" lIns="45720" tIns="18288" rIns="45720" bIns="18288" anchor="ctr">
            <a:spAutoFit/>
          </a:bodyPr>
          <a:lstStyle/>
          <a:p>
            <a:pPr algn="l"/>
            <a:r>
              <a:rPr sz="1400" b="1" i="0" dirty="0">
                <a:solidFill>
                  <a:srgbClr val="FFFFFF"/>
                </a:solidFill>
                <a:latin typeface="Calibri"/>
              </a:rPr>
              <a:t>Insight: </a:t>
            </a:r>
          </a:p>
          <a:p>
            <a:pPr algn="l"/>
            <a:r>
              <a:rPr sz="1400" b="0" i="0" dirty="0">
                <a:solidFill>
                  <a:srgbClr val="FFFFFF"/>
                </a:solidFill>
                <a:latin typeface="Calibri"/>
              </a:rPr>
              <a:t>J3010's most pronounced acceleration of the entire window. Likely formulary win, sales force expansion, or KOL launch. Brief field intel to investigate this six</a:t>
            </a:r>
            <a:r>
              <a:rPr lang="en-US" sz="1400" b="0" i="0" dirty="0">
                <a:solidFill>
                  <a:srgbClr val="FFFFFF"/>
                </a:solidFill>
                <a:latin typeface="Calibri"/>
              </a:rPr>
              <a:t>-</a:t>
            </a:r>
            <a:r>
              <a:rPr sz="1400" b="0" i="0" dirty="0">
                <a:solidFill>
                  <a:srgbClr val="FFFFFF"/>
                </a:solidFill>
                <a:latin typeface="Calibri"/>
              </a:rPr>
              <a:t>month window.</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167990"/>
            <a:ext cx="6400800" cy="274320"/>
          </a:xfrm>
          <a:prstGeom prst="rect">
            <a:avLst/>
          </a:prstGeom>
          <a:noFill/>
        </p:spPr>
        <p:txBody>
          <a:bodyPr wrap="square" lIns="45720" tIns="18288" rIns="45720" bIns="18288" anchor="t">
            <a:spAutoFit/>
          </a:bodyPr>
          <a:lstStyle/>
          <a:p>
            <a:pPr algn="l"/>
            <a:r>
              <a:rPr sz="1100" b="1" i="0" dirty="0">
                <a:solidFill>
                  <a:srgbClr val="9E1B32"/>
                </a:solidFill>
                <a:latin typeface="Calibri"/>
              </a:rPr>
              <a:t>Strategic Analytics</a:t>
            </a:r>
          </a:p>
        </p:txBody>
      </p:sp>
      <p:sp>
        <p:nvSpPr>
          <p:cNvPr id="3" name="TextBox 2"/>
          <p:cNvSpPr txBox="1"/>
          <p:nvPr/>
        </p:nvSpPr>
        <p:spPr>
          <a:xfrm>
            <a:off x="502920" y="460598"/>
            <a:ext cx="11247120" cy="777240"/>
          </a:xfrm>
          <a:prstGeom prst="rect">
            <a:avLst/>
          </a:prstGeom>
          <a:noFill/>
        </p:spPr>
        <p:txBody>
          <a:bodyPr wrap="square" lIns="45720" tIns="18288" rIns="45720" bIns="18288" anchor="t">
            <a:spAutoFit/>
          </a:bodyPr>
          <a:lstStyle/>
          <a:p>
            <a:pPr algn="l"/>
            <a:r>
              <a:rPr sz="2800" b="1" i="0">
                <a:solidFill>
                  <a:srgbClr val="1B3A6F"/>
                </a:solidFill>
                <a:latin typeface="Calibri"/>
              </a:rPr>
              <a:t>15 of 22 Territories Declining. But 6 Are Growing.</a:t>
            </a:r>
          </a:p>
        </p:txBody>
      </p:sp>
      <p:sp>
        <p:nvSpPr>
          <p:cNvPr id="5" name="Rectangle 4"/>
          <p:cNvSpPr/>
          <p:nvPr/>
        </p:nvSpPr>
        <p:spPr>
          <a:xfrm>
            <a:off x="502920" y="5613987"/>
            <a:ext cx="11247120" cy="685800"/>
          </a:xfrm>
          <a:prstGeom prst="rect">
            <a:avLst/>
          </a:prstGeom>
          <a:solidFill>
            <a:srgbClr val="7F1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 name="TextBox 5"/>
          <p:cNvSpPr txBox="1"/>
          <p:nvPr/>
        </p:nvSpPr>
        <p:spPr>
          <a:xfrm>
            <a:off x="685800" y="5615255"/>
            <a:ext cx="10881360" cy="683264"/>
          </a:xfrm>
          <a:prstGeom prst="rect">
            <a:avLst/>
          </a:prstGeom>
          <a:noFill/>
        </p:spPr>
        <p:txBody>
          <a:bodyPr wrap="square" lIns="45720" tIns="18288" rIns="45720" bIns="18288" anchor="ctr">
            <a:spAutoFit/>
          </a:bodyPr>
          <a:lstStyle/>
          <a:p>
            <a:pPr algn="l"/>
            <a:r>
              <a:rPr sz="1400" b="1" i="0" dirty="0">
                <a:solidFill>
                  <a:srgbClr val="FFFFFF"/>
                </a:solidFill>
                <a:latin typeface="Calibri"/>
              </a:rPr>
              <a:t>Insight: </a:t>
            </a:r>
          </a:p>
          <a:p>
            <a:pPr algn="l"/>
            <a:r>
              <a:rPr sz="1400" b="0" i="0" dirty="0">
                <a:solidFill>
                  <a:srgbClr val="FFFFFF"/>
                </a:solidFill>
                <a:latin typeface="Calibri"/>
              </a:rPr>
              <a:t>Pittsburg plus 30%, Detroit plus 20%, Charlotte plus 20%. These six territories are commercial excellence benchmarks. Extract their playbook and deploy in the four emergency territories.</a:t>
            </a:r>
          </a:p>
        </p:txBody>
      </p:sp>
      <p:pic>
        <p:nvPicPr>
          <p:cNvPr id="7" name="Picture 6">
            <a:extLst>
              <a:ext uri="{FF2B5EF4-FFF2-40B4-BE49-F238E27FC236}">
                <a16:creationId xmlns:a16="http://schemas.microsoft.com/office/drawing/2014/main" id="{EAE838AE-D234-070B-243A-098EB57B2411}"/>
              </a:ext>
            </a:extLst>
          </p:cNvPr>
          <p:cNvPicPr>
            <a:picLocks noChangeAspect="1"/>
          </p:cNvPicPr>
          <p:nvPr/>
        </p:nvPicPr>
        <p:blipFill>
          <a:blip r:embed="rId2"/>
          <a:stretch>
            <a:fillRect/>
          </a:stretch>
        </p:blipFill>
        <p:spPr>
          <a:xfrm>
            <a:off x="3262571" y="883315"/>
            <a:ext cx="5666858" cy="472940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9E1B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914400"/>
            <a:ext cx="3200400" cy="2286000"/>
          </a:xfrm>
          <a:prstGeom prst="rect">
            <a:avLst/>
          </a:prstGeom>
          <a:noFill/>
        </p:spPr>
        <p:txBody>
          <a:bodyPr wrap="square" lIns="45720" tIns="18288" rIns="45720" bIns="18288" anchor="t">
            <a:spAutoFit/>
          </a:bodyPr>
          <a:lstStyle/>
          <a:p>
            <a:pPr algn="l"/>
            <a:r>
              <a:rPr sz="16000" b="1" i="0">
                <a:solidFill>
                  <a:srgbClr val="FFFFFF"/>
                </a:solidFill>
                <a:latin typeface="Calibri"/>
              </a:rPr>
              <a:t>04</a:t>
            </a:r>
          </a:p>
        </p:txBody>
      </p:sp>
      <p:sp>
        <p:nvSpPr>
          <p:cNvPr id="4" name="Rectangle 3"/>
          <p:cNvSpPr/>
          <p:nvPr/>
        </p:nvSpPr>
        <p:spPr>
          <a:xfrm>
            <a:off x="4297680" y="1463040"/>
            <a:ext cx="45720"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0" y="1463040"/>
            <a:ext cx="7315200" cy="548640"/>
          </a:xfrm>
          <a:prstGeom prst="rect">
            <a:avLst/>
          </a:prstGeom>
          <a:noFill/>
        </p:spPr>
        <p:txBody>
          <a:bodyPr wrap="square" lIns="45720" tIns="18288" rIns="45720" bIns="18288" anchor="t">
            <a:spAutoFit/>
          </a:bodyPr>
          <a:lstStyle/>
          <a:p>
            <a:pPr algn="l"/>
            <a:r>
              <a:rPr sz="1400" b="1" i="0">
                <a:solidFill>
                  <a:srgbClr val="FFFFFF"/>
                </a:solidFill>
                <a:latin typeface="Calibri"/>
              </a:rPr>
              <a:t>SECTION 4</a:t>
            </a:r>
          </a:p>
        </p:txBody>
      </p:sp>
      <p:sp>
        <p:nvSpPr>
          <p:cNvPr id="6" name="TextBox 5"/>
          <p:cNvSpPr txBox="1"/>
          <p:nvPr/>
        </p:nvSpPr>
        <p:spPr>
          <a:xfrm>
            <a:off x="4572000" y="1874519"/>
            <a:ext cx="7315200" cy="1463040"/>
          </a:xfrm>
          <a:prstGeom prst="rect">
            <a:avLst/>
          </a:prstGeom>
          <a:noFill/>
        </p:spPr>
        <p:txBody>
          <a:bodyPr wrap="square" lIns="45720" tIns="18288" rIns="45720" bIns="18288" anchor="t">
            <a:spAutoFit/>
          </a:bodyPr>
          <a:lstStyle/>
          <a:p>
            <a:pPr algn="l">
              <a:lnSpc>
                <a:spcPct val="100000"/>
              </a:lnSpc>
            </a:pPr>
            <a:r>
              <a:rPr sz="3600" b="1" i="0">
                <a:solidFill>
                  <a:srgbClr val="FFFFFF"/>
                </a:solidFill>
                <a:latin typeface="Calibri"/>
              </a:rPr>
              <a:t>Recommendations</a:t>
            </a:r>
          </a:p>
        </p:txBody>
      </p:sp>
      <p:sp>
        <p:nvSpPr>
          <p:cNvPr id="7" name="TextBox 6"/>
          <p:cNvSpPr txBox="1"/>
          <p:nvPr/>
        </p:nvSpPr>
        <p:spPr>
          <a:xfrm>
            <a:off x="4572000" y="2606040"/>
            <a:ext cx="7315200" cy="1463040"/>
          </a:xfrm>
          <a:prstGeom prst="rect">
            <a:avLst/>
          </a:prstGeom>
          <a:noFill/>
        </p:spPr>
        <p:txBody>
          <a:bodyPr wrap="square" lIns="45720" tIns="18288" rIns="45720" bIns="18288" anchor="t">
            <a:spAutoFit/>
          </a:bodyPr>
          <a:lstStyle/>
          <a:p>
            <a:pPr algn="l">
              <a:lnSpc>
                <a:spcPct val="100000"/>
              </a:lnSpc>
            </a:pPr>
            <a:r>
              <a:rPr sz="3600" b="1" i="0">
                <a:solidFill>
                  <a:srgbClr val="FFFFFF"/>
                </a:solidFill>
                <a:latin typeface="Calibri"/>
              </a:rPr>
              <a:t>and the Path Forward</a:t>
            </a:r>
          </a:p>
        </p:txBody>
      </p:sp>
      <p:sp>
        <p:nvSpPr>
          <p:cNvPr id="8" name="TextBox 7">
            <a:extLst>
              <a:ext uri="{FF2B5EF4-FFF2-40B4-BE49-F238E27FC236}">
                <a16:creationId xmlns:a16="http://schemas.microsoft.com/office/drawing/2014/main" id="{A7C30A5D-86EE-CE5B-22D8-EDA372D35266}"/>
              </a:ext>
            </a:extLst>
          </p:cNvPr>
          <p:cNvSpPr txBox="1"/>
          <p:nvPr/>
        </p:nvSpPr>
        <p:spPr>
          <a:xfrm>
            <a:off x="4650377" y="5738949"/>
            <a:ext cx="7315200" cy="252377"/>
          </a:xfrm>
          <a:prstGeom prst="rect">
            <a:avLst/>
          </a:prstGeom>
          <a:noFill/>
        </p:spPr>
        <p:txBody>
          <a:bodyPr wrap="square" lIns="45720" tIns="18288" rIns="45720" bIns="18288" anchor="t">
            <a:spAutoFit/>
          </a:bodyPr>
          <a:lstStyle/>
          <a:p>
            <a:pPr lvl="4" algn="r"/>
            <a:r>
              <a:rPr lang="en-US" sz="1400" b="1" i="0" dirty="0">
                <a:solidFill>
                  <a:srgbClr val="FFFFFF"/>
                </a:solidFill>
                <a:latin typeface="Calibri"/>
              </a:rPr>
              <a:t>Aneesh Vishnu</a:t>
            </a:r>
            <a:endParaRPr sz="1400" b="1" i="0" dirty="0">
              <a:solidFill>
                <a:srgbClr val="FFFFFF"/>
              </a:solidFill>
              <a:latin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6400800" cy="274320"/>
          </a:xfrm>
          <a:prstGeom prst="rect">
            <a:avLst/>
          </a:prstGeom>
          <a:noFill/>
        </p:spPr>
        <p:txBody>
          <a:bodyPr wrap="square" lIns="45720" tIns="18288" rIns="45720" bIns="18288" anchor="t">
            <a:spAutoFit/>
          </a:bodyPr>
          <a:lstStyle/>
          <a:p>
            <a:pPr algn="l"/>
            <a:r>
              <a:rPr sz="1100" b="1" i="0">
                <a:solidFill>
                  <a:srgbClr val="9E1B32"/>
                </a:solidFill>
                <a:latin typeface="Calibri"/>
              </a:rPr>
              <a:t>Q3 Strategic Recommendations</a:t>
            </a:r>
          </a:p>
        </p:txBody>
      </p:sp>
      <p:sp>
        <p:nvSpPr>
          <p:cNvPr id="3" name="TextBox 2"/>
          <p:cNvSpPr txBox="1"/>
          <p:nvPr/>
        </p:nvSpPr>
        <p:spPr>
          <a:xfrm>
            <a:off x="502920" y="566928"/>
            <a:ext cx="11247120" cy="777240"/>
          </a:xfrm>
          <a:prstGeom prst="rect">
            <a:avLst/>
          </a:prstGeom>
          <a:noFill/>
        </p:spPr>
        <p:txBody>
          <a:bodyPr wrap="square" lIns="45720" tIns="18288" rIns="45720" bIns="18288" anchor="t">
            <a:spAutoFit/>
          </a:bodyPr>
          <a:lstStyle/>
          <a:p>
            <a:pPr algn="l"/>
            <a:r>
              <a:rPr sz="2800" b="1" i="0">
                <a:solidFill>
                  <a:srgbClr val="1B3A6F"/>
                </a:solidFill>
                <a:latin typeface="Calibri"/>
              </a:rPr>
              <a:t>Four Priorities. Sequenced. Sized. Actionable.</a:t>
            </a:r>
          </a:p>
        </p:txBody>
      </p:sp>
      <p:sp>
        <p:nvSpPr>
          <p:cNvPr id="4" name="Rectangle 3"/>
          <p:cNvSpPr/>
          <p:nvPr/>
        </p:nvSpPr>
        <p:spPr>
          <a:xfrm>
            <a:off x="454152" y="1508760"/>
            <a:ext cx="2697480" cy="4663440"/>
          </a:xfrm>
          <a:prstGeom prst="rect">
            <a:avLst/>
          </a:prstGeom>
          <a:solidFill>
            <a:srgbClr val="FFFFFF"/>
          </a:solidFill>
          <a:ln w="9525">
            <a:solidFill>
              <a:srgbClr val="142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 name="Rectangle 4"/>
          <p:cNvSpPr/>
          <p:nvPr/>
        </p:nvSpPr>
        <p:spPr>
          <a:xfrm>
            <a:off x="454152" y="1508760"/>
            <a:ext cx="2697480" cy="467820"/>
          </a:xfrm>
          <a:prstGeom prst="rect">
            <a:avLst/>
          </a:prstGeom>
          <a:solidFill>
            <a:srgbClr val="14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 name="TextBox 5"/>
          <p:cNvSpPr txBox="1"/>
          <p:nvPr/>
        </p:nvSpPr>
        <p:spPr>
          <a:xfrm>
            <a:off x="637032" y="1588311"/>
            <a:ext cx="2331720" cy="252377"/>
          </a:xfrm>
          <a:prstGeom prst="rect">
            <a:avLst/>
          </a:prstGeom>
          <a:noFill/>
        </p:spPr>
        <p:txBody>
          <a:bodyPr wrap="square" lIns="45720" tIns="18288" rIns="45720" bIns="18288" anchor="ctr">
            <a:spAutoFit/>
          </a:bodyPr>
          <a:lstStyle/>
          <a:p>
            <a:pPr algn="l"/>
            <a:r>
              <a:rPr sz="1400" b="1" i="0">
                <a:solidFill>
                  <a:srgbClr val="FFFFFF"/>
                </a:solidFill>
                <a:latin typeface="Calibri"/>
              </a:rPr>
              <a:t>01  FIX WRITER RETENTION</a:t>
            </a:r>
          </a:p>
        </p:txBody>
      </p:sp>
      <p:sp>
        <p:nvSpPr>
          <p:cNvPr id="7" name="TextBox 6"/>
          <p:cNvSpPr txBox="1"/>
          <p:nvPr/>
        </p:nvSpPr>
        <p:spPr>
          <a:xfrm>
            <a:off x="618744" y="2011680"/>
            <a:ext cx="2368296" cy="252377"/>
          </a:xfrm>
          <a:prstGeom prst="rect">
            <a:avLst/>
          </a:prstGeom>
          <a:noFill/>
        </p:spPr>
        <p:txBody>
          <a:bodyPr wrap="square" lIns="45720" tIns="18288" rIns="45720" bIns="18288" anchor="t">
            <a:spAutoFit/>
          </a:bodyPr>
          <a:lstStyle/>
          <a:p>
            <a:pPr algn="l"/>
            <a:r>
              <a:rPr sz="1400" b="1" i="0">
                <a:solidFill>
                  <a:srgbClr val="888888"/>
                </a:solidFill>
                <a:latin typeface="Calibri"/>
              </a:rPr>
              <a:t>ACTION</a:t>
            </a:r>
          </a:p>
        </p:txBody>
      </p:sp>
      <p:sp>
        <p:nvSpPr>
          <p:cNvPr id="8" name="TextBox 7"/>
          <p:cNvSpPr txBox="1"/>
          <p:nvPr/>
        </p:nvSpPr>
        <p:spPr>
          <a:xfrm>
            <a:off x="618744" y="2286000"/>
            <a:ext cx="2368296" cy="795282"/>
          </a:xfrm>
          <a:prstGeom prst="rect">
            <a:avLst/>
          </a:prstGeom>
          <a:noFill/>
        </p:spPr>
        <p:txBody>
          <a:bodyPr wrap="square" lIns="45720" tIns="18288" rIns="45720" bIns="18288" anchor="t">
            <a:spAutoFit/>
          </a:bodyPr>
          <a:lstStyle/>
          <a:p>
            <a:pPr algn="l">
              <a:lnSpc>
                <a:spcPct val="120000"/>
              </a:lnSpc>
            </a:pPr>
            <a:r>
              <a:rPr sz="1400" b="0" i="0">
                <a:solidFill>
                  <a:srgbClr val="333333"/>
                </a:solidFill>
                <a:latin typeface="Calibri"/>
              </a:rPr>
              <a:t>Re engage 148 lapsed J2250 writers. Personal rep outreach, samples, peer programs.</a:t>
            </a:r>
          </a:p>
        </p:txBody>
      </p:sp>
      <p:sp>
        <p:nvSpPr>
          <p:cNvPr id="9" name="TextBox 8"/>
          <p:cNvSpPr txBox="1"/>
          <p:nvPr/>
        </p:nvSpPr>
        <p:spPr>
          <a:xfrm>
            <a:off x="618744" y="3780936"/>
            <a:ext cx="2368296" cy="252377"/>
          </a:xfrm>
          <a:prstGeom prst="rect">
            <a:avLst/>
          </a:prstGeom>
          <a:noFill/>
        </p:spPr>
        <p:txBody>
          <a:bodyPr wrap="square" lIns="45720" tIns="18288" rIns="45720" bIns="18288" anchor="t">
            <a:spAutoFit/>
          </a:bodyPr>
          <a:lstStyle/>
          <a:p>
            <a:pPr algn="l"/>
            <a:r>
              <a:rPr sz="1400" b="1" i="0">
                <a:solidFill>
                  <a:srgbClr val="888888"/>
                </a:solidFill>
                <a:latin typeface="Calibri"/>
              </a:rPr>
              <a:t>TARGET</a:t>
            </a:r>
          </a:p>
        </p:txBody>
      </p:sp>
      <p:sp>
        <p:nvSpPr>
          <p:cNvPr id="10" name="TextBox 9"/>
          <p:cNvSpPr txBox="1"/>
          <p:nvPr/>
        </p:nvSpPr>
        <p:spPr>
          <a:xfrm>
            <a:off x="618744" y="4055256"/>
            <a:ext cx="2368296" cy="467820"/>
          </a:xfrm>
          <a:prstGeom prst="rect">
            <a:avLst/>
          </a:prstGeom>
          <a:noFill/>
        </p:spPr>
        <p:txBody>
          <a:bodyPr wrap="square" lIns="45720" tIns="18288" rIns="45720" bIns="18288" anchor="t">
            <a:spAutoFit/>
          </a:bodyPr>
          <a:lstStyle/>
          <a:p>
            <a:pPr algn="l"/>
            <a:r>
              <a:rPr sz="1400" b="1" i="0">
                <a:solidFill>
                  <a:srgbClr val="1B3A6F"/>
                </a:solidFill>
                <a:latin typeface="Calibri"/>
              </a:rPr>
              <a:t>Lift retention from 46% to 65% in 12 months</a:t>
            </a:r>
          </a:p>
        </p:txBody>
      </p:sp>
      <p:sp>
        <p:nvSpPr>
          <p:cNvPr id="11" name="Rectangle 10"/>
          <p:cNvSpPr/>
          <p:nvPr/>
        </p:nvSpPr>
        <p:spPr>
          <a:xfrm>
            <a:off x="545592" y="4878216"/>
            <a:ext cx="2514600" cy="1115322"/>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2" name="TextBox 11"/>
          <p:cNvSpPr txBox="1"/>
          <p:nvPr/>
        </p:nvSpPr>
        <p:spPr>
          <a:xfrm>
            <a:off x="637032" y="4923936"/>
            <a:ext cx="2331720" cy="252377"/>
          </a:xfrm>
          <a:prstGeom prst="rect">
            <a:avLst/>
          </a:prstGeom>
          <a:noFill/>
        </p:spPr>
        <p:txBody>
          <a:bodyPr wrap="square" lIns="45720" tIns="18288" rIns="45720" bIns="18288" anchor="t">
            <a:spAutoFit/>
          </a:bodyPr>
          <a:lstStyle/>
          <a:p>
            <a:pPr algn="l"/>
            <a:r>
              <a:rPr sz="1400" b="1" i="0">
                <a:solidFill>
                  <a:srgbClr val="1E8449"/>
                </a:solidFill>
                <a:latin typeface="Calibri"/>
              </a:rPr>
              <a:t>PRIZE</a:t>
            </a:r>
          </a:p>
        </p:txBody>
      </p:sp>
      <p:sp>
        <p:nvSpPr>
          <p:cNvPr id="13" name="TextBox 12"/>
          <p:cNvSpPr txBox="1"/>
          <p:nvPr/>
        </p:nvSpPr>
        <p:spPr>
          <a:xfrm>
            <a:off x="637032" y="5198256"/>
            <a:ext cx="2331720" cy="536750"/>
          </a:xfrm>
          <a:prstGeom prst="rect">
            <a:avLst/>
          </a:prstGeom>
          <a:noFill/>
        </p:spPr>
        <p:txBody>
          <a:bodyPr wrap="square" lIns="45720" tIns="18288" rIns="45720" bIns="18288" anchor="t">
            <a:spAutoFit/>
          </a:bodyPr>
          <a:lstStyle/>
          <a:p>
            <a:pPr algn="l">
              <a:lnSpc>
                <a:spcPct val="120000"/>
              </a:lnSpc>
            </a:pPr>
            <a:r>
              <a:rPr sz="1400" b="1" i="0">
                <a:solidFill>
                  <a:srgbClr val="1E8449"/>
                </a:solidFill>
                <a:latin typeface="Calibri"/>
              </a:rPr>
              <a:t>Plus 120 to 200 incremental claims per year</a:t>
            </a:r>
          </a:p>
        </p:txBody>
      </p:sp>
      <p:sp>
        <p:nvSpPr>
          <p:cNvPr id="14" name="Rectangle 13"/>
          <p:cNvSpPr/>
          <p:nvPr/>
        </p:nvSpPr>
        <p:spPr>
          <a:xfrm>
            <a:off x="3316224" y="1508760"/>
            <a:ext cx="2697480" cy="4663440"/>
          </a:xfrm>
          <a:prstGeom prst="rect">
            <a:avLst/>
          </a:prstGeom>
          <a:solidFill>
            <a:srgbClr val="FFFFFF"/>
          </a:solidFill>
          <a:ln w="9525">
            <a:solidFill>
              <a:srgbClr val="142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5" name="Rectangle 14"/>
          <p:cNvSpPr/>
          <p:nvPr/>
        </p:nvSpPr>
        <p:spPr>
          <a:xfrm>
            <a:off x="3316224" y="1508760"/>
            <a:ext cx="2697480" cy="471024"/>
          </a:xfrm>
          <a:prstGeom prst="rect">
            <a:avLst/>
          </a:prstGeom>
          <a:solidFill>
            <a:srgbClr val="14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6" name="TextBox 15"/>
          <p:cNvSpPr txBox="1"/>
          <p:nvPr/>
        </p:nvSpPr>
        <p:spPr>
          <a:xfrm>
            <a:off x="3499104" y="1480590"/>
            <a:ext cx="2331720" cy="467820"/>
          </a:xfrm>
          <a:prstGeom prst="rect">
            <a:avLst/>
          </a:prstGeom>
          <a:noFill/>
        </p:spPr>
        <p:txBody>
          <a:bodyPr wrap="square" lIns="45720" tIns="18288" rIns="45720" bIns="18288" anchor="ctr">
            <a:spAutoFit/>
          </a:bodyPr>
          <a:lstStyle/>
          <a:p>
            <a:pPr algn="l"/>
            <a:r>
              <a:rPr sz="1400" b="1" i="0">
                <a:solidFill>
                  <a:srgbClr val="FFFFFF"/>
                </a:solidFill>
                <a:latin typeface="Calibri"/>
              </a:rPr>
              <a:t>02  CONVERT TRIALISTS TO RISING STARS</a:t>
            </a:r>
          </a:p>
        </p:txBody>
      </p:sp>
      <p:sp>
        <p:nvSpPr>
          <p:cNvPr id="17" name="TextBox 16"/>
          <p:cNvSpPr txBox="1"/>
          <p:nvPr/>
        </p:nvSpPr>
        <p:spPr>
          <a:xfrm>
            <a:off x="3480816" y="2011680"/>
            <a:ext cx="2368296" cy="252377"/>
          </a:xfrm>
          <a:prstGeom prst="rect">
            <a:avLst/>
          </a:prstGeom>
          <a:noFill/>
        </p:spPr>
        <p:txBody>
          <a:bodyPr wrap="square" lIns="45720" tIns="18288" rIns="45720" bIns="18288" anchor="t">
            <a:spAutoFit/>
          </a:bodyPr>
          <a:lstStyle/>
          <a:p>
            <a:pPr algn="l"/>
            <a:r>
              <a:rPr sz="1400" b="1" i="0">
                <a:solidFill>
                  <a:srgbClr val="888888"/>
                </a:solidFill>
                <a:latin typeface="Calibri"/>
              </a:rPr>
              <a:t>ACTION</a:t>
            </a:r>
          </a:p>
        </p:txBody>
      </p:sp>
      <p:sp>
        <p:nvSpPr>
          <p:cNvPr id="18" name="TextBox 17"/>
          <p:cNvSpPr txBox="1"/>
          <p:nvPr/>
        </p:nvSpPr>
        <p:spPr>
          <a:xfrm>
            <a:off x="3480816" y="2286000"/>
            <a:ext cx="2368296" cy="795282"/>
          </a:xfrm>
          <a:prstGeom prst="rect">
            <a:avLst/>
          </a:prstGeom>
          <a:noFill/>
        </p:spPr>
        <p:txBody>
          <a:bodyPr wrap="square" lIns="45720" tIns="18288" rIns="45720" bIns="18288" anchor="t">
            <a:spAutoFit/>
          </a:bodyPr>
          <a:lstStyle/>
          <a:p>
            <a:pPr algn="l">
              <a:lnSpc>
                <a:spcPct val="120000"/>
              </a:lnSpc>
            </a:pPr>
            <a:r>
              <a:rPr sz="1400" b="0" i="0">
                <a:solidFill>
                  <a:srgbClr val="333333"/>
                </a:solidFill>
                <a:latin typeface="Calibri"/>
              </a:rPr>
              <a:t>Clinical case studies, dosing flexibility aids, peer speaker events for the 284 Trialists.</a:t>
            </a:r>
          </a:p>
        </p:txBody>
      </p:sp>
      <p:sp>
        <p:nvSpPr>
          <p:cNvPr id="19" name="TextBox 18"/>
          <p:cNvSpPr txBox="1"/>
          <p:nvPr/>
        </p:nvSpPr>
        <p:spPr>
          <a:xfrm>
            <a:off x="3480816" y="3780936"/>
            <a:ext cx="2368296" cy="252377"/>
          </a:xfrm>
          <a:prstGeom prst="rect">
            <a:avLst/>
          </a:prstGeom>
          <a:noFill/>
        </p:spPr>
        <p:txBody>
          <a:bodyPr wrap="square" lIns="45720" tIns="18288" rIns="45720" bIns="18288" anchor="t">
            <a:spAutoFit/>
          </a:bodyPr>
          <a:lstStyle/>
          <a:p>
            <a:pPr algn="l"/>
            <a:r>
              <a:rPr sz="1400" b="1" i="0">
                <a:solidFill>
                  <a:srgbClr val="888888"/>
                </a:solidFill>
                <a:latin typeface="Calibri"/>
              </a:rPr>
              <a:t>TARGET</a:t>
            </a:r>
          </a:p>
        </p:txBody>
      </p:sp>
      <p:sp>
        <p:nvSpPr>
          <p:cNvPr id="20" name="TextBox 19"/>
          <p:cNvSpPr txBox="1"/>
          <p:nvPr/>
        </p:nvSpPr>
        <p:spPr>
          <a:xfrm>
            <a:off x="3480816" y="4055256"/>
            <a:ext cx="2368296" cy="467820"/>
          </a:xfrm>
          <a:prstGeom prst="rect">
            <a:avLst/>
          </a:prstGeom>
          <a:noFill/>
        </p:spPr>
        <p:txBody>
          <a:bodyPr wrap="square" lIns="45720" tIns="18288" rIns="45720" bIns="18288" anchor="t">
            <a:spAutoFit/>
          </a:bodyPr>
          <a:lstStyle/>
          <a:p>
            <a:pPr algn="l"/>
            <a:r>
              <a:rPr sz="1400" b="1" i="0">
                <a:solidFill>
                  <a:srgbClr val="1B3A6F"/>
                </a:solidFill>
                <a:latin typeface="Calibri"/>
              </a:rPr>
              <a:t>20% of Trialists (about 57 HCPs) double their volume</a:t>
            </a:r>
          </a:p>
        </p:txBody>
      </p:sp>
      <p:sp>
        <p:nvSpPr>
          <p:cNvPr id="21" name="Rectangle 20"/>
          <p:cNvSpPr/>
          <p:nvPr/>
        </p:nvSpPr>
        <p:spPr>
          <a:xfrm>
            <a:off x="3407664" y="4878216"/>
            <a:ext cx="2514600" cy="1115322"/>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2" name="TextBox 21"/>
          <p:cNvSpPr txBox="1"/>
          <p:nvPr/>
        </p:nvSpPr>
        <p:spPr>
          <a:xfrm>
            <a:off x="3499104" y="4923936"/>
            <a:ext cx="2331720" cy="252377"/>
          </a:xfrm>
          <a:prstGeom prst="rect">
            <a:avLst/>
          </a:prstGeom>
          <a:noFill/>
        </p:spPr>
        <p:txBody>
          <a:bodyPr wrap="square" lIns="45720" tIns="18288" rIns="45720" bIns="18288" anchor="t">
            <a:spAutoFit/>
          </a:bodyPr>
          <a:lstStyle/>
          <a:p>
            <a:pPr algn="l"/>
            <a:r>
              <a:rPr sz="1400" b="1" i="0">
                <a:solidFill>
                  <a:srgbClr val="1E8449"/>
                </a:solidFill>
                <a:latin typeface="Calibri"/>
              </a:rPr>
              <a:t>PRIZE</a:t>
            </a:r>
          </a:p>
        </p:txBody>
      </p:sp>
      <p:sp>
        <p:nvSpPr>
          <p:cNvPr id="23" name="TextBox 22"/>
          <p:cNvSpPr txBox="1"/>
          <p:nvPr/>
        </p:nvSpPr>
        <p:spPr>
          <a:xfrm>
            <a:off x="3499104" y="5198256"/>
            <a:ext cx="2331720" cy="795282"/>
          </a:xfrm>
          <a:prstGeom prst="rect">
            <a:avLst/>
          </a:prstGeom>
          <a:noFill/>
        </p:spPr>
        <p:txBody>
          <a:bodyPr wrap="square" lIns="45720" tIns="18288" rIns="45720" bIns="18288" anchor="t">
            <a:spAutoFit/>
          </a:bodyPr>
          <a:lstStyle/>
          <a:p>
            <a:pPr algn="l">
              <a:lnSpc>
                <a:spcPct val="120000"/>
              </a:lnSpc>
            </a:pPr>
            <a:r>
              <a:rPr sz="1400" b="1" i="0">
                <a:solidFill>
                  <a:srgbClr val="1E8449"/>
                </a:solidFill>
                <a:latin typeface="Calibri"/>
              </a:rPr>
              <a:t>Plus 170 incremental claims per year. Zero acquisition cost.</a:t>
            </a:r>
          </a:p>
        </p:txBody>
      </p:sp>
      <p:sp>
        <p:nvSpPr>
          <p:cNvPr id="24" name="Rectangle 23"/>
          <p:cNvSpPr/>
          <p:nvPr/>
        </p:nvSpPr>
        <p:spPr>
          <a:xfrm>
            <a:off x="6178296" y="1508760"/>
            <a:ext cx="2697480" cy="4663440"/>
          </a:xfrm>
          <a:prstGeom prst="rect">
            <a:avLst/>
          </a:prstGeom>
          <a:solidFill>
            <a:srgbClr val="FFFFFF"/>
          </a:solidFill>
          <a:ln w="9525">
            <a:solidFill>
              <a:srgbClr val="142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5" name="Rectangle 24"/>
          <p:cNvSpPr/>
          <p:nvPr/>
        </p:nvSpPr>
        <p:spPr>
          <a:xfrm>
            <a:off x="6178296" y="1508759"/>
            <a:ext cx="2697480" cy="471023"/>
          </a:xfrm>
          <a:prstGeom prst="rect">
            <a:avLst/>
          </a:prstGeom>
          <a:solidFill>
            <a:srgbClr val="14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6" name="TextBox 25"/>
          <p:cNvSpPr txBox="1"/>
          <p:nvPr/>
        </p:nvSpPr>
        <p:spPr>
          <a:xfrm>
            <a:off x="6361176" y="1480590"/>
            <a:ext cx="2331720" cy="467820"/>
          </a:xfrm>
          <a:prstGeom prst="rect">
            <a:avLst/>
          </a:prstGeom>
          <a:noFill/>
        </p:spPr>
        <p:txBody>
          <a:bodyPr wrap="square" lIns="45720" tIns="18288" rIns="45720" bIns="18288" anchor="ctr">
            <a:spAutoFit/>
          </a:bodyPr>
          <a:lstStyle/>
          <a:p>
            <a:pPr algn="l"/>
            <a:r>
              <a:rPr sz="1400" b="1" i="0" dirty="0">
                <a:solidFill>
                  <a:srgbClr val="FFFFFF"/>
                </a:solidFill>
                <a:latin typeface="Calibri"/>
              </a:rPr>
              <a:t>03  DECLARE 4 EMERGENCY TERRITORIES</a:t>
            </a:r>
          </a:p>
        </p:txBody>
      </p:sp>
      <p:sp>
        <p:nvSpPr>
          <p:cNvPr id="27" name="TextBox 26"/>
          <p:cNvSpPr txBox="1"/>
          <p:nvPr/>
        </p:nvSpPr>
        <p:spPr>
          <a:xfrm>
            <a:off x="6342888" y="2011680"/>
            <a:ext cx="2368296" cy="252377"/>
          </a:xfrm>
          <a:prstGeom prst="rect">
            <a:avLst/>
          </a:prstGeom>
          <a:noFill/>
        </p:spPr>
        <p:txBody>
          <a:bodyPr wrap="square" lIns="45720" tIns="18288" rIns="45720" bIns="18288" anchor="t">
            <a:spAutoFit/>
          </a:bodyPr>
          <a:lstStyle/>
          <a:p>
            <a:pPr algn="l"/>
            <a:r>
              <a:rPr sz="1400" b="1" i="0">
                <a:solidFill>
                  <a:srgbClr val="888888"/>
                </a:solidFill>
                <a:latin typeface="Calibri"/>
              </a:rPr>
              <a:t>ACTION</a:t>
            </a:r>
          </a:p>
        </p:txBody>
      </p:sp>
      <p:sp>
        <p:nvSpPr>
          <p:cNvPr id="28" name="TextBox 27"/>
          <p:cNvSpPr txBox="1"/>
          <p:nvPr/>
        </p:nvSpPr>
        <p:spPr>
          <a:xfrm>
            <a:off x="6342888" y="2286000"/>
            <a:ext cx="2368296" cy="1053815"/>
          </a:xfrm>
          <a:prstGeom prst="rect">
            <a:avLst/>
          </a:prstGeom>
          <a:noFill/>
        </p:spPr>
        <p:txBody>
          <a:bodyPr wrap="square" lIns="45720" tIns="18288" rIns="45720" bIns="18288" anchor="t">
            <a:spAutoFit/>
          </a:bodyPr>
          <a:lstStyle/>
          <a:p>
            <a:pPr algn="l">
              <a:lnSpc>
                <a:spcPct val="120000"/>
              </a:lnSpc>
            </a:pPr>
            <a:r>
              <a:rPr sz="1400" b="0" i="0">
                <a:solidFill>
                  <a:srgbClr val="333333"/>
                </a:solidFill>
                <a:latin typeface="Calibri"/>
              </a:rPr>
              <a:t>Audit St. Louis, Phoenix, LA San Diego, New York within 30 days. Formulary, rep coverage, competitive intel.</a:t>
            </a:r>
          </a:p>
        </p:txBody>
      </p:sp>
      <p:sp>
        <p:nvSpPr>
          <p:cNvPr id="29" name="TextBox 28"/>
          <p:cNvSpPr txBox="1"/>
          <p:nvPr/>
        </p:nvSpPr>
        <p:spPr>
          <a:xfrm>
            <a:off x="6342888" y="3780936"/>
            <a:ext cx="2368296" cy="252377"/>
          </a:xfrm>
          <a:prstGeom prst="rect">
            <a:avLst/>
          </a:prstGeom>
          <a:noFill/>
        </p:spPr>
        <p:txBody>
          <a:bodyPr wrap="square" lIns="45720" tIns="18288" rIns="45720" bIns="18288" anchor="t">
            <a:spAutoFit/>
          </a:bodyPr>
          <a:lstStyle/>
          <a:p>
            <a:pPr algn="l"/>
            <a:r>
              <a:rPr sz="1400" b="1" i="0">
                <a:solidFill>
                  <a:srgbClr val="888888"/>
                </a:solidFill>
                <a:latin typeface="Calibri"/>
              </a:rPr>
              <a:t>TARGET</a:t>
            </a:r>
          </a:p>
        </p:txBody>
      </p:sp>
      <p:sp>
        <p:nvSpPr>
          <p:cNvPr id="30" name="TextBox 29"/>
          <p:cNvSpPr txBox="1"/>
          <p:nvPr/>
        </p:nvSpPr>
        <p:spPr>
          <a:xfrm>
            <a:off x="6342888" y="4055256"/>
            <a:ext cx="2368296" cy="467820"/>
          </a:xfrm>
          <a:prstGeom prst="rect">
            <a:avLst/>
          </a:prstGeom>
          <a:noFill/>
        </p:spPr>
        <p:txBody>
          <a:bodyPr wrap="square" lIns="45720" tIns="18288" rIns="45720" bIns="18288" anchor="t">
            <a:spAutoFit/>
          </a:bodyPr>
          <a:lstStyle/>
          <a:p>
            <a:pPr algn="l"/>
            <a:r>
              <a:rPr sz="1400" b="1" i="0">
                <a:solidFill>
                  <a:srgbClr val="1B3A6F"/>
                </a:solidFill>
                <a:latin typeface="Calibri"/>
              </a:rPr>
              <a:t>Recover 50% of 2018 lost volume in these four</a:t>
            </a:r>
          </a:p>
        </p:txBody>
      </p:sp>
      <p:sp>
        <p:nvSpPr>
          <p:cNvPr id="31" name="Rectangle 30"/>
          <p:cNvSpPr/>
          <p:nvPr/>
        </p:nvSpPr>
        <p:spPr>
          <a:xfrm>
            <a:off x="6269736" y="4878216"/>
            <a:ext cx="2514600" cy="1115322"/>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2" name="TextBox 31"/>
          <p:cNvSpPr txBox="1"/>
          <p:nvPr/>
        </p:nvSpPr>
        <p:spPr>
          <a:xfrm>
            <a:off x="6361176" y="4923936"/>
            <a:ext cx="2331720" cy="252377"/>
          </a:xfrm>
          <a:prstGeom prst="rect">
            <a:avLst/>
          </a:prstGeom>
          <a:noFill/>
        </p:spPr>
        <p:txBody>
          <a:bodyPr wrap="square" lIns="45720" tIns="18288" rIns="45720" bIns="18288" anchor="t">
            <a:spAutoFit/>
          </a:bodyPr>
          <a:lstStyle/>
          <a:p>
            <a:pPr algn="l"/>
            <a:r>
              <a:rPr sz="1400" b="1" i="0">
                <a:solidFill>
                  <a:srgbClr val="1E8449"/>
                </a:solidFill>
                <a:latin typeface="Calibri"/>
              </a:rPr>
              <a:t>PRIZE</a:t>
            </a:r>
          </a:p>
        </p:txBody>
      </p:sp>
      <p:sp>
        <p:nvSpPr>
          <p:cNvPr id="33" name="TextBox 32"/>
          <p:cNvSpPr txBox="1"/>
          <p:nvPr/>
        </p:nvSpPr>
        <p:spPr>
          <a:xfrm>
            <a:off x="6361176" y="5198256"/>
            <a:ext cx="2331720" cy="536750"/>
          </a:xfrm>
          <a:prstGeom prst="rect">
            <a:avLst/>
          </a:prstGeom>
          <a:noFill/>
        </p:spPr>
        <p:txBody>
          <a:bodyPr wrap="square" lIns="45720" tIns="18288" rIns="45720" bIns="18288" anchor="t">
            <a:spAutoFit/>
          </a:bodyPr>
          <a:lstStyle/>
          <a:p>
            <a:pPr algn="l">
              <a:lnSpc>
                <a:spcPct val="120000"/>
              </a:lnSpc>
            </a:pPr>
            <a:r>
              <a:rPr sz="1400" b="1" i="0">
                <a:solidFill>
                  <a:srgbClr val="1E8449"/>
                </a:solidFill>
                <a:latin typeface="Calibri"/>
              </a:rPr>
              <a:t>Plus 30 short term claims plus writer base protection</a:t>
            </a:r>
          </a:p>
        </p:txBody>
      </p:sp>
      <p:sp>
        <p:nvSpPr>
          <p:cNvPr id="34" name="Rectangle 33"/>
          <p:cNvSpPr/>
          <p:nvPr/>
        </p:nvSpPr>
        <p:spPr>
          <a:xfrm>
            <a:off x="9040368" y="1508760"/>
            <a:ext cx="2697480" cy="4663440"/>
          </a:xfrm>
          <a:prstGeom prst="rect">
            <a:avLst/>
          </a:prstGeom>
          <a:solidFill>
            <a:srgbClr val="FFFFFF"/>
          </a:solidFill>
          <a:ln w="9525">
            <a:solidFill>
              <a:srgbClr val="142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5" name="Rectangle 34"/>
          <p:cNvSpPr/>
          <p:nvPr/>
        </p:nvSpPr>
        <p:spPr>
          <a:xfrm>
            <a:off x="9040368" y="1508760"/>
            <a:ext cx="2697480" cy="471022"/>
          </a:xfrm>
          <a:prstGeom prst="rect">
            <a:avLst/>
          </a:prstGeom>
          <a:solidFill>
            <a:srgbClr val="14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6" name="TextBox 35"/>
          <p:cNvSpPr txBox="1"/>
          <p:nvPr/>
        </p:nvSpPr>
        <p:spPr>
          <a:xfrm>
            <a:off x="9223248" y="1480590"/>
            <a:ext cx="2331720" cy="467820"/>
          </a:xfrm>
          <a:prstGeom prst="rect">
            <a:avLst/>
          </a:prstGeom>
          <a:noFill/>
        </p:spPr>
        <p:txBody>
          <a:bodyPr wrap="square" lIns="45720" tIns="18288" rIns="45720" bIns="18288" anchor="ctr">
            <a:spAutoFit/>
          </a:bodyPr>
          <a:lstStyle/>
          <a:p>
            <a:pPr algn="l"/>
            <a:r>
              <a:rPr sz="1400" b="1" i="0">
                <a:solidFill>
                  <a:srgbClr val="FFFFFF"/>
                </a:solidFill>
                <a:latin typeface="Calibri"/>
              </a:rPr>
              <a:t>04  DEFEND THE ANESTHESIOLOGY BASE</a:t>
            </a:r>
          </a:p>
        </p:txBody>
      </p:sp>
      <p:sp>
        <p:nvSpPr>
          <p:cNvPr id="37" name="TextBox 36"/>
          <p:cNvSpPr txBox="1"/>
          <p:nvPr/>
        </p:nvSpPr>
        <p:spPr>
          <a:xfrm>
            <a:off x="9204960" y="2011680"/>
            <a:ext cx="2368296" cy="252377"/>
          </a:xfrm>
          <a:prstGeom prst="rect">
            <a:avLst/>
          </a:prstGeom>
          <a:noFill/>
        </p:spPr>
        <p:txBody>
          <a:bodyPr wrap="square" lIns="45720" tIns="18288" rIns="45720" bIns="18288" anchor="t">
            <a:spAutoFit/>
          </a:bodyPr>
          <a:lstStyle/>
          <a:p>
            <a:pPr algn="l"/>
            <a:r>
              <a:rPr sz="1400" b="1" i="0">
                <a:solidFill>
                  <a:srgbClr val="888888"/>
                </a:solidFill>
                <a:latin typeface="Calibri"/>
              </a:rPr>
              <a:t>ACTION</a:t>
            </a:r>
          </a:p>
        </p:txBody>
      </p:sp>
      <p:sp>
        <p:nvSpPr>
          <p:cNvPr id="38" name="TextBox 37"/>
          <p:cNvSpPr txBox="1"/>
          <p:nvPr/>
        </p:nvSpPr>
        <p:spPr>
          <a:xfrm>
            <a:off x="9204960" y="2286000"/>
            <a:ext cx="2368296" cy="1053815"/>
          </a:xfrm>
          <a:prstGeom prst="rect">
            <a:avLst/>
          </a:prstGeom>
          <a:noFill/>
        </p:spPr>
        <p:txBody>
          <a:bodyPr wrap="square" lIns="45720" tIns="18288" rIns="45720" bIns="18288" anchor="t">
            <a:spAutoFit/>
          </a:bodyPr>
          <a:lstStyle/>
          <a:p>
            <a:pPr algn="l">
              <a:lnSpc>
                <a:spcPct val="120000"/>
              </a:lnSpc>
            </a:pPr>
            <a:r>
              <a:rPr sz="1400" b="0" i="0">
                <a:solidFill>
                  <a:srgbClr val="333333"/>
                </a:solidFill>
                <a:latin typeface="Calibri"/>
              </a:rPr>
              <a:t>Named NPI ring fence around top 30 anesthesiology writers. KOL programs, advisory boards, real world evidence.</a:t>
            </a:r>
          </a:p>
        </p:txBody>
      </p:sp>
      <p:sp>
        <p:nvSpPr>
          <p:cNvPr id="39" name="TextBox 38"/>
          <p:cNvSpPr txBox="1"/>
          <p:nvPr/>
        </p:nvSpPr>
        <p:spPr>
          <a:xfrm>
            <a:off x="9204960" y="3780936"/>
            <a:ext cx="2368296" cy="252377"/>
          </a:xfrm>
          <a:prstGeom prst="rect">
            <a:avLst/>
          </a:prstGeom>
          <a:noFill/>
        </p:spPr>
        <p:txBody>
          <a:bodyPr wrap="square" lIns="45720" tIns="18288" rIns="45720" bIns="18288" anchor="t">
            <a:spAutoFit/>
          </a:bodyPr>
          <a:lstStyle/>
          <a:p>
            <a:pPr algn="l"/>
            <a:r>
              <a:rPr sz="1400" b="1" i="0">
                <a:solidFill>
                  <a:srgbClr val="888888"/>
                </a:solidFill>
                <a:latin typeface="Calibri"/>
              </a:rPr>
              <a:t>TARGET</a:t>
            </a:r>
          </a:p>
        </p:txBody>
      </p:sp>
      <p:sp>
        <p:nvSpPr>
          <p:cNvPr id="40" name="TextBox 39"/>
          <p:cNvSpPr txBox="1"/>
          <p:nvPr/>
        </p:nvSpPr>
        <p:spPr>
          <a:xfrm>
            <a:off x="9204960" y="4055256"/>
            <a:ext cx="2368296" cy="467820"/>
          </a:xfrm>
          <a:prstGeom prst="rect">
            <a:avLst/>
          </a:prstGeom>
          <a:noFill/>
        </p:spPr>
        <p:txBody>
          <a:bodyPr wrap="square" lIns="45720" tIns="18288" rIns="45720" bIns="18288" anchor="t">
            <a:spAutoFit/>
          </a:bodyPr>
          <a:lstStyle/>
          <a:p>
            <a:pPr algn="l"/>
            <a:r>
              <a:rPr sz="1400" b="1" i="0">
                <a:solidFill>
                  <a:srgbClr val="1B3A6F"/>
                </a:solidFill>
                <a:latin typeface="Calibri"/>
              </a:rPr>
              <a:t>Hold the segment at 2017 share</a:t>
            </a:r>
          </a:p>
        </p:txBody>
      </p:sp>
      <p:sp>
        <p:nvSpPr>
          <p:cNvPr id="41" name="Rectangle 40"/>
          <p:cNvSpPr/>
          <p:nvPr/>
        </p:nvSpPr>
        <p:spPr>
          <a:xfrm>
            <a:off x="9131808" y="4878216"/>
            <a:ext cx="2514600" cy="1115322"/>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2" name="TextBox 41"/>
          <p:cNvSpPr txBox="1"/>
          <p:nvPr/>
        </p:nvSpPr>
        <p:spPr>
          <a:xfrm>
            <a:off x="9223248" y="4923936"/>
            <a:ext cx="2331720" cy="252377"/>
          </a:xfrm>
          <a:prstGeom prst="rect">
            <a:avLst/>
          </a:prstGeom>
          <a:noFill/>
        </p:spPr>
        <p:txBody>
          <a:bodyPr wrap="square" lIns="45720" tIns="18288" rIns="45720" bIns="18288" anchor="t">
            <a:spAutoFit/>
          </a:bodyPr>
          <a:lstStyle/>
          <a:p>
            <a:pPr algn="l"/>
            <a:r>
              <a:rPr sz="1400" b="1" i="0">
                <a:solidFill>
                  <a:srgbClr val="1E8449"/>
                </a:solidFill>
                <a:latin typeface="Calibri"/>
              </a:rPr>
              <a:t>PRIZE</a:t>
            </a:r>
          </a:p>
        </p:txBody>
      </p:sp>
      <p:sp>
        <p:nvSpPr>
          <p:cNvPr id="43" name="TextBox 42"/>
          <p:cNvSpPr txBox="1"/>
          <p:nvPr/>
        </p:nvSpPr>
        <p:spPr>
          <a:xfrm>
            <a:off x="9223248" y="5198256"/>
            <a:ext cx="2331720" cy="536750"/>
          </a:xfrm>
          <a:prstGeom prst="rect">
            <a:avLst/>
          </a:prstGeom>
          <a:noFill/>
        </p:spPr>
        <p:txBody>
          <a:bodyPr wrap="square" lIns="45720" tIns="18288" rIns="45720" bIns="18288" anchor="t">
            <a:spAutoFit/>
          </a:bodyPr>
          <a:lstStyle/>
          <a:p>
            <a:pPr algn="l">
              <a:lnSpc>
                <a:spcPct val="120000"/>
              </a:lnSpc>
            </a:pPr>
            <a:r>
              <a:rPr sz="1400" b="1" i="0">
                <a:solidFill>
                  <a:srgbClr val="1E8449"/>
                </a:solidFill>
                <a:latin typeface="Calibri"/>
              </a:rPr>
              <a:t>Avoid leaking about 150 claims per year to J3010</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6400800" cy="274320"/>
          </a:xfrm>
          <a:prstGeom prst="rect">
            <a:avLst/>
          </a:prstGeom>
          <a:noFill/>
        </p:spPr>
        <p:txBody>
          <a:bodyPr wrap="square" lIns="45720" tIns="18288" rIns="45720" bIns="18288" anchor="t">
            <a:spAutoFit/>
          </a:bodyPr>
          <a:lstStyle/>
          <a:p>
            <a:pPr algn="l"/>
            <a:r>
              <a:rPr sz="1100" b="1" i="0">
                <a:solidFill>
                  <a:srgbClr val="9E1B32"/>
                </a:solidFill>
                <a:latin typeface="Calibri"/>
              </a:rPr>
              <a:t>Q3 Execution Plan</a:t>
            </a:r>
          </a:p>
        </p:txBody>
      </p:sp>
      <p:sp>
        <p:nvSpPr>
          <p:cNvPr id="3" name="TextBox 2"/>
          <p:cNvSpPr txBox="1"/>
          <p:nvPr/>
        </p:nvSpPr>
        <p:spPr>
          <a:xfrm>
            <a:off x="502920" y="566928"/>
            <a:ext cx="11247120" cy="777240"/>
          </a:xfrm>
          <a:prstGeom prst="rect">
            <a:avLst/>
          </a:prstGeom>
          <a:noFill/>
        </p:spPr>
        <p:txBody>
          <a:bodyPr wrap="square" lIns="45720" tIns="18288" rIns="45720" bIns="18288" anchor="t">
            <a:spAutoFit/>
          </a:bodyPr>
          <a:lstStyle/>
          <a:p>
            <a:pPr algn="l"/>
            <a:r>
              <a:rPr sz="2800" b="1" i="0">
                <a:solidFill>
                  <a:srgbClr val="1B3A6F"/>
                </a:solidFill>
                <a:latin typeface="Calibri"/>
              </a:rPr>
              <a:t>30, 60, 90 Day Plan. Sequence and Trade Offs Made Explicit.</a:t>
            </a:r>
          </a:p>
        </p:txBody>
      </p:sp>
      <p:sp>
        <p:nvSpPr>
          <p:cNvPr id="4" name="Rectangle 3"/>
          <p:cNvSpPr/>
          <p:nvPr/>
        </p:nvSpPr>
        <p:spPr>
          <a:xfrm>
            <a:off x="426720" y="1508760"/>
            <a:ext cx="3657600" cy="2697480"/>
          </a:xfrm>
          <a:prstGeom prst="rect">
            <a:avLst/>
          </a:prstGeom>
          <a:solidFill>
            <a:srgbClr val="FFFFFF"/>
          </a:solidFill>
          <a:ln w="9525">
            <a:solidFill>
              <a:srgbClr val="142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26720" y="1508760"/>
            <a:ext cx="3657600" cy="640080"/>
          </a:xfrm>
          <a:prstGeom prst="rect">
            <a:avLst/>
          </a:prstGeom>
          <a:solidFill>
            <a:srgbClr val="14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26720" y="1554480"/>
            <a:ext cx="3657600" cy="274320"/>
          </a:xfrm>
          <a:prstGeom prst="rect">
            <a:avLst/>
          </a:prstGeom>
          <a:noFill/>
        </p:spPr>
        <p:txBody>
          <a:bodyPr wrap="square" lIns="45720" tIns="18288" rIns="45720" bIns="18288" anchor="ctr">
            <a:spAutoFit/>
          </a:bodyPr>
          <a:lstStyle/>
          <a:p>
            <a:pPr algn="ctr"/>
            <a:r>
              <a:rPr sz="1100" b="1" i="0">
                <a:solidFill>
                  <a:srgbClr val="FFFFFF"/>
                </a:solidFill>
                <a:latin typeface="Calibri"/>
              </a:rPr>
              <a:t>DAYS 0 TO 30</a:t>
            </a:r>
          </a:p>
        </p:txBody>
      </p:sp>
      <p:sp>
        <p:nvSpPr>
          <p:cNvPr id="7" name="TextBox 6"/>
          <p:cNvSpPr txBox="1"/>
          <p:nvPr/>
        </p:nvSpPr>
        <p:spPr>
          <a:xfrm>
            <a:off x="426720" y="1801368"/>
            <a:ext cx="3657600" cy="292608"/>
          </a:xfrm>
          <a:prstGeom prst="rect">
            <a:avLst/>
          </a:prstGeom>
          <a:noFill/>
        </p:spPr>
        <p:txBody>
          <a:bodyPr wrap="square" lIns="45720" tIns="18288" rIns="45720" bIns="18288" anchor="ctr">
            <a:spAutoFit/>
          </a:bodyPr>
          <a:lstStyle/>
          <a:p>
            <a:pPr algn="ctr"/>
            <a:r>
              <a:rPr sz="1500" b="1" i="0">
                <a:solidFill>
                  <a:srgbClr val="FFFFFF"/>
                </a:solidFill>
                <a:latin typeface="Calibri"/>
              </a:rPr>
              <a:t>DIAGNOSE</a:t>
            </a:r>
          </a:p>
        </p:txBody>
      </p:sp>
      <p:sp>
        <p:nvSpPr>
          <p:cNvPr id="8" name="TextBox 7"/>
          <p:cNvSpPr txBox="1"/>
          <p:nvPr/>
        </p:nvSpPr>
        <p:spPr>
          <a:xfrm>
            <a:off x="563880" y="2200936"/>
            <a:ext cx="3383280" cy="1190006"/>
          </a:xfrm>
          <a:prstGeom prst="rect">
            <a:avLst/>
          </a:prstGeom>
          <a:noFill/>
        </p:spPr>
        <p:txBody>
          <a:bodyPr wrap="square" lIns="45720" rIns="45720">
            <a:spAutoFit/>
          </a:bodyPr>
          <a:lstStyle/>
          <a:p>
            <a:pPr algn="l">
              <a:lnSpc>
                <a:spcPct val="130000"/>
              </a:lnSpc>
            </a:pPr>
            <a:r>
              <a:rPr sz="1400" b="1">
                <a:solidFill>
                  <a:srgbClr val="333333"/>
                </a:solidFill>
                <a:latin typeface="Calibri"/>
              </a:rPr>
              <a:t>•   </a:t>
            </a:r>
            <a:r>
              <a:rPr sz="1400">
                <a:solidFill>
                  <a:srgbClr val="333333"/>
                </a:solidFill>
                <a:latin typeface="Calibri"/>
              </a:rPr>
              <a:t>Extract NPI list of 148 lapsed J2250 writers</a:t>
            </a:r>
          </a:p>
          <a:p>
            <a:pPr algn="l">
              <a:lnSpc>
                <a:spcPct val="130000"/>
              </a:lnSpc>
            </a:pPr>
            <a:r>
              <a:rPr sz="1400" b="1">
                <a:solidFill>
                  <a:srgbClr val="333333"/>
                </a:solidFill>
                <a:latin typeface="Calibri"/>
              </a:rPr>
              <a:t>•   </a:t>
            </a:r>
            <a:r>
              <a:rPr sz="1400">
                <a:solidFill>
                  <a:srgbClr val="333333"/>
                </a:solidFill>
                <a:latin typeface="Calibri"/>
              </a:rPr>
              <a:t>Define Trialist target list per territory</a:t>
            </a:r>
          </a:p>
          <a:p>
            <a:pPr algn="l">
              <a:lnSpc>
                <a:spcPct val="130000"/>
              </a:lnSpc>
            </a:pPr>
            <a:r>
              <a:rPr sz="1400" b="1">
                <a:solidFill>
                  <a:srgbClr val="333333"/>
                </a:solidFill>
                <a:latin typeface="Calibri"/>
              </a:rPr>
              <a:t>•   </a:t>
            </a:r>
            <a:r>
              <a:rPr sz="1400">
                <a:solidFill>
                  <a:srgbClr val="333333"/>
                </a:solidFill>
                <a:latin typeface="Calibri"/>
              </a:rPr>
              <a:t>Audit rep activity and formulary status</a:t>
            </a:r>
          </a:p>
          <a:p>
            <a:pPr algn="l">
              <a:lnSpc>
                <a:spcPct val="130000"/>
              </a:lnSpc>
            </a:pPr>
            <a:r>
              <a:rPr sz="1400" b="1">
                <a:solidFill>
                  <a:srgbClr val="333333"/>
                </a:solidFill>
                <a:latin typeface="Calibri"/>
              </a:rPr>
              <a:t>•   </a:t>
            </a:r>
            <a:r>
              <a:rPr sz="1400">
                <a:solidFill>
                  <a:srgbClr val="333333"/>
                </a:solidFill>
                <a:latin typeface="Calibri"/>
              </a:rPr>
              <a:t>Build named NPI list of top 30 KOLs</a:t>
            </a:r>
          </a:p>
        </p:txBody>
      </p:sp>
      <p:sp>
        <p:nvSpPr>
          <p:cNvPr id="9" name="Rectangle 8"/>
          <p:cNvSpPr/>
          <p:nvPr/>
        </p:nvSpPr>
        <p:spPr>
          <a:xfrm>
            <a:off x="4267200" y="1508760"/>
            <a:ext cx="3657600" cy="2697480"/>
          </a:xfrm>
          <a:prstGeom prst="rect">
            <a:avLst/>
          </a:prstGeom>
          <a:solidFill>
            <a:srgbClr val="FFFFFF"/>
          </a:solidFill>
          <a:ln w="9525">
            <a:solidFill>
              <a:srgbClr val="142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267200" y="1508760"/>
            <a:ext cx="3657600" cy="640080"/>
          </a:xfrm>
          <a:prstGeom prst="rect">
            <a:avLst/>
          </a:prstGeom>
          <a:solidFill>
            <a:srgbClr val="14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67200" y="1554480"/>
            <a:ext cx="3657600" cy="274320"/>
          </a:xfrm>
          <a:prstGeom prst="rect">
            <a:avLst/>
          </a:prstGeom>
          <a:noFill/>
        </p:spPr>
        <p:txBody>
          <a:bodyPr wrap="square" lIns="45720" tIns="18288" rIns="45720" bIns="18288" anchor="ctr">
            <a:spAutoFit/>
          </a:bodyPr>
          <a:lstStyle/>
          <a:p>
            <a:pPr algn="ctr"/>
            <a:r>
              <a:rPr sz="1100" b="1" i="0">
                <a:solidFill>
                  <a:srgbClr val="FFFFFF"/>
                </a:solidFill>
                <a:latin typeface="Calibri"/>
              </a:rPr>
              <a:t>DAYS 31 TO 60</a:t>
            </a:r>
          </a:p>
        </p:txBody>
      </p:sp>
      <p:sp>
        <p:nvSpPr>
          <p:cNvPr id="12" name="TextBox 11"/>
          <p:cNvSpPr txBox="1"/>
          <p:nvPr/>
        </p:nvSpPr>
        <p:spPr>
          <a:xfrm>
            <a:off x="4267200" y="1801368"/>
            <a:ext cx="3657600" cy="292608"/>
          </a:xfrm>
          <a:prstGeom prst="rect">
            <a:avLst/>
          </a:prstGeom>
          <a:noFill/>
        </p:spPr>
        <p:txBody>
          <a:bodyPr wrap="square" lIns="45720" tIns="18288" rIns="45720" bIns="18288" anchor="ctr">
            <a:spAutoFit/>
          </a:bodyPr>
          <a:lstStyle/>
          <a:p>
            <a:pPr algn="ctr"/>
            <a:r>
              <a:rPr sz="1500" b="1" i="0">
                <a:solidFill>
                  <a:srgbClr val="FFFFFF"/>
                </a:solidFill>
                <a:latin typeface="Calibri"/>
              </a:rPr>
              <a:t>INTERVENE</a:t>
            </a:r>
          </a:p>
        </p:txBody>
      </p:sp>
      <p:sp>
        <p:nvSpPr>
          <p:cNvPr id="13" name="TextBox 12"/>
          <p:cNvSpPr txBox="1"/>
          <p:nvPr/>
        </p:nvSpPr>
        <p:spPr>
          <a:xfrm>
            <a:off x="4404360" y="2200936"/>
            <a:ext cx="3383280" cy="2030236"/>
          </a:xfrm>
          <a:prstGeom prst="rect">
            <a:avLst/>
          </a:prstGeom>
          <a:noFill/>
        </p:spPr>
        <p:txBody>
          <a:bodyPr wrap="square" lIns="45720" rIns="45720">
            <a:spAutoFit/>
          </a:bodyPr>
          <a:lstStyle/>
          <a:p>
            <a:pPr algn="l">
              <a:lnSpc>
                <a:spcPct val="130000"/>
              </a:lnSpc>
            </a:pPr>
            <a:r>
              <a:rPr sz="1400" b="1" dirty="0">
                <a:solidFill>
                  <a:srgbClr val="333333"/>
                </a:solidFill>
                <a:latin typeface="Calibri"/>
              </a:rPr>
              <a:t>•   </a:t>
            </a:r>
            <a:r>
              <a:rPr sz="1400" dirty="0">
                <a:solidFill>
                  <a:srgbClr val="333333"/>
                </a:solidFill>
                <a:latin typeface="Calibri"/>
              </a:rPr>
              <a:t>First touch re engagement to 100% of lapsed list</a:t>
            </a:r>
          </a:p>
          <a:p>
            <a:pPr algn="l">
              <a:lnSpc>
                <a:spcPct val="130000"/>
              </a:lnSpc>
            </a:pPr>
            <a:r>
              <a:rPr sz="1400" b="1" dirty="0">
                <a:solidFill>
                  <a:srgbClr val="333333"/>
                </a:solidFill>
                <a:latin typeface="Calibri"/>
              </a:rPr>
              <a:t>•   </a:t>
            </a:r>
            <a:r>
              <a:rPr sz="1400" dirty="0">
                <a:solidFill>
                  <a:srgbClr val="333333"/>
                </a:solidFill>
                <a:latin typeface="Calibri"/>
              </a:rPr>
              <a:t>Deploy detail aids and Trialist case studies</a:t>
            </a:r>
          </a:p>
          <a:p>
            <a:pPr algn="l">
              <a:lnSpc>
                <a:spcPct val="130000"/>
              </a:lnSpc>
            </a:pPr>
            <a:r>
              <a:rPr sz="1400" b="1" dirty="0">
                <a:solidFill>
                  <a:srgbClr val="333333"/>
                </a:solidFill>
                <a:latin typeface="Calibri"/>
              </a:rPr>
              <a:t>•   </a:t>
            </a:r>
            <a:r>
              <a:rPr sz="1400" dirty="0">
                <a:solidFill>
                  <a:srgbClr val="333333"/>
                </a:solidFill>
                <a:latin typeface="Calibri"/>
              </a:rPr>
              <a:t>Launch corrective action in emergency territories</a:t>
            </a:r>
          </a:p>
          <a:p>
            <a:pPr algn="l">
              <a:lnSpc>
                <a:spcPct val="130000"/>
              </a:lnSpc>
            </a:pPr>
            <a:r>
              <a:rPr sz="1400" b="1" dirty="0">
                <a:solidFill>
                  <a:srgbClr val="333333"/>
                </a:solidFill>
                <a:latin typeface="Calibri"/>
              </a:rPr>
              <a:t>•   </a:t>
            </a:r>
            <a:r>
              <a:rPr sz="1400" dirty="0">
                <a:solidFill>
                  <a:srgbClr val="333333"/>
                </a:solidFill>
                <a:latin typeface="Calibri"/>
              </a:rPr>
              <a:t>Begin KOL advisory boards for anesthesiology</a:t>
            </a:r>
          </a:p>
        </p:txBody>
      </p:sp>
      <p:sp>
        <p:nvSpPr>
          <p:cNvPr id="14" name="Rectangle 13"/>
          <p:cNvSpPr/>
          <p:nvPr/>
        </p:nvSpPr>
        <p:spPr>
          <a:xfrm>
            <a:off x="8107680" y="1508760"/>
            <a:ext cx="3657600" cy="2697480"/>
          </a:xfrm>
          <a:prstGeom prst="rect">
            <a:avLst/>
          </a:prstGeom>
          <a:solidFill>
            <a:srgbClr val="FFFFFF"/>
          </a:solidFill>
          <a:ln w="9525">
            <a:solidFill>
              <a:srgbClr val="142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07680" y="1508760"/>
            <a:ext cx="3657600" cy="640080"/>
          </a:xfrm>
          <a:prstGeom prst="rect">
            <a:avLst/>
          </a:prstGeom>
          <a:solidFill>
            <a:srgbClr val="14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07680" y="1554480"/>
            <a:ext cx="3657600" cy="274320"/>
          </a:xfrm>
          <a:prstGeom prst="rect">
            <a:avLst/>
          </a:prstGeom>
          <a:noFill/>
        </p:spPr>
        <p:txBody>
          <a:bodyPr wrap="square" lIns="45720" tIns="18288" rIns="45720" bIns="18288" anchor="ctr">
            <a:spAutoFit/>
          </a:bodyPr>
          <a:lstStyle/>
          <a:p>
            <a:pPr algn="ctr"/>
            <a:r>
              <a:rPr sz="1100" b="1" i="0">
                <a:solidFill>
                  <a:srgbClr val="FFFFFF"/>
                </a:solidFill>
                <a:latin typeface="Calibri"/>
              </a:rPr>
              <a:t>DAYS 61 TO 90</a:t>
            </a:r>
          </a:p>
        </p:txBody>
      </p:sp>
      <p:sp>
        <p:nvSpPr>
          <p:cNvPr id="17" name="TextBox 16"/>
          <p:cNvSpPr txBox="1"/>
          <p:nvPr/>
        </p:nvSpPr>
        <p:spPr>
          <a:xfrm>
            <a:off x="8107680" y="1801368"/>
            <a:ext cx="3657600" cy="292608"/>
          </a:xfrm>
          <a:prstGeom prst="rect">
            <a:avLst/>
          </a:prstGeom>
          <a:noFill/>
        </p:spPr>
        <p:txBody>
          <a:bodyPr wrap="square" lIns="45720" tIns="18288" rIns="45720" bIns="18288" anchor="ctr">
            <a:spAutoFit/>
          </a:bodyPr>
          <a:lstStyle/>
          <a:p>
            <a:pPr algn="ctr"/>
            <a:r>
              <a:rPr sz="1500" b="1" i="0">
                <a:solidFill>
                  <a:srgbClr val="FFFFFF"/>
                </a:solidFill>
                <a:latin typeface="Calibri"/>
              </a:rPr>
              <a:t>MEASURE AND SCALE</a:t>
            </a:r>
          </a:p>
        </p:txBody>
      </p:sp>
      <p:sp>
        <p:nvSpPr>
          <p:cNvPr id="18" name="TextBox 17"/>
          <p:cNvSpPr txBox="1"/>
          <p:nvPr/>
        </p:nvSpPr>
        <p:spPr>
          <a:xfrm>
            <a:off x="8244840" y="2200936"/>
            <a:ext cx="3383280" cy="1470082"/>
          </a:xfrm>
          <a:prstGeom prst="rect">
            <a:avLst/>
          </a:prstGeom>
          <a:noFill/>
        </p:spPr>
        <p:txBody>
          <a:bodyPr wrap="square" lIns="45720" rIns="45720">
            <a:spAutoFit/>
          </a:bodyPr>
          <a:lstStyle/>
          <a:p>
            <a:pPr algn="l">
              <a:lnSpc>
                <a:spcPct val="130000"/>
              </a:lnSpc>
            </a:pPr>
            <a:r>
              <a:rPr sz="1400" b="1">
                <a:solidFill>
                  <a:srgbClr val="333333"/>
                </a:solidFill>
                <a:latin typeface="Calibri"/>
              </a:rPr>
              <a:t>•   </a:t>
            </a:r>
            <a:r>
              <a:rPr sz="1400">
                <a:solidFill>
                  <a:srgbClr val="333333"/>
                </a:solidFill>
                <a:latin typeface="Calibri"/>
              </a:rPr>
              <a:t>Track re engagement conversion rate</a:t>
            </a:r>
          </a:p>
          <a:p>
            <a:pPr algn="l">
              <a:lnSpc>
                <a:spcPct val="130000"/>
              </a:lnSpc>
            </a:pPr>
            <a:r>
              <a:rPr sz="1400" b="1">
                <a:solidFill>
                  <a:srgbClr val="333333"/>
                </a:solidFill>
                <a:latin typeface="Calibri"/>
              </a:rPr>
              <a:t>•   </a:t>
            </a:r>
            <a:r>
              <a:rPr sz="1400">
                <a:solidFill>
                  <a:srgbClr val="333333"/>
                </a:solidFill>
                <a:latin typeface="Calibri"/>
              </a:rPr>
              <a:t>Measure Trialist to Rising Star migration</a:t>
            </a:r>
          </a:p>
          <a:p>
            <a:pPr algn="l">
              <a:lnSpc>
                <a:spcPct val="130000"/>
              </a:lnSpc>
            </a:pPr>
            <a:r>
              <a:rPr sz="1400" b="1">
                <a:solidFill>
                  <a:srgbClr val="333333"/>
                </a:solidFill>
                <a:latin typeface="Calibri"/>
              </a:rPr>
              <a:t>•   </a:t>
            </a:r>
            <a:r>
              <a:rPr sz="1400">
                <a:solidFill>
                  <a:srgbClr val="333333"/>
                </a:solidFill>
                <a:latin typeface="Calibri"/>
              </a:rPr>
              <a:t>Review territory trajectory and escalate as needed</a:t>
            </a:r>
          </a:p>
          <a:p>
            <a:pPr algn="l">
              <a:lnSpc>
                <a:spcPct val="130000"/>
              </a:lnSpc>
            </a:pPr>
            <a:r>
              <a:rPr sz="1400" b="1">
                <a:solidFill>
                  <a:srgbClr val="333333"/>
                </a:solidFill>
                <a:latin typeface="Calibri"/>
              </a:rPr>
              <a:t>•   </a:t>
            </a:r>
            <a:r>
              <a:rPr sz="1400">
                <a:solidFill>
                  <a:srgbClr val="333333"/>
                </a:solidFill>
                <a:latin typeface="Calibri"/>
              </a:rPr>
              <a:t>Refresh playbook based on early signal</a:t>
            </a:r>
          </a:p>
        </p:txBody>
      </p:sp>
      <p:sp>
        <p:nvSpPr>
          <p:cNvPr id="19" name="TextBox 18"/>
          <p:cNvSpPr txBox="1"/>
          <p:nvPr/>
        </p:nvSpPr>
        <p:spPr>
          <a:xfrm>
            <a:off x="502920" y="4349776"/>
            <a:ext cx="11247120" cy="365760"/>
          </a:xfrm>
          <a:prstGeom prst="rect">
            <a:avLst/>
          </a:prstGeom>
          <a:noFill/>
        </p:spPr>
        <p:txBody>
          <a:bodyPr wrap="square" lIns="45720" tIns="18288" rIns="45720" bIns="18288" anchor="t">
            <a:spAutoFit/>
          </a:bodyPr>
          <a:lstStyle/>
          <a:p>
            <a:pPr algn="l"/>
            <a:r>
              <a:rPr sz="1400" b="1" i="0">
                <a:solidFill>
                  <a:srgbClr val="9E1B32"/>
                </a:solidFill>
                <a:latin typeface="Calibri"/>
              </a:rPr>
              <a:t>WHAT WE WILL NOT PURSUE: DISCIPLINE LIST</a:t>
            </a:r>
          </a:p>
        </p:txBody>
      </p:sp>
      <p:sp>
        <p:nvSpPr>
          <p:cNvPr id="20" name="TextBox 19"/>
          <p:cNvSpPr txBox="1"/>
          <p:nvPr/>
        </p:nvSpPr>
        <p:spPr>
          <a:xfrm>
            <a:off x="502920" y="4846320"/>
            <a:ext cx="11247120" cy="880306"/>
          </a:xfrm>
          <a:prstGeom prst="rect">
            <a:avLst/>
          </a:prstGeom>
          <a:noFill/>
        </p:spPr>
        <p:txBody>
          <a:bodyPr wrap="square" lIns="45720" rIns="45720">
            <a:spAutoFit/>
          </a:bodyPr>
          <a:lstStyle/>
          <a:p>
            <a:pPr algn="l">
              <a:lnSpc>
                <a:spcPct val="125000"/>
              </a:lnSpc>
            </a:pPr>
            <a:r>
              <a:rPr sz="1400" b="1" dirty="0">
                <a:solidFill>
                  <a:srgbClr val="333333"/>
                </a:solidFill>
                <a:latin typeface="Calibri"/>
              </a:rPr>
              <a:t>•   </a:t>
            </a:r>
            <a:r>
              <a:rPr sz="1400" dirty="0">
                <a:solidFill>
                  <a:srgbClr val="333333"/>
                </a:solidFill>
                <a:latin typeface="Calibri"/>
              </a:rPr>
              <a:t>Net new HCP recruitment until retention is above 65 percent. Acquiring writers we cannot retain is wasted spend</a:t>
            </a:r>
          </a:p>
          <a:p>
            <a:pPr algn="l">
              <a:lnSpc>
                <a:spcPct val="125000"/>
              </a:lnSpc>
            </a:pPr>
            <a:r>
              <a:rPr sz="1400" b="1" dirty="0">
                <a:solidFill>
                  <a:srgbClr val="333333"/>
                </a:solidFill>
                <a:latin typeface="Calibri"/>
              </a:rPr>
              <a:t>•   </a:t>
            </a:r>
            <a:r>
              <a:rPr sz="1400" dirty="0">
                <a:solidFill>
                  <a:srgbClr val="333333"/>
                </a:solidFill>
                <a:latin typeface="Calibri"/>
              </a:rPr>
              <a:t>National brand campaigns. The data is geographic and HCP specific. Broadcast spend dilutes return on investment</a:t>
            </a:r>
          </a:p>
          <a:p>
            <a:pPr algn="l">
              <a:lnSpc>
                <a:spcPct val="125000"/>
              </a:lnSpc>
            </a:pPr>
            <a:r>
              <a:rPr sz="1400" b="1" dirty="0">
                <a:solidFill>
                  <a:srgbClr val="333333"/>
                </a:solidFill>
                <a:latin typeface="Calibri"/>
              </a:rPr>
              <a:t>•   </a:t>
            </a:r>
            <a:r>
              <a:rPr sz="1400" dirty="0">
                <a:solidFill>
                  <a:srgbClr val="333333"/>
                </a:solidFill>
                <a:latin typeface="Calibri"/>
              </a:rPr>
              <a:t>Repositioning against J1885. The pharmacological reframe makes this competitive frame obsolete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6400800" cy="274320"/>
          </a:xfrm>
          <a:prstGeom prst="rect">
            <a:avLst/>
          </a:prstGeom>
          <a:noFill/>
        </p:spPr>
        <p:txBody>
          <a:bodyPr wrap="square" lIns="45720" tIns="18288" rIns="45720" bIns="18288" anchor="t">
            <a:spAutoFit/>
          </a:bodyPr>
          <a:lstStyle/>
          <a:p>
            <a:pPr algn="l"/>
            <a:r>
              <a:rPr sz="1100" b="1" i="0">
                <a:solidFill>
                  <a:srgbClr val="9E1B32"/>
                </a:solidFill>
                <a:latin typeface="Calibri"/>
              </a:rPr>
              <a:t>Q4 Data Exploration Opportunities</a:t>
            </a:r>
          </a:p>
        </p:txBody>
      </p:sp>
      <p:sp>
        <p:nvSpPr>
          <p:cNvPr id="3" name="TextBox 2"/>
          <p:cNvSpPr txBox="1"/>
          <p:nvPr/>
        </p:nvSpPr>
        <p:spPr>
          <a:xfrm>
            <a:off x="502920" y="566928"/>
            <a:ext cx="11247120" cy="777240"/>
          </a:xfrm>
          <a:prstGeom prst="rect">
            <a:avLst/>
          </a:prstGeom>
          <a:noFill/>
        </p:spPr>
        <p:txBody>
          <a:bodyPr wrap="square" lIns="45720" tIns="18288" rIns="45720" bIns="18288" anchor="t">
            <a:spAutoFit/>
          </a:bodyPr>
          <a:lstStyle/>
          <a:p>
            <a:pPr algn="l"/>
            <a:r>
              <a:rPr sz="2800" b="1" i="0">
                <a:solidFill>
                  <a:srgbClr val="1B3A6F"/>
                </a:solidFill>
                <a:latin typeface="Calibri"/>
              </a:rPr>
              <a:t>What We Know. What We Need. What It Would Unlock.</a:t>
            </a:r>
          </a:p>
        </p:txBody>
      </p:sp>
      <p:sp>
        <p:nvSpPr>
          <p:cNvPr id="4" name="Rectangle 3"/>
          <p:cNvSpPr/>
          <p:nvPr/>
        </p:nvSpPr>
        <p:spPr>
          <a:xfrm>
            <a:off x="426720" y="1508760"/>
            <a:ext cx="3657600" cy="16916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 name="Rectangle 4"/>
          <p:cNvSpPr/>
          <p:nvPr/>
        </p:nvSpPr>
        <p:spPr>
          <a:xfrm>
            <a:off x="426720" y="1508760"/>
            <a:ext cx="91440" cy="1691640"/>
          </a:xfrm>
          <a:prstGeom prst="rect">
            <a:avLst/>
          </a:prstGeom>
          <a:solidFill>
            <a:srgbClr val="9E1B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 name="TextBox 5"/>
          <p:cNvSpPr txBox="1"/>
          <p:nvPr/>
        </p:nvSpPr>
        <p:spPr>
          <a:xfrm>
            <a:off x="655320" y="1645920"/>
            <a:ext cx="3291840" cy="252377"/>
          </a:xfrm>
          <a:prstGeom prst="rect">
            <a:avLst/>
          </a:prstGeom>
          <a:noFill/>
        </p:spPr>
        <p:txBody>
          <a:bodyPr wrap="square" lIns="45720" tIns="18288" rIns="45720" bIns="18288" anchor="t">
            <a:spAutoFit/>
          </a:bodyPr>
          <a:lstStyle/>
          <a:p>
            <a:pPr algn="l"/>
            <a:r>
              <a:rPr sz="1400" b="1" i="0">
                <a:solidFill>
                  <a:srgbClr val="1B3A6F"/>
                </a:solidFill>
                <a:latin typeface="Calibri"/>
              </a:rPr>
              <a:t>Xponent / Rx Data</a:t>
            </a:r>
          </a:p>
        </p:txBody>
      </p:sp>
      <p:sp>
        <p:nvSpPr>
          <p:cNvPr id="7" name="TextBox 6"/>
          <p:cNvSpPr txBox="1"/>
          <p:nvPr/>
        </p:nvSpPr>
        <p:spPr>
          <a:xfrm>
            <a:off x="655320" y="2103120"/>
            <a:ext cx="3291840" cy="574453"/>
          </a:xfrm>
          <a:prstGeom prst="rect">
            <a:avLst/>
          </a:prstGeom>
          <a:noFill/>
        </p:spPr>
        <p:txBody>
          <a:bodyPr wrap="square" lIns="45720" tIns="18288" rIns="45720" bIns="18288" anchor="t">
            <a:spAutoFit/>
          </a:bodyPr>
          <a:lstStyle/>
          <a:p>
            <a:pPr algn="l">
              <a:lnSpc>
                <a:spcPct val="130000"/>
              </a:lnSpc>
            </a:pPr>
            <a:r>
              <a:rPr sz="1400" b="0" i="0">
                <a:solidFill>
                  <a:srgbClr val="333333"/>
                </a:solidFill>
                <a:latin typeface="Calibri"/>
              </a:rPr>
              <a:t>Identify exactly which HCPs switched from J2250 to J3010, when, and at what volume.</a:t>
            </a:r>
          </a:p>
        </p:txBody>
      </p:sp>
      <p:sp>
        <p:nvSpPr>
          <p:cNvPr id="8" name="Rectangle 7"/>
          <p:cNvSpPr/>
          <p:nvPr/>
        </p:nvSpPr>
        <p:spPr>
          <a:xfrm>
            <a:off x="4267200" y="1508760"/>
            <a:ext cx="3657600" cy="16916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9" name="Rectangle 8"/>
          <p:cNvSpPr/>
          <p:nvPr/>
        </p:nvSpPr>
        <p:spPr>
          <a:xfrm>
            <a:off x="4267200" y="1508760"/>
            <a:ext cx="91440" cy="1691640"/>
          </a:xfrm>
          <a:prstGeom prst="rect">
            <a:avLst/>
          </a:prstGeom>
          <a:solidFill>
            <a:srgbClr val="9E1B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 name="TextBox 9"/>
          <p:cNvSpPr txBox="1"/>
          <p:nvPr/>
        </p:nvSpPr>
        <p:spPr>
          <a:xfrm>
            <a:off x="4495800" y="1645920"/>
            <a:ext cx="3291840" cy="252377"/>
          </a:xfrm>
          <a:prstGeom prst="rect">
            <a:avLst/>
          </a:prstGeom>
          <a:noFill/>
        </p:spPr>
        <p:txBody>
          <a:bodyPr wrap="square" lIns="45720" tIns="18288" rIns="45720" bIns="18288" anchor="t">
            <a:spAutoFit/>
          </a:bodyPr>
          <a:lstStyle/>
          <a:p>
            <a:pPr algn="l"/>
            <a:r>
              <a:rPr sz="1400" b="1" i="0">
                <a:solidFill>
                  <a:srgbClr val="1B3A6F"/>
                </a:solidFill>
                <a:latin typeface="Calibri"/>
              </a:rPr>
              <a:t>DDD Channel Data</a:t>
            </a:r>
          </a:p>
        </p:txBody>
      </p:sp>
      <p:sp>
        <p:nvSpPr>
          <p:cNvPr id="11" name="TextBox 10"/>
          <p:cNvSpPr txBox="1"/>
          <p:nvPr/>
        </p:nvSpPr>
        <p:spPr>
          <a:xfrm>
            <a:off x="4495800" y="2103120"/>
            <a:ext cx="3291840" cy="854529"/>
          </a:xfrm>
          <a:prstGeom prst="rect">
            <a:avLst/>
          </a:prstGeom>
          <a:noFill/>
        </p:spPr>
        <p:txBody>
          <a:bodyPr wrap="square" lIns="45720" tIns="18288" rIns="45720" bIns="18288" anchor="t">
            <a:spAutoFit/>
          </a:bodyPr>
          <a:lstStyle/>
          <a:p>
            <a:pPr algn="l">
              <a:lnSpc>
                <a:spcPct val="130000"/>
              </a:lnSpc>
            </a:pPr>
            <a:r>
              <a:rPr sz="1400" b="0" i="0">
                <a:solidFill>
                  <a:srgbClr val="333333"/>
                </a:solidFill>
                <a:latin typeface="Calibri"/>
              </a:rPr>
              <a:t>Reveal formulary wins. If J3010 has preferred status in J2250 hospitals, it is an access problem, not a detailing problem.</a:t>
            </a:r>
          </a:p>
        </p:txBody>
      </p:sp>
      <p:sp>
        <p:nvSpPr>
          <p:cNvPr id="12" name="Rectangle 11"/>
          <p:cNvSpPr/>
          <p:nvPr/>
        </p:nvSpPr>
        <p:spPr>
          <a:xfrm>
            <a:off x="8107680" y="1508760"/>
            <a:ext cx="3657600" cy="16916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3" name="Rectangle 12"/>
          <p:cNvSpPr/>
          <p:nvPr/>
        </p:nvSpPr>
        <p:spPr>
          <a:xfrm>
            <a:off x="8107680" y="1508760"/>
            <a:ext cx="91440" cy="1691640"/>
          </a:xfrm>
          <a:prstGeom prst="rect">
            <a:avLst/>
          </a:prstGeom>
          <a:solidFill>
            <a:srgbClr val="9E1B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4" name="TextBox 13"/>
          <p:cNvSpPr txBox="1"/>
          <p:nvPr/>
        </p:nvSpPr>
        <p:spPr>
          <a:xfrm>
            <a:off x="8336280" y="1645920"/>
            <a:ext cx="3291840" cy="252377"/>
          </a:xfrm>
          <a:prstGeom prst="rect">
            <a:avLst/>
          </a:prstGeom>
          <a:noFill/>
        </p:spPr>
        <p:txBody>
          <a:bodyPr wrap="square" lIns="45720" tIns="18288" rIns="45720" bIns="18288" anchor="t">
            <a:spAutoFit/>
          </a:bodyPr>
          <a:lstStyle/>
          <a:p>
            <a:pPr algn="l"/>
            <a:r>
              <a:rPr sz="1400" b="1" i="0">
                <a:solidFill>
                  <a:srgbClr val="1B3A6F"/>
                </a:solidFill>
                <a:latin typeface="Calibri"/>
              </a:rPr>
              <a:t>CRM and Call Activity</a:t>
            </a:r>
          </a:p>
        </p:txBody>
      </p:sp>
      <p:sp>
        <p:nvSpPr>
          <p:cNvPr id="15" name="TextBox 14"/>
          <p:cNvSpPr txBox="1"/>
          <p:nvPr/>
        </p:nvSpPr>
        <p:spPr>
          <a:xfrm>
            <a:off x="8336280" y="2103120"/>
            <a:ext cx="3291840" cy="854529"/>
          </a:xfrm>
          <a:prstGeom prst="rect">
            <a:avLst/>
          </a:prstGeom>
          <a:noFill/>
        </p:spPr>
        <p:txBody>
          <a:bodyPr wrap="square" lIns="45720" tIns="18288" rIns="45720" bIns="18288" anchor="t">
            <a:spAutoFit/>
          </a:bodyPr>
          <a:lstStyle/>
          <a:p>
            <a:pPr algn="l">
              <a:lnSpc>
                <a:spcPct val="130000"/>
              </a:lnSpc>
            </a:pPr>
            <a:r>
              <a:rPr sz="1400" b="0" i="0">
                <a:solidFill>
                  <a:srgbClr val="333333"/>
                </a:solidFill>
                <a:latin typeface="Calibri"/>
              </a:rPr>
              <a:t>Calculate calls to claims conversion rate. Determine if decline is a coverage or message failure.</a:t>
            </a:r>
          </a:p>
        </p:txBody>
      </p:sp>
      <p:sp>
        <p:nvSpPr>
          <p:cNvPr id="16" name="Rectangle 15"/>
          <p:cNvSpPr/>
          <p:nvPr/>
        </p:nvSpPr>
        <p:spPr>
          <a:xfrm>
            <a:off x="426720" y="3383280"/>
            <a:ext cx="3657600" cy="16916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7" name="Rectangle 16"/>
          <p:cNvSpPr/>
          <p:nvPr/>
        </p:nvSpPr>
        <p:spPr>
          <a:xfrm>
            <a:off x="426720" y="3383280"/>
            <a:ext cx="91440" cy="1691640"/>
          </a:xfrm>
          <a:prstGeom prst="rect">
            <a:avLst/>
          </a:prstGeom>
          <a:solidFill>
            <a:srgbClr val="9E1B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8" name="TextBox 17"/>
          <p:cNvSpPr txBox="1"/>
          <p:nvPr/>
        </p:nvSpPr>
        <p:spPr>
          <a:xfrm>
            <a:off x="655320" y="3520440"/>
            <a:ext cx="3291840" cy="252377"/>
          </a:xfrm>
          <a:prstGeom prst="rect">
            <a:avLst/>
          </a:prstGeom>
          <a:noFill/>
        </p:spPr>
        <p:txBody>
          <a:bodyPr wrap="square" lIns="45720" tIns="18288" rIns="45720" bIns="18288" anchor="t">
            <a:spAutoFit/>
          </a:bodyPr>
          <a:lstStyle/>
          <a:p>
            <a:pPr algn="l"/>
            <a:r>
              <a:rPr sz="1400" b="1" i="0">
                <a:solidFill>
                  <a:srgbClr val="1B3A6F"/>
                </a:solidFill>
                <a:latin typeface="Calibri"/>
              </a:rPr>
              <a:t>NPA: National Audit</a:t>
            </a:r>
          </a:p>
        </p:txBody>
      </p:sp>
      <p:sp>
        <p:nvSpPr>
          <p:cNvPr id="19" name="TextBox 18"/>
          <p:cNvSpPr txBox="1"/>
          <p:nvPr/>
        </p:nvSpPr>
        <p:spPr>
          <a:xfrm>
            <a:off x="655320" y="3977640"/>
            <a:ext cx="3291840" cy="854529"/>
          </a:xfrm>
          <a:prstGeom prst="rect">
            <a:avLst/>
          </a:prstGeom>
          <a:noFill/>
        </p:spPr>
        <p:txBody>
          <a:bodyPr wrap="square" lIns="45720" tIns="18288" rIns="45720" bIns="18288" anchor="t">
            <a:spAutoFit/>
          </a:bodyPr>
          <a:lstStyle/>
          <a:p>
            <a:pPr algn="l">
              <a:lnSpc>
                <a:spcPct val="130000"/>
              </a:lnSpc>
            </a:pPr>
            <a:r>
              <a:rPr sz="1400" b="0" i="0">
                <a:solidFill>
                  <a:srgbClr val="333333"/>
                </a:solidFill>
                <a:latin typeface="Calibri"/>
              </a:rPr>
              <a:t>True total market share across all payers. Medicare only analysis may over or understate competitive position.</a:t>
            </a:r>
          </a:p>
        </p:txBody>
      </p:sp>
      <p:sp>
        <p:nvSpPr>
          <p:cNvPr id="20" name="Rectangle 19"/>
          <p:cNvSpPr/>
          <p:nvPr/>
        </p:nvSpPr>
        <p:spPr>
          <a:xfrm>
            <a:off x="4267200" y="3383280"/>
            <a:ext cx="3657600" cy="16916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1" name="Rectangle 20"/>
          <p:cNvSpPr/>
          <p:nvPr/>
        </p:nvSpPr>
        <p:spPr>
          <a:xfrm>
            <a:off x="4267200" y="3383280"/>
            <a:ext cx="91440" cy="1691640"/>
          </a:xfrm>
          <a:prstGeom prst="rect">
            <a:avLst/>
          </a:prstGeom>
          <a:solidFill>
            <a:srgbClr val="9E1B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2" name="TextBox 21"/>
          <p:cNvSpPr txBox="1"/>
          <p:nvPr/>
        </p:nvSpPr>
        <p:spPr>
          <a:xfrm>
            <a:off x="4495800" y="3520440"/>
            <a:ext cx="3291840" cy="252377"/>
          </a:xfrm>
          <a:prstGeom prst="rect">
            <a:avLst/>
          </a:prstGeom>
          <a:noFill/>
        </p:spPr>
        <p:txBody>
          <a:bodyPr wrap="square" lIns="45720" tIns="18288" rIns="45720" bIns="18288" anchor="t">
            <a:spAutoFit/>
          </a:bodyPr>
          <a:lstStyle/>
          <a:p>
            <a:pPr algn="l"/>
            <a:r>
              <a:rPr sz="1400" b="1" i="0">
                <a:solidFill>
                  <a:srgbClr val="1B3A6F"/>
                </a:solidFill>
                <a:latin typeface="Calibri"/>
              </a:rPr>
              <a:t>Speaker and Samples</a:t>
            </a:r>
          </a:p>
        </p:txBody>
      </p:sp>
      <p:sp>
        <p:nvSpPr>
          <p:cNvPr id="23" name="TextBox 22"/>
          <p:cNvSpPr txBox="1"/>
          <p:nvPr/>
        </p:nvSpPr>
        <p:spPr>
          <a:xfrm>
            <a:off x="4495800" y="3977640"/>
            <a:ext cx="3291840" cy="854529"/>
          </a:xfrm>
          <a:prstGeom prst="rect">
            <a:avLst/>
          </a:prstGeom>
          <a:noFill/>
        </p:spPr>
        <p:txBody>
          <a:bodyPr wrap="square" lIns="45720" tIns="18288" rIns="45720" bIns="18288" anchor="t">
            <a:spAutoFit/>
          </a:bodyPr>
          <a:lstStyle/>
          <a:p>
            <a:pPr algn="l">
              <a:lnSpc>
                <a:spcPct val="130000"/>
              </a:lnSpc>
            </a:pPr>
            <a:r>
              <a:rPr sz="1400" b="0" i="0">
                <a:solidFill>
                  <a:srgbClr val="333333"/>
                </a:solidFill>
                <a:latin typeface="Calibri"/>
              </a:rPr>
              <a:t>Explain J3010's 344 new writers in 2016. Likely a pre window medical education push.</a:t>
            </a:r>
          </a:p>
        </p:txBody>
      </p:sp>
      <p:sp>
        <p:nvSpPr>
          <p:cNvPr id="24" name="Rectangle 23"/>
          <p:cNvSpPr/>
          <p:nvPr/>
        </p:nvSpPr>
        <p:spPr>
          <a:xfrm>
            <a:off x="8107680" y="3383280"/>
            <a:ext cx="3657600" cy="16916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5" name="Rectangle 24"/>
          <p:cNvSpPr/>
          <p:nvPr/>
        </p:nvSpPr>
        <p:spPr>
          <a:xfrm>
            <a:off x="8107680" y="3383280"/>
            <a:ext cx="91440" cy="1691640"/>
          </a:xfrm>
          <a:prstGeom prst="rect">
            <a:avLst/>
          </a:prstGeom>
          <a:solidFill>
            <a:srgbClr val="9E1B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6" name="TextBox 25"/>
          <p:cNvSpPr txBox="1"/>
          <p:nvPr/>
        </p:nvSpPr>
        <p:spPr>
          <a:xfrm>
            <a:off x="8336280" y="3520440"/>
            <a:ext cx="3291840" cy="252377"/>
          </a:xfrm>
          <a:prstGeom prst="rect">
            <a:avLst/>
          </a:prstGeom>
          <a:noFill/>
        </p:spPr>
        <p:txBody>
          <a:bodyPr wrap="square" lIns="45720" tIns="18288" rIns="45720" bIns="18288" anchor="t">
            <a:spAutoFit/>
          </a:bodyPr>
          <a:lstStyle/>
          <a:p>
            <a:pPr algn="l"/>
            <a:r>
              <a:rPr sz="1400" b="1" i="0">
                <a:solidFill>
                  <a:srgbClr val="1B3A6F"/>
                </a:solidFill>
                <a:latin typeface="Calibri"/>
              </a:rPr>
              <a:t>Payer and Formulary</a:t>
            </a:r>
          </a:p>
        </p:txBody>
      </p:sp>
      <p:sp>
        <p:nvSpPr>
          <p:cNvPr id="27" name="TextBox 26"/>
          <p:cNvSpPr txBox="1"/>
          <p:nvPr/>
        </p:nvSpPr>
        <p:spPr>
          <a:xfrm>
            <a:off x="8336280" y="3977640"/>
            <a:ext cx="3291840" cy="854529"/>
          </a:xfrm>
          <a:prstGeom prst="rect">
            <a:avLst/>
          </a:prstGeom>
          <a:noFill/>
        </p:spPr>
        <p:txBody>
          <a:bodyPr wrap="square" lIns="45720" tIns="18288" rIns="45720" bIns="18288" anchor="t">
            <a:spAutoFit/>
          </a:bodyPr>
          <a:lstStyle/>
          <a:p>
            <a:pPr algn="l">
              <a:lnSpc>
                <a:spcPct val="130000"/>
              </a:lnSpc>
            </a:pPr>
            <a:r>
              <a:rPr sz="1400" b="0" i="0">
                <a:solidFill>
                  <a:srgbClr val="333333"/>
                </a:solidFill>
                <a:latin typeface="Calibri"/>
              </a:rPr>
              <a:t>A single formulary win at a major regional health system can explain an entire territory collapse.</a:t>
            </a:r>
          </a:p>
        </p:txBody>
      </p:sp>
      <p:sp>
        <p:nvSpPr>
          <p:cNvPr id="28" name="Rectangle 27"/>
          <p:cNvSpPr/>
          <p:nvPr/>
        </p:nvSpPr>
        <p:spPr>
          <a:xfrm>
            <a:off x="502920" y="5535308"/>
            <a:ext cx="11247120" cy="685800"/>
          </a:xfrm>
          <a:prstGeom prst="rect">
            <a:avLst/>
          </a:prstGeom>
          <a:solidFill>
            <a:srgbClr val="7F1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85800" y="5626748"/>
            <a:ext cx="10972800" cy="502920"/>
          </a:xfrm>
          <a:prstGeom prst="rect">
            <a:avLst/>
          </a:prstGeom>
          <a:noFill/>
        </p:spPr>
        <p:txBody>
          <a:bodyPr wrap="square" lIns="45720" tIns="18288" rIns="45720" bIns="18288" anchor="ctr">
            <a:spAutoFit/>
          </a:bodyPr>
          <a:lstStyle/>
          <a:p>
            <a:pPr algn="l"/>
            <a:r>
              <a:rPr sz="1500" b="1" i="0">
                <a:solidFill>
                  <a:srgbClr val="FFFFFF"/>
                </a:solidFill>
                <a:latin typeface="Calibri"/>
              </a:rPr>
              <a:t>Closing the data gaps moves subsequent decisions from inferred to verified.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6400800" cy="252377"/>
          </a:xfrm>
          <a:prstGeom prst="rect">
            <a:avLst/>
          </a:prstGeom>
          <a:noFill/>
        </p:spPr>
        <p:txBody>
          <a:bodyPr wrap="square" lIns="45720" tIns="18288" rIns="45720" bIns="18288" anchor="t">
            <a:spAutoFit/>
          </a:bodyPr>
          <a:lstStyle/>
          <a:p>
            <a:pPr algn="l"/>
            <a:r>
              <a:rPr sz="1400" b="1" i="0" dirty="0">
                <a:solidFill>
                  <a:srgbClr val="9E1B32"/>
                </a:solidFill>
                <a:latin typeface="Calibri"/>
              </a:rPr>
              <a:t>Conclusion</a:t>
            </a:r>
            <a:endParaRPr sz="1000" b="1" i="0" dirty="0">
              <a:solidFill>
                <a:srgbClr val="9E1B32"/>
              </a:solidFill>
              <a:latin typeface="Calibri"/>
            </a:endParaRPr>
          </a:p>
        </p:txBody>
      </p:sp>
      <p:sp>
        <p:nvSpPr>
          <p:cNvPr id="3" name="TextBox 2"/>
          <p:cNvSpPr txBox="1"/>
          <p:nvPr/>
        </p:nvSpPr>
        <p:spPr>
          <a:xfrm>
            <a:off x="502920" y="566928"/>
            <a:ext cx="11247120" cy="777240"/>
          </a:xfrm>
          <a:prstGeom prst="rect">
            <a:avLst/>
          </a:prstGeom>
          <a:noFill/>
        </p:spPr>
        <p:txBody>
          <a:bodyPr wrap="square" lIns="45720" tIns="18288" rIns="45720" bIns="18288" anchor="t">
            <a:spAutoFit/>
          </a:bodyPr>
          <a:lstStyle/>
          <a:p>
            <a:pPr algn="l"/>
            <a:r>
              <a:rPr sz="2800" b="1" i="0">
                <a:solidFill>
                  <a:srgbClr val="1B3A6F"/>
                </a:solidFill>
                <a:latin typeface="Calibri"/>
              </a:rPr>
              <a:t>From Cannibalization Failure to Strategic Reset</a:t>
            </a:r>
          </a:p>
        </p:txBody>
      </p:sp>
      <p:sp>
        <p:nvSpPr>
          <p:cNvPr id="4" name="Rectangle 3"/>
          <p:cNvSpPr/>
          <p:nvPr/>
        </p:nvSpPr>
        <p:spPr>
          <a:xfrm>
            <a:off x="502920" y="1391797"/>
            <a:ext cx="91440" cy="868680"/>
          </a:xfrm>
          <a:prstGeom prst="rect">
            <a:avLst/>
          </a:prstGeom>
          <a:solidFill>
            <a:srgbClr val="9E1B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 name="Rectangle 4"/>
          <p:cNvSpPr/>
          <p:nvPr/>
        </p:nvSpPr>
        <p:spPr>
          <a:xfrm>
            <a:off x="594360" y="1391797"/>
            <a:ext cx="11064240" cy="8686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 name="TextBox 5"/>
          <p:cNvSpPr txBox="1"/>
          <p:nvPr/>
        </p:nvSpPr>
        <p:spPr>
          <a:xfrm>
            <a:off x="777240" y="1483237"/>
            <a:ext cx="2468880" cy="252377"/>
          </a:xfrm>
          <a:prstGeom prst="rect">
            <a:avLst/>
          </a:prstGeom>
          <a:noFill/>
        </p:spPr>
        <p:txBody>
          <a:bodyPr wrap="square" lIns="45720" tIns="18288" rIns="45720" bIns="18288" anchor="t">
            <a:spAutoFit/>
          </a:bodyPr>
          <a:lstStyle/>
          <a:p>
            <a:pPr algn="l"/>
            <a:r>
              <a:rPr sz="1400" b="1" i="0">
                <a:solidFill>
                  <a:srgbClr val="9E1B32"/>
                </a:solidFill>
                <a:latin typeface="Calibri"/>
              </a:rPr>
              <a:t>STRUCTURAL TRUTH 1</a:t>
            </a:r>
          </a:p>
        </p:txBody>
      </p:sp>
      <p:sp>
        <p:nvSpPr>
          <p:cNvPr id="7" name="TextBox 6"/>
          <p:cNvSpPr txBox="1"/>
          <p:nvPr/>
        </p:nvSpPr>
        <p:spPr>
          <a:xfrm>
            <a:off x="3337560" y="1483237"/>
            <a:ext cx="8138160" cy="555601"/>
          </a:xfrm>
          <a:prstGeom prst="rect">
            <a:avLst/>
          </a:prstGeom>
          <a:noFill/>
        </p:spPr>
        <p:txBody>
          <a:bodyPr wrap="square" lIns="45720" tIns="18288" rIns="45720" bIns="18288" anchor="t">
            <a:spAutoFit/>
          </a:bodyPr>
          <a:lstStyle/>
          <a:p>
            <a:pPr algn="l">
              <a:lnSpc>
                <a:spcPct val="125000"/>
              </a:lnSpc>
            </a:pPr>
            <a:r>
              <a:rPr sz="1400" b="0" i="0">
                <a:solidFill>
                  <a:srgbClr val="333333"/>
                </a:solidFill>
                <a:latin typeface="Calibri"/>
              </a:rPr>
              <a:t>The cannibalization assumption was pharmacologically unfounded. J2250 (sedative) and J1885 (NSAID) are not substitutes.</a:t>
            </a:r>
          </a:p>
        </p:txBody>
      </p:sp>
      <p:sp>
        <p:nvSpPr>
          <p:cNvPr id="8" name="Rectangle 7"/>
          <p:cNvSpPr/>
          <p:nvPr/>
        </p:nvSpPr>
        <p:spPr>
          <a:xfrm>
            <a:off x="502920" y="2425069"/>
            <a:ext cx="91440" cy="868680"/>
          </a:xfrm>
          <a:prstGeom prst="rect">
            <a:avLst/>
          </a:prstGeom>
          <a:solidFill>
            <a:srgbClr val="9E1B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9" name="Rectangle 8"/>
          <p:cNvSpPr/>
          <p:nvPr/>
        </p:nvSpPr>
        <p:spPr>
          <a:xfrm>
            <a:off x="594360" y="2425069"/>
            <a:ext cx="11064240" cy="8686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 name="TextBox 9"/>
          <p:cNvSpPr txBox="1"/>
          <p:nvPr/>
        </p:nvSpPr>
        <p:spPr>
          <a:xfrm>
            <a:off x="777240" y="2516509"/>
            <a:ext cx="2468880" cy="252377"/>
          </a:xfrm>
          <a:prstGeom prst="rect">
            <a:avLst/>
          </a:prstGeom>
          <a:noFill/>
        </p:spPr>
        <p:txBody>
          <a:bodyPr wrap="square" lIns="45720" tIns="18288" rIns="45720" bIns="18288" anchor="t">
            <a:spAutoFit/>
          </a:bodyPr>
          <a:lstStyle/>
          <a:p>
            <a:pPr algn="l"/>
            <a:r>
              <a:rPr sz="1400" b="1" i="0">
                <a:solidFill>
                  <a:srgbClr val="9E1B32"/>
                </a:solidFill>
                <a:latin typeface="Calibri"/>
              </a:rPr>
              <a:t>STRUCTURAL TRUTH 2</a:t>
            </a:r>
          </a:p>
        </p:txBody>
      </p:sp>
      <p:sp>
        <p:nvSpPr>
          <p:cNvPr id="11" name="TextBox 10"/>
          <p:cNvSpPr txBox="1"/>
          <p:nvPr/>
        </p:nvSpPr>
        <p:spPr>
          <a:xfrm>
            <a:off x="3337560" y="2516509"/>
            <a:ext cx="8138160" cy="555601"/>
          </a:xfrm>
          <a:prstGeom prst="rect">
            <a:avLst/>
          </a:prstGeom>
          <a:noFill/>
        </p:spPr>
        <p:txBody>
          <a:bodyPr wrap="square" lIns="45720" tIns="18288" rIns="45720" bIns="18288" anchor="t">
            <a:spAutoFit/>
          </a:bodyPr>
          <a:lstStyle/>
          <a:p>
            <a:pPr algn="l">
              <a:lnSpc>
                <a:spcPct val="125000"/>
              </a:lnSpc>
            </a:pPr>
            <a:r>
              <a:rPr sz="1400" b="0" i="0">
                <a:solidFill>
                  <a:srgbClr val="333333"/>
                </a:solidFill>
                <a:latin typeface="Calibri"/>
              </a:rPr>
              <a:t>J2250's failure is a retention crisis, not an acquisition crisis. 90 percent of writers sit at one to four claims per year.</a:t>
            </a:r>
          </a:p>
        </p:txBody>
      </p:sp>
      <p:sp>
        <p:nvSpPr>
          <p:cNvPr id="12" name="Rectangle 11"/>
          <p:cNvSpPr/>
          <p:nvPr/>
        </p:nvSpPr>
        <p:spPr>
          <a:xfrm>
            <a:off x="502920" y="3458341"/>
            <a:ext cx="91440" cy="868680"/>
          </a:xfrm>
          <a:prstGeom prst="rect">
            <a:avLst/>
          </a:prstGeom>
          <a:solidFill>
            <a:srgbClr val="9E1B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3" name="Rectangle 12"/>
          <p:cNvSpPr/>
          <p:nvPr/>
        </p:nvSpPr>
        <p:spPr>
          <a:xfrm>
            <a:off x="594360" y="3458341"/>
            <a:ext cx="11064240" cy="8686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4" name="TextBox 13"/>
          <p:cNvSpPr txBox="1"/>
          <p:nvPr/>
        </p:nvSpPr>
        <p:spPr>
          <a:xfrm>
            <a:off x="777240" y="3549781"/>
            <a:ext cx="2468880" cy="252377"/>
          </a:xfrm>
          <a:prstGeom prst="rect">
            <a:avLst/>
          </a:prstGeom>
          <a:noFill/>
        </p:spPr>
        <p:txBody>
          <a:bodyPr wrap="square" lIns="45720" tIns="18288" rIns="45720" bIns="18288" anchor="t">
            <a:spAutoFit/>
          </a:bodyPr>
          <a:lstStyle/>
          <a:p>
            <a:pPr algn="l"/>
            <a:r>
              <a:rPr sz="1400" b="1" i="0">
                <a:solidFill>
                  <a:srgbClr val="9E1B32"/>
                </a:solidFill>
                <a:latin typeface="Calibri"/>
              </a:rPr>
              <a:t>STRUCTURAL TRUTH 3</a:t>
            </a:r>
          </a:p>
        </p:txBody>
      </p:sp>
      <p:sp>
        <p:nvSpPr>
          <p:cNvPr id="15" name="TextBox 14"/>
          <p:cNvSpPr txBox="1"/>
          <p:nvPr/>
        </p:nvSpPr>
        <p:spPr>
          <a:xfrm>
            <a:off x="3337560" y="3549781"/>
            <a:ext cx="8138160" cy="286297"/>
          </a:xfrm>
          <a:prstGeom prst="rect">
            <a:avLst/>
          </a:prstGeom>
          <a:noFill/>
        </p:spPr>
        <p:txBody>
          <a:bodyPr wrap="square" lIns="45720" tIns="18288" rIns="45720" bIns="18288" anchor="t">
            <a:spAutoFit/>
          </a:bodyPr>
          <a:lstStyle/>
          <a:p>
            <a:pPr algn="l">
              <a:lnSpc>
                <a:spcPct val="125000"/>
              </a:lnSpc>
            </a:pPr>
            <a:r>
              <a:rPr sz="1400" b="0" i="0">
                <a:solidFill>
                  <a:srgbClr val="333333"/>
                </a:solidFill>
                <a:latin typeface="Calibri"/>
              </a:rPr>
              <a:t>Patients are not greenfield. The 58 percent J2250 and J3010 patient overlap shows direct displacement.</a:t>
            </a:r>
          </a:p>
        </p:txBody>
      </p:sp>
      <p:sp>
        <p:nvSpPr>
          <p:cNvPr id="16" name="Rectangle 15"/>
          <p:cNvSpPr/>
          <p:nvPr/>
        </p:nvSpPr>
        <p:spPr>
          <a:xfrm>
            <a:off x="502920" y="4542220"/>
            <a:ext cx="11247120" cy="1691640"/>
          </a:xfrm>
          <a:prstGeom prst="rect">
            <a:avLst/>
          </a:prstGeom>
          <a:solidFill>
            <a:srgbClr val="14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7" name="TextBox 16"/>
          <p:cNvSpPr txBox="1"/>
          <p:nvPr/>
        </p:nvSpPr>
        <p:spPr>
          <a:xfrm>
            <a:off x="777240" y="4679380"/>
            <a:ext cx="10972800" cy="252377"/>
          </a:xfrm>
          <a:prstGeom prst="rect">
            <a:avLst/>
          </a:prstGeom>
          <a:noFill/>
        </p:spPr>
        <p:txBody>
          <a:bodyPr wrap="square" lIns="45720" tIns="18288" rIns="45720" bIns="18288" anchor="t">
            <a:spAutoFit/>
          </a:bodyPr>
          <a:lstStyle/>
          <a:p>
            <a:pPr algn="l"/>
            <a:r>
              <a:rPr sz="1400" b="1" i="0">
                <a:solidFill>
                  <a:srgbClr val="FFFFFF"/>
                </a:solidFill>
                <a:latin typeface="Calibri"/>
              </a:rPr>
              <a:t>THE PATH FORWARD</a:t>
            </a:r>
          </a:p>
        </p:txBody>
      </p:sp>
      <p:sp>
        <p:nvSpPr>
          <p:cNvPr id="18" name="TextBox 17"/>
          <p:cNvSpPr txBox="1"/>
          <p:nvPr/>
        </p:nvSpPr>
        <p:spPr>
          <a:xfrm>
            <a:off x="777240" y="5045140"/>
            <a:ext cx="10698480" cy="854529"/>
          </a:xfrm>
          <a:prstGeom prst="rect">
            <a:avLst/>
          </a:prstGeom>
          <a:noFill/>
        </p:spPr>
        <p:txBody>
          <a:bodyPr wrap="square" lIns="45720" tIns="18288" rIns="45720" bIns="18288" anchor="t">
            <a:spAutoFit/>
          </a:bodyPr>
          <a:lstStyle/>
          <a:p>
            <a:pPr algn="l">
              <a:lnSpc>
                <a:spcPct val="130000"/>
              </a:lnSpc>
            </a:pPr>
            <a:r>
              <a:rPr sz="1400" b="0" i="0" dirty="0">
                <a:solidFill>
                  <a:srgbClr val="FFFFFF"/>
                </a:solidFill>
                <a:latin typeface="Calibri"/>
              </a:rPr>
              <a:t>Reset the brand against its real competitive set (J2704 and J3010, not J1885). Fix retention before investing in acquisition. Convert Trialists into Rising Stars at zero acquisition cost. Declare four emergency territories. Ring fence the Anesthesiology KOL base. Close the data gaps to move from inferred to verified.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7B4B4-5768-C466-0149-51FE6378FB2E}"/>
              </a:ext>
            </a:extLst>
          </p:cNvPr>
          <p:cNvSpPr>
            <a:spLocks noGrp="1"/>
          </p:cNvSpPr>
          <p:nvPr>
            <p:ph type="title"/>
          </p:nvPr>
        </p:nvSpPr>
        <p:spPr>
          <a:xfrm>
            <a:off x="5068685" y="2826459"/>
            <a:ext cx="2054629" cy="602541"/>
          </a:xfrm>
        </p:spPr>
        <p:txBody>
          <a:bodyPr>
            <a:noAutofit/>
          </a:bodyPr>
          <a:lstStyle/>
          <a:p>
            <a:r>
              <a:rPr lang="en-US" sz="6000"/>
              <a:t>Q&amp;A</a:t>
            </a:r>
          </a:p>
        </p:txBody>
      </p:sp>
    </p:spTree>
    <p:extLst>
      <p:ext uri="{BB962C8B-B14F-4D97-AF65-F5344CB8AC3E}">
        <p14:creationId xmlns:p14="http://schemas.microsoft.com/office/powerpoint/2010/main" val="31448200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991F3-1821-3D31-168F-48F8CACCB53B}"/>
              </a:ext>
            </a:extLst>
          </p:cNvPr>
          <p:cNvSpPr>
            <a:spLocks noGrp="1"/>
          </p:cNvSpPr>
          <p:nvPr>
            <p:ph type="ctrTitle"/>
          </p:nvPr>
        </p:nvSpPr>
        <p:spPr/>
        <p:txBody>
          <a:bodyPr/>
          <a:lstStyle/>
          <a:p>
            <a:r>
              <a:rPr lang="en-US">
                <a:latin typeface="Arial Nova" panose="020B0504020202020204" pitchFamily="34" charset="0"/>
              </a:rPr>
              <a:t>Thank you!</a:t>
            </a:r>
          </a:p>
        </p:txBody>
      </p:sp>
    </p:spTree>
    <p:extLst>
      <p:ext uri="{BB962C8B-B14F-4D97-AF65-F5344CB8AC3E}">
        <p14:creationId xmlns:p14="http://schemas.microsoft.com/office/powerpoint/2010/main" val="195640465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xml><?xml version="1.0" encoding="utf-8"?>
<p:tagLst xmlns:a="http://schemas.openxmlformats.org/drawingml/2006/main" xmlns:r="http://schemas.openxmlformats.org/officeDocument/2006/relationships" xmlns:p="http://schemas.openxmlformats.org/presentationml/2006/main">
  <p:tag name="SHAPENAME" val="3. Subtitle"/>
</p:tagLst>
</file>

<file path=ppt/tags/tag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xml><?xml version="1.0" encoding="utf-8"?>
<p:tagLst xmlns:a="http://schemas.openxmlformats.org/drawingml/2006/main" xmlns:r="http://schemas.openxmlformats.org/officeDocument/2006/relationships" xmlns:p="http://schemas.openxmlformats.org/presentationml/2006/main">
  <p:tag name="SHAPENAME" val="5. Sourc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xml><?xml version="1.0" encoding="utf-8"?>
<p:tagLst xmlns:a="http://schemas.openxmlformats.org/drawingml/2006/main" xmlns:r="http://schemas.openxmlformats.org/officeDocument/2006/relationships" xmlns:p="http://schemas.openxmlformats.org/presentationml/2006/main">
  <p:tag name="MTTABLE" val="HTitleDiv"/>
  <p:tag name="MTNUMBER" val="0.0934236818428262"/>
</p:tagLst>
</file>

<file path=ppt/tags/tag10.xml><?xml version="1.0" encoding="utf-8"?>
<p:tagLst xmlns:a="http://schemas.openxmlformats.org/drawingml/2006/main" xmlns:r="http://schemas.openxmlformats.org/officeDocument/2006/relationships" xmlns:p="http://schemas.openxmlformats.org/presentationml/2006/main">
  <p:tag name="MTTABLE" val="HDiv"/>
  <p:tag name="MTNUMBER" val="0.0934236818428262"/>
</p:tagLst>
</file>

<file path=ppt/tags/tag11.xml><?xml version="1.0" encoding="utf-8"?>
<p:tagLst xmlns:a="http://schemas.openxmlformats.org/drawingml/2006/main" xmlns:r="http://schemas.openxmlformats.org/officeDocument/2006/relationships" xmlns:p="http://schemas.openxmlformats.org/presentationml/2006/main">
  <p:tag name="NAME" val="CustomIcon"/>
</p:tagLst>
</file>

<file path=ppt/tags/tag12.xml><?xml version="1.0" encoding="utf-8"?>
<p:tagLst xmlns:a="http://schemas.openxmlformats.org/drawingml/2006/main" xmlns:r="http://schemas.openxmlformats.org/officeDocument/2006/relationships" xmlns:p="http://schemas.openxmlformats.org/presentationml/2006/main">
  <p:tag name="NAME" val="CustomIcon"/>
</p:tagLst>
</file>

<file path=ppt/tags/tag13.xml><?xml version="1.0" encoding="utf-8"?>
<p:tagLst xmlns:a="http://schemas.openxmlformats.org/drawingml/2006/main" xmlns:r="http://schemas.openxmlformats.org/officeDocument/2006/relationships" xmlns:p="http://schemas.openxmlformats.org/presentationml/2006/main">
  <p:tag name="MTTABLE" val="HDiv"/>
  <p:tag name="MTNUMBER" val="0.0934236818428262"/>
</p:tagLst>
</file>

<file path=ppt/tags/tag14.xml><?xml version="1.0" encoding="utf-8"?>
<p:tagLst xmlns:a="http://schemas.openxmlformats.org/drawingml/2006/main" xmlns:r="http://schemas.openxmlformats.org/officeDocument/2006/relationships" xmlns:p="http://schemas.openxmlformats.org/presentationml/2006/main">
  <p:tag name="MTTABLE" val="HDiv"/>
  <p:tag name="MTNUMBER" val="0.0934236818428262"/>
</p:tagLst>
</file>

<file path=ppt/theme/theme1.xml><?xml version="1.0" encoding="utf-8"?>
<a:theme xmlns:a="http://schemas.openxmlformats.org/drawingml/2006/main" name="1_Office Theme">
  <a:themeElements>
    <a:clrScheme name="Stevens">
      <a:dk1>
        <a:srgbClr val="363D45"/>
      </a:dk1>
      <a:lt1>
        <a:srgbClr val="FFFFFF"/>
      </a:lt1>
      <a:dk2>
        <a:srgbClr val="00427F"/>
      </a:dk2>
      <a:lt2>
        <a:srgbClr val="E3E5E6"/>
      </a:lt2>
      <a:accent1>
        <a:srgbClr val="A32537"/>
      </a:accent1>
      <a:accent2>
        <a:srgbClr val="4895CF"/>
      </a:accent2>
      <a:accent3>
        <a:srgbClr val="EBC73A"/>
      </a:accent3>
      <a:accent4>
        <a:srgbClr val="E6832E"/>
      </a:accent4>
      <a:accent5>
        <a:srgbClr val="E7F2FB"/>
      </a:accent5>
      <a:accent6>
        <a:srgbClr val="FFF2E8"/>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55CA362-9BFE-D44C-9605-93CE94550000}">
  <we:reference id="WA200010725" version="1.0.0.1" store="Omex" storeType="OMEX"/>
  <we:alternateReferences>
    <we:reference id="WA200010725" version="1.0.0.1" store="WA200010725" storeType="OMEX"/>
  </we:alternateReferences>
  <we:properties>
    <we:property name="claude.fileId" value="&quot;2faeeaef-073c-4e92-87d0-06046fa2944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145</TotalTime>
  <Words>2267</Words>
  <Application>Microsoft Office PowerPoint</Application>
  <PresentationFormat>Widescreen</PresentationFormat>
  <Paragraphs>287</Paragraphs>
  <Slides>36</Slides>
  <Notes>4</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49" baseType="lpstr">
      <vt:lpstr>Saira Condensed Condensed Light</vt:lpstr>
      <vt:lpstr>System Font Regular</vt:lpstr>
      <vt:lpstr>Arial</vt:lpstr>
      <vt:lpstr>Arial Nova</vt:lpstr>
      <vt:lpstr>Avenir Next LT Pro</vt:lpstr>
      <vt:lpstr>Calibri</vt:lpstr>
      <vt:lpstr>IBM Plex Sans</vt:lpstr>
      <vt:lpstr>IBM Plex Sans Light</vt:lpstr>
      <vt:lpstr>IBM Plex Sans SemiBold</vt:lpstr>
      <vt:lpstr>Segoe UI</vt:lpstr>
      <vt:lpstr>Wingdings</vt:lpstr>
      <vt:lpstr>1_Office Theme</vt:lpstr>
      <vt:lpstr>think-cell Slide</vt:lpstr>
      <vt:lpstr>Healthcare Analytics Why the J2250 Cannibalization Play Failed and How to Recover</vt:lpstr>
      <vt:lpstr>Today's Agenda</vt:lpstr>
      <vt:lpstr>Meet the Team!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Q&amp;A</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William Reccoppa</cp:lastModifiedBy>
  <cp:revision>8</cp:revision>
  <dcterms:created xsi:type="dcterms:W3CDTF">2023-11-15T18:54:42Z</dcterms:created>
  <dcterms:modified xsi:type="dcterms:W3CDTF">2026-05-11T23:39:05Z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73fd474-4f3c-44ed-88fb-5cc4bd2471bf_Enabled">
    <vt:lpwstr>true</vt:lpwstr>
  </property>
  <property fmtid="{D5CDD505-2E9C-101B-9397-08002B2CF9AE}" pid="3" name="MSIP_Label_a73fd474-4f3c-44ed-88fb-5cc4bd2471bf_SetDate">
    <vt:lpwstr>2026-05-10T05:49:25Z</vt:lpwstr>
  </property>
  <property fmtid="{D5CDD505-2E9C-101B-9397-08002B2CF9AE}" pid="4" name="MSIP_Label_a73fd474-4f3c-44ed-88fb-5cc4bd2471bf_Method">
    <vt:lpwstr>Standard</vt:lpwstr>
  </property>
  <property fmtid="{D5CDD505-2E9C-101B-9397-08002B2CF9AE}" pid="5" name="MSIP_Label_a73fd474-4f3c-44ed-88fb-5cc4bd2471bf_Name">
    <vt:lpwstr>defa4170-0d19-0005-0004-bc88714345d2</vt:lpwstr>
  </property>
  <property fmtid="{D5CDD505-2E9C-101B-9397-08002B2CF9AE}" pid="6" name="MSIP_Label_a73fd474-4f3c-44ed-88fb-5cc4bd2471bf_SiteId">
    <vt:lpwstr>8d1a69ec-03b5-4345-ae21-dad112f5fb4f</vt:lpwstr>
  </property>
  <property fmtid="{D5CDD505-2E9C-101B-9397-08002B2CF9AE}" pid="7" name="MSIP_Label_a73fd474-4f3c-44ed-88fb-5cc4bd2471bf_ActionId">
    <vt:lpwstr>76d4b041-63a1-4279-b0a6-ddc589b237e2</vt:lpwstr>
  </property>
  <property fmtid="{D5CDD505-2E9C-101B-9397-08002B2CF9AE}" pid="8" name="MSIP_Label_a73fd474-4f3c-44ed-88fb-5cc4bd2471bf_ContentBits">
    <vt:lpwstr>0</vt:lpwstr>
  </property>
  <property fmtid="{D5CDD505-2E9C-101B-9397-08002B2CF9AE}" pid="9" name="MSIP_Label_a73fd474-4f3c-44ed-88fb-5cc4bd2471bf_Tag">
    <vt:lpwstr>50, 3, 0, 1</vt:lpwstr>
  </property>
  <property fmtid="{D5CDD505-2E9C-101B-9397-08002B2CF9AE}" pid="10" name="MSIP_Label_defa4170-0d19-0005-0004-bc88714345d2_Enabled">
    <vt:lpwstr>true</vt:lpwstr>
  </property>
  <property fmtid="{D5CDD505-2E9C-101B-9397-08002B2CF9AE}" pid="11" name="MSIP_Label_defa4170-0d19-0005-0004-bc88714345d2_SetDate">
    <vt:lpwstr>2026-05-11T17:43:10Z</vt:lpwstr>
  </property>
  <property fmtid="{D5CDD505-2E9C-101B-9397-08002B2CF9AE}" pid="12" name="MSIP_Label_defa4170-0d19-0005-0004-bc88714345d2_Method">
    <vt:lpwstr>Standard</vt:lpwstr>
  </property>
  <property fmtid="{D5CDD505-2E9C-101B-9397-08002B2CF9AE}" pid="13" name="MSIP_Label_defa4170-0d19-0005-0004-bc88714345d2_Name">
    <vt:lpwstr>defa4170-0d19-0005-0004-bc88714345d2</vt:lpwstr>
  </property>
  <property fmtid="{D5CDD505-2E9C-101B-9397-08002B2CF9AE}" pid="14" name="MSIP_Label_defa4170-0d19-0005-0004-bc88714345d2_SiteId">
    <vt:lpwstr>7b832e93-a923-4a8f-806a-6c29199e12d2</vt:lpwstr>
  </property>
  <property fmtid="{D5CDD505-2E9C-101B-9397-08002B2CF9AE}" pid="15" name="MSIP_Label_defa4170-0d19-0005-0004-bc88714345d2_ActionId">
    <vt:lpwstr>9e599d16-4712-4f16-ae83-22d1a1fa312c</vt:lpwstr>
  </property>
  <property fmtid="{D5CDD505-2E9C-101B-9397-08002B2CF9AE}" pid="16" name="MSIP_Label_defa4170-0d19-0005-0004-bc88714345d2_ContentBits">
    <vt:lpwstr>0</vt:lpwstr>
  </property>
  <property fmtid="{D5CDD505-2E9C-101B-9397-08002B2CF9AE}" pid="17" name="MSIP_Label_defa4170-0d19-0005-0004-bc88714345d2_Tag">
    <vt:lpwstr>50, 3, 0, 1</vt:lpwstr>
  </property>
</Properties>
</file>